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概览" id="{1b4ee9ab-f872-cc70-4413-dc04f1a1708f}">
          <p14:sldIdLst>
            <p14:sldId id="256"/>
            <p14:sldId id="257"/>
            <p14:sldId id="258"/>
          </p14:sldIdLst>
        </p14:section>
        <p14:section name="01 背景与需求" id="{c1e66147-5c20-0659-13b5-2309f36b0cfc}">
          <p14:sldIdLst>
            <p14:sldId id="259"/>
            <p14:sldId id="260"/>
          </p14:sldIdLst>
        </p14:section>
        <p14:section name="02 总体架构" id="{d3189483-21f9-d5c6-8531-f9a681514467}">
          <p14:sldIdLst>
            <p14:sldId id="261"/>
            <p14:sldId id="262"/>
            <p14:sldId id="263"/>
            <p14:sldId id="264"/>
          </p14:sldIdLst>
        </p14:section>
        <p14:section name="03 关键模块设计" id="{66b5a111-7235-e518-db86-ebced530490c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4 技术与工程" id="{b8bb1c7b-ebf8-72d0-a7ff-ab9c0a82f298}">
          <p14:sldIdLst>
            <p14:sldId id="272"/>
            <p14:sldId id="273"/>
            <p14:sldId id="274"/>
            <p14:sldId id="275"/>
            <p14:sldId id="276"/>
          </p14:sldIdLst>
        </p14:section>
        <p14:section name="05 组织与计划" id="{1283d858-bbea-73ad-e22d-4e84bedfea8e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A4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3A47"/>
                </a:solidFill>
                <a:latin typeface="+mn-lt"/>
              </a:rPr>
              <a:t>术后每日应上传次数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应上传次数</c:v>
                </c:pt>
              </c:strCache>
            </c:strRef>
          </c:tx>
          <c:spPr>
            <a:solidFill>
              <a:srgbClr val="D956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6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6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6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C8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C8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C8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7C8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第1天</c:v>
                  </c:pt>
                  <c:pt idx="1">
                    <c:v>第2天</c:v>
                  </c:pt>
                  <c:pt idx="2">
                    <c:v>第3天</c:v>
                  </c:pt>
                  <c:pt idx="3">
                    <c:v>第4天</c:v>
                  </c:pt>
                  <c:pt idx="4">
                    <c:v>第5天</c:v>
                  </c:pt>
                  <c:pt idx="5">
                    <c:v>第6天</c:v>
                  </c:pt>
                  <c:pt idx="6">
                    <c:v>第7天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</c:v>
                </c:pt>
                <c:pt idx="1">
                  <c:v>24</c:v>
                </c:pt>
                <c:pt idx="2">
                  <c:v>24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F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majorGridlines>
          <c:spPr>
            <a:ln w="635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开场：本次汇报目的——在正式编码前，把系统怎么分层、模块怎么切、两个人怎么分工、分几期做讲清楚，请老师评审。核心观点：皮瓣监测和工业边缘-云监测是同一类问题，我们按“平台 + 领域包”来设计，一套架构服务两个场景。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用四个数字概括项目：3 类用户、1 小时 / 4 小时的采样节奏、端边云智 4 层架构、2 个应用场景。下面四条是本次评审最希望老师拍板的设计决策。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共五部分：先讲为什么做、给谁用；再讲总体架构和“一物多用”的思路；然后逐个模块展开；最后是技术选型、工程规范和我们两个人的分工与计划。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皮瓣移植后最危险的是血管危象：动脉供血不足时皮瓣苍白、皮温下降；静脉回流障碍时皮瓣青紫、肿胀。术后前 72 小时最关键，需要每小时观察一次，之后每 4 小时一次。目前靠护士人工巡视，夜间压力大、记录分散。系统要解决的就是“按时采集 + 远程查看 + 留档对比”，并为后续 AI 判读打基础。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用户对应老师提出的三个角色：患者负责“产生数据”，医护负责“使用数据”，管理员负责“管理系统”。注意医生端有两个核心功能：一是按患者查看全部历史图像，二是像车辆监控一样的实时监控墙。角色不写死，后续可以加护士长、科研人员，工业场景里就是质检员、工艺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六条原则是后面所有设计的依据。最重要的是第一条和第二条：平台本身不认识“皮瓣”，皮瓣只是一个领域包；所有会变的东西（频率、术语、表单、规则）都放在配置里。这样换到烟草在线监测时，主要工作是写一个新的领域包，而不是重写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体架构从左到右是数据流：左边是采集侧，包括患者手机小程序和边缘数采端；中间是云平台，分接入层、服务层、数据层；右边是查看和管理的应用。底下是预留的智能层，云端和边缘都可以调用模型。患者端和医护端其实是同一个小程序，这里为了表达数据流向分开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这页回答“一物多用”：把皮瓣监测和烟草在线监测逐项对照，每一行在架构上都是同一个东西，只是名字和参数不同。所以我们做的是一个“边缘采集 + 云端汇聚 + 实时看板 + AI 分析”的通用监测平台，皮瓣是第一个落地场景。80% 是目标值，用来约束我们不要把业务写死在核心代码里。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数据库和代码里不出现“患者表”“皮瓣表”这样的强业务命名，而是用 8 个通用实体。比如“患者”在系统里是一个监测对象，“一次术后 7 天的观察”是一个监测任务，“一张照片”是一个采样。皮瓣部位、手术方式这些医疗特有的字段放在扩展属性里，由领域包定义表单。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用户共用一个微信小程序，登录后按角色进入不同的工作台，这样只需要维护一个小程序、一次审核。患者端越简单越好：首页就是倒计时和一个大大的拍照按钮。医护端以监控墙为首页。管理端功能用得少，也可以放到 Web 后台。权限一定以后端校验为准，前端隐藏菜单只是体验优化。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由两部分组成：角色决定“能做什么”，数据范围决定“能看谁的”。比如医护都能看历史图像，但只能看自己负责或本科室的患者。我们把每个操作定义成权限点，角色就是权限点的组合，新增角色只需要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一条完整的业务链：护士建档时录入手术结束时间 T0，系统据此排出整张采样时间表；患者按提醒拍照上传；医生在监控墙上看到最新图片并评估。第 7 步 AI 一期只留接口。关键点在下面的数据飞轮：一期医生的每次评估（正常 / 可疑 / 异常）都会存成标注，这就是二期训练模型的数据集。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老师给的规则是：术后前 72 小时每小时一次，之后每 4 小时一次。前三天每天 24 次，从第四天起每天 6 次。我们不把这个规则写在代码里，而是写成右边这样的策略配置，医生可以对单个患者临时加密。提醒用微信订阅消息，但它是一次性授权，所以每次上传后要引导患者订阅下一次，超时还要升级通知护士。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这就是老师说的“像车辆监控系统一样”的页面：一屏显示病区所有在监患者，每个格子是最新一张照片的缩略图和状态。颜色代表状态：绿色正常、黄色快到上传时间、红色已超时、紫色是二期 AI 给出的预警。异常的自动排到前面。一期是“准实时”的照片墙；二期如果接床旁摄像头，就升级为真正的实时视频，这部分的流媒体服务和工业视频监控是同一套。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数采端是“一物多用”的关键。它是一个跑在 Windows 或 Linux 上的常驻程序，分五段流水线：驱动层负责接各种设备，预处理做质检和压缩，可选的本地推理，本地缓存保证断网不丢数据，最后上传到云端。医院里它可以接床旁摄像头，工厂里接工业相机和 PLC，代码是同一份，只是驱动插件不同。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一期不做模型，但接口现在就定下来。每张图片入库后发布一个 sample.created 事件，AI 网关按领域和模型把它路由到对应的模型服务，结果统一回写，再由规则引擎决定是否告警。输入输出格式是通用的：皮瓣模型输出颜色、纹理、肿胀等指标和风险分；烟草缺陷检测也用同一个格式。另外，模型效果的上限取决于照片质量，所以拍摄规范（固定距离、引导框、标准色卡）一期就要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按老师要求主体用 JavaScript。前端用 uni-app 写小程序，原因是一套代码还能出 H5，大屏和工厂里的电脑浏览器都能用；后台和大屏用 Vue 3，与小程序同一套思路。后端用 Node.js + NestJS，它天然按模块组织，正好对应我们的模块划分。数据库选 PostgreSQL 是因为 JSONB 适合领域扩展字段，将来工业时序数据也能用 TimescaleDB 扩展。AI 模型只能用 Python，但通过 HTTP 接口隔离，不影响主体。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建议用一个 Monorepo 管理所有代码：apps 放三个终端程序，services 放后端服务，packages 放前后端共享的常量和 SDK，domain-packs 放领域包。后端按右边 15 个模块组织，其中 domain-pack 模块负责加载领域包。新增烟草场景时，主要工作是在 domain-packs 下加一个目录。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这是一期接口的草案，评审通过后会写成 OpenAPI 文档放在 docs 目录，前后端以文档为准并行开发。图片不经过业务服务器，而是先申请上传凭证，再直传对象存储，最后登记采样记录，这样服务器压力小、数采端和小程序走同一套接口。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患者创面照片属于医疗健康信息，按《个人信息保护法》是敏感个人信息，必须单独取得同意。技术上做到四点：合规前置、访问控制、加密传输存储、全程审计。还有一个容易忽略的细节：拍照引导框只框创面，避免拍到患者面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部署分三种形态，代码是同一套：课题阶段一台云服务器用 Docker Compose 跑起来即可；正式在医院用时，数据要求不出院，就私有化部署到医院内网；到了工厂，就是边缘工控机集群加中心云平台。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团队是“1 + 2 + 2”：指导老师把方向和验收；我们两个开发者按前端 / 后端切分，接口契约是两人之间的边界；临床顾问提供业务知识和标注标准；二期做模型时再引入算法同学。两人都要参与需求评审、互相审代码和交叉测试，避免单点。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左边是分工矩阵，每项工作只有一个主责人，避免“两个人都管等于没人管”。右边是协作规范：代码全部走 Pull Request 互审，两周一个迭代，接口变更先改文档。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一期按 8 周规划，目标是一个能在科室试用的 MVP：三角色小程序、监控墙、采样提醒。第 1–2 周就是现在这一步：架构评审、原型和接口契约。二期在积累了足够标注数据后做 AI 和实时视频；三期把领域包抽出来，到烟草在线监测场景验证复用。二期和三期的时间视数据积累和老师安排再定。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的风险不是技术，而是小程序的类目资质：医疗类小程序需要医疗机构资质，实时音视频组件也只对部分类目开放。所以课题阶段建议先用体验版在小范围使用，正式上线由医院作为主体申请。第二个高风险是照片质量，这直接决定医生能不能看准、模型能不能训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最后有 5 个问题需要老师拍板，尤其是小程序用谁的主体注册、数据放在哪里，这两件事决定部署方式。评审通过后两周内，我们交付原型图、接口文档和可运行的工程框架。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皮瓣状态智能辅助监测系统 · 系统架构与开发组织架构设计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皮瓣状态智能辅助监测系统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系统架构与开发组织架构设计</a:t>
            </a:r>
            <a:endParaRPr lang="en-US" sz="2600" dirty="0"/>
          </a:p>
        </p:txBody>
      </p:sp>
      <p:sp>
        <p:nvSpPr>
          <p:cNvPr id="4" name="text-1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开发前架构评审 · v0.1</a:t>
            </a:r>
            <a:endParaRPr lang="en-US" sz="1400" dirty="0"/>
          </a:p>
        </p:txBody>
      </p:sp>
      <p:sp>
        <p:nvSpPr>
          <p:cNvPr id="5" name="text-2"/>
          <p:cNvSpPr txBox="1"/>
          <p:nvPr/>
        </p:nvSpPr>
        <p:spPr>
          <a:xfrm>
            <a:off x="640080" y="40690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2"/>
                </a:solidFill>
              </a:rPr>
              <a:t>微信小程序 × 边缘数采 × 云平台 × AI 预留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2"/>
                </a:solidFill>
              </a:rPr>
              <a:t>一套架构，覆盖医疗皮瓣监测与烟草在线监测两个场景</a:t>
            </a:r>
            <a:endParaRPr lang="en-US" sz="1600" dirty="0"/>
          </a:p>
        </p:txBody>
      </p:sp>
      <p:sp>
        <p:nvSpPr>
          <p:cNvPr id="6" name="text-3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QingSi 项目组  ·  2026 年 10 月</a:t>
            </a:r>
            <a:endParaRPr lang="en-US" sz="1400" dirty="0"/>
          </a:p>
        </p:txBody>
      </p:sp>
      <p:sp>
        <p:nvSpPr>
          <p:cNvPr id="7" name="connector-4"/>
          <p:cNvSpPr/>
          <p:nvPr/>
        </p:nvSpPr>
        <p:spPr>
          <a:xfrm flipV="1">
            <a:off x="8412480" y="2194560"/>
            <a:ext cx="1188720" cy="1554480"/>
          </a:xfrm>
          <a:prstGeom prst="line">
            <a:avLst/>
          </a:prstGeom>
          <a:noFill/>
          <a:ln w="25400">
            <a:solidFill>
              <a:schemeClr val="bg2">
                <a:alpha val="45000"/>
              </a:schemeClr>
            </a:solidFill>
            <a:prstDash val="solid"/>
          </a:ln>
        </p:spPr>
      </p:sp>
      <p:sp>
        <p:nvSpPr>
          <p:cNvPr id="8" name="connector-5"/>
          <p:cNvSpPr/>
          <p:nvPr/>
        </p:nvSpPr>
        <p:spPr>
          <a:xfrm flipH="1" flipV="1">
            <a:off x="9601200" y="2194560"/>
            <a:ext cx="1188720" cy="1554480"/>
          </a:xfrm>
          <a:prstGeom prst="line">
            <a:avLst/>
          </a:prstGeom>
          <a:noFill/>
          <a:ln w="25400">
            <a:solidFill>
              <a:schemeClr val="bg2">
                <a:alpha val="45000"/>
              </a:schemeClr>
            </a:solidFill>
            <a:prstDash val="solid"/>
          </a:ln>
        </p:spPr>
      </p:sp>
      <p:sp>
        <p:nvSpPr>
          <p:cNvPr id="9" name="connector-6"/>
          <p:cNvSpPr/>
          <p:nvPr/>
        </p:nvSpPr>
        <p:spPr>
          <a:xfrm>
            <a:off x="9601200" y="2194560"/>
            <a:ext cx="0" cy="2926080"/>
          </a:xfrm>
          <a:prstGeom prst="line">
            <a:avLst/>
          </a:prstGeom>
          <a:noFill/>
          <a:ln w="25400">
            <a:solidFill>
              <a:schemeClr val="bg2">
                <a:alpha val="45000"/>
              </a:schemeClr>
            </a:solidFill>
            <a:prstDash val="solid"/>
          </a:ln>
        </p:spPr>
      </p:sp>
      <p:sp>
        <p:nvSpPr>
          <p:cNvPr id="10" name="icon-bg-7"/>
          <p:cNvSpPr/>
          <p:nvPr/>
        </p:nvSpPr>
        <p:spPr>
          <a:xfrm>
            <a:off x="9075420" y="166878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8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341" y="1952701"/>
            <a:ext cx="483718" cy="483718"/>
          </a:xfrm>
          <a:prstGeom prst="rect">
            <a:avLst/>
          </a:prstGeom>
        </p:spPr>
      </p:pic>
      <p:sp>
        <p:nvSpPr>
          <p:cNvPr id="12" name="text-9"/>
          <p:cNvSpPr txBox="1"/>
          <p:nvPr/>
        </p:nvSpPr>
        <p:spPr>
          <a:xfrm>
            <a:off x="8778240" y="12847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云 · 平台服务</a:t>
            </a:r>
            <a:endParaRPr lang="en-US" sz="1300" dirty="0"/>
          </a:p>
        </p:txBody>
      </p:sp>
      <p:sp>
        <p:nvSpPr>
          <p:cNvPr id="13" name="icon-bg-10"/>
          <p:cNvSpPr/>
          <p:nvPr/>
        </p:nvSpPr>
        <p:spPr>
          <a:xfrm>
            <a:off x="7886700" y="322326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11" descr="FaMob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621" y="3507181"/>
            <a:ext cx="483718" cy="483718"/>
          </a:xfrm>
          <a:prstGeom prst="rect">
            <a:avLst/>
          </a:prstGeom>
        </p:spPr>
      </p:pic>
      <p:sp>
        <p:nvSpPr>
          <p:cNvPr id="15" name="text-12"/>
          <p:cNvSpPr txBox="1"/>
          <p:nvPr/>
        </p:nvSpPr>
        <p:spPr>
          <a:xfrm>
            <a:off x="7589520" y="43479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端 · 微信小程序</a:t>
            </a:r>
            <a:endParaRPr lang="en-US" sz="1300" dirty="0"/>
          </a:p>
        </p:txBody>
      </p:sp>
      <p:sp>
        <p:nvSpPr>
          <p:cNvPr id="16" name="icon-bg-13"/>
          <p:cNvSpPr/>
          <p:nvPr/>
        </p:nvSpPr>
        <p:spPr>
          <a:xfrm>
            <a:off x="10264140" y="3223260"/>
            <a:ext cx="1051560" cy="10515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14" descr="Fa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061" y="3507181"/>
            <a:ext cx="483718" cy="483718"/>
          </a:xfrm>
          <a:prstGeom prst="rect">
            <a:avLst/>
          </a:prstGeom>
        </p:spPr>
      </p:pic>
      <p:sp>
        <p:nvSpPr>
          <p:cNvPr id="18" name="text-15"/>
          <p:cNvSpPr txBox="1"/>
          <p:nvPr/>
        </p:nvSpPr>
        <p:spPr>
          <a:xfrm>
            <a:off x="9966960" y="43479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边 · 数采端</a:t>
            </a:r>
            <a:endParaRPr lang="en-US" sz="1300" dirty="0"/>
          </a:p>
        </p:txBody>
      </p:sp>
      <p:sp>
        <p:nvSpPr>
          <p:cNvPr id="19" name="icon-bg-16"/>
          <p:cNvSpPr/>
          <p:nvPr/>
        </p:nvSpPr>
        <p:spPr>
          <a:xfrm>
            <a:off x="9075420" y="4594860"/>
            <a:ext cx="1051560" cy="10515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-17" descr="Fa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341" y="4878781"/>
            <a:ext cx="483718" cy="483718"/>
          </a:xfrm>
          <a:prstGeom prst="rect">
            <a:avLst/>
          </a:prstGeom>
        </p:spPr>
      </p:pic>
      <p:sp>
        <p:nvSpPr>
          <p:cNvPr id="21" name="text-18"/>
          <p:cNvSpPr txBox="1"/>
          <p:nvPr/>
        </p:nvSpPr>
        <p:spPr>
          <a:xfrm>
            <a:off x="8778240" y="57195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智 · AI（预留）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概览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一页看懂：做什么、怎么做</a:t>
            </a:r>
            <a:endParaRPr lang="en-US" sz="3200" dirty="0"/>
          </a:p>
        </p:txBody>
      </p:sp>
      <p:sp>
        <p:nvSpPr>
          <p:cNvPr id="4" name="stat-card-19"/>
          <p:cNvSpPr/>
          <p:nvPr/>
        </p:nvSpPr>
        <p:spPr>
          <a:xfrm>
            <a:off x="548640" y="1508760"/>
            <a:ext cx="2567178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5" name="text-20"/>
          <p:cNvSpPr txBox="1"/>
          <p:nvPr/>
        </p:nvSpPr>
        <p:spPr>
          <a:xfrm>
            <a:off x="822960" y="164592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 类</a:t>
            </a:r>
            <a:endParaRPr lang="en-US" sz="4000" dirty="0"/>
          </a:p>
        </p:txBody>
      </p:sp>
      <p:sp>
        <p:nvSpPr>
          <p:cNvPr id="6" name="text-21"/>
          <p:cNvSpPr txBox="1"/>
          <p:nvPr/>
        </p:nvSpPr>
        <p:spPr>
          <a:xfrm>
            <a:off x="822960" y="2377440"/>
            <a:ext cx="201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用户角色</a:t>
            </a:r>
            <a:endParaRPr lang="en-US" sz="1600" dirty="0"/>
          </a:p>
        </p:txBody>
      </p:sp>
      <p:sp>
        <p:nvSpPr>
          <p:cNvPr id="7" name="text-22"/>
          <p:cNvSpPr txBox="1"/>
          <p:nvPr/>
        </p:nvSpPr>
        <p:spPr>
          <a:xfrm>
            <a:off x="822960" y="2724912"/>
            <a:ext cx="201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患者 · 医护 · 管理员</a:t>
            </a:r>
            <a:endParaRPr lang="en-US" sz="1300" dirty="0"/>
          </a:p>
        </p:txBody>
      </p:sp>
      <p:sp>
        <p:nvSpPr>
          <p:cNvPr id="8" name="stat-card-23"/>
          <p:cNvSpPr/>
          <p:nvPr/>
        </p:nvSpPr>
        <p:spPr>
          <a:xfrm>
            <a:off x="3390138" y="1508760"/>
            <a:ext cx="2567178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9" name="text-24"/>
          <p:cNvSpPr txBox="1"/>
          <p:nvPr/>
        </p:nvSpPr>
        <p:spPr>
          <a:xfrm>
            <a:off x="3664458" y="164592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1h → 4h</a:t>
            </a:r>
            <a:endParaRPr lang="en-US" sz="4000" dirty="0"/>
          </a:p>
        </p:txBody>
      </p:sp>
      <p:sp>
        <p:nvSpPr>
          <p:cNvPr id="10" name="text-25"/>
          <p:cNvSpPr txBox="1"/>
          <p:nvPr/>
        </p:nvSpPr>
        <p:spPr>
          <a:xfrm>
            <a:off x="3664458" y="2377440"/>
            <a:ext cx="201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采样频率</a:t>
            </a:r>
            <a:endParaRPr lang="en-US" sz="1600" dirty="0"/>
          </a:p>
        </p:txBody>
      </p:sp>
      <p:sp>
        <p:nvSpPr>
          <p:cNvPr id="11" name="text-26"/>
          <p:cNvSpPr txBox="1"/>
          <p:nvPr/>
        </p:nvSpPr>
        <p:spPr>
          <a:xfrm>
            <a:off x="3664458" y="2724912"/>
            <a:ext cx="201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术后 72h 内每小时一次，之后每 4 小时一次</a:t>
            </a:r>
            <a:endParaRPr lang="en-US" sz="1300" dirty="0"/>
          </a:p>
        </p:txBody>
      </p:sp>
      <p:sp>
        <p:nvSpPr>
          <p:cNvPr id="12" name="stat-card-27"/>
          <p:cNvSpPr/>
          <p:nvPr/>
        </p:nvSpPr>
        <p:spPr>
          <a:xfrm>
            <a:off x="6231636" y="1508760"/>
            <a:ext cx="2567178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13" name="text-28"/>
          <p:cNvSpPr txBox="1"/>
          <p:nvPr/>
        </p:nvSpPr>
        <p:spPr>
          <a:xfrm>
            <a:off x="6505956" y="164592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层</a:t>
            </a:r>
            <a:endParaRPr lang="en-US" sz="4000" dirty="0"/>
          </a:p>
        </p:txBody>
      </p:sp>
      <p:sp>
        <p:nvSpPr>
          <p:cNvPr id="14" name="text-29"/>
          <p:cNvSpPr txBox="1"/>
          <p:nvPr/>
        </p:nvSpPr>
        <p:spPr>
          <a:xfrm>
            <a:off x="6505956" y="2377440"/>
            <a:ext cx="201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技术架构</a:t>
            </a:r>
            <a:endParaRPr lang="en-US" sz="1600" dirty="0"/>
          </a:p>
        </p:txBody>
      </p:sp>
      <p:sp>
        <p:nvSpPr>
          <p:cNvPr id="15" name="text-30"/>
          <p:cNvSpPr txBox="1"/>
          <p:nvPr/>
        </p:nvSpPr>
        <p:spPr>
          <a:xfrm>
            <a:off x="6505956" y="2724912"/>
            <a:ext cx="201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端 · 边 · 云 · 智</a:t>
            </a:r>
            <a:endParaRPr lang="en-US" sz="1300" dirty="0"/>
          </a:p>
        </p:txBody>
      </p:sp>
      <p:sp>
        <p:nvSpPr>
          <p:cNvPr id="16" name="stat-card-31"/>
          <p:cNvSpPr/>
          <p:nvPr/>
        </p:nvSpPr>
        <p:spPr>
          <a:xfrm>
            <a:off x="9073134" y="1508760"/>
            <a:ext cx="2567178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17" name="text-32"/>
          <p:cNvSpPr txBox="1"/>
          <p:nvPr/>
        </p:nvSpPr>
        <p:spPr>
          <a:xfrm>
            <a:off x="9347454" y="164592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 个</a:t>
            </a:r>
            <a:endParaRPr lang="en-US" sz="4000" dirty="0"/>
          </a:p>
        </p:txBody>
      </p:sp>
      <p:sp>
        <p:nvSpPr>
          <p:cNvPr id="18" name="text-33"/>
          <p:cNvSpPr txBox="1"/>
          <p:nvPr/>
        </p:nvSpPr>
        <p:spPr>
          <a:xfrm>
            <a:off x="9347454" y="2377440"/>
            <a:ext cx="201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应用场景</a:t>
            </a:r>
            <a:endParaRPr lang="en-US" sz="1600" dirty="0"/>
          </a:p>
        </p:txBody>
      </p:sp>
      <p:sp>
        <p:nvSpPr>
          <p:cNvPr id="19" name="text-34"/>
          <p:cNvSpPr txBox="1"/>
          <p:nvPr/>
        </p:nvSpPr>
        <p:spPr>
          <a:xfrm>
            <a:off x="9347454" y="2724912"/>
            <a:ext cx="201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皮瓣监测 → 烟草在线监测</a:t>
            </a:r>
            <a:endParaRPr lang="en-US" sz="1300" dirty="0"/>
          </a:p>
        </p:txBody>
      </p:sp>
      <p:sp>
        <p:nvSpPr>
          <p:cNvPr id="20" name="text-35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关键设计决策</a:t>
            </a:r>
            <a:endParaRPr lang="en-US" sz="1800" dirty="0"/>
          </a:p>
        </p:txBody>
      </p:sp>
      <p:sp>
        <p:nvSpPr>
          <p:cNvPr id="21" name="icon-bg-36"/>
          <p:cNvSpPr/>
          <p:nvPr/>
        </p:nvSpPr>
        <p:spPr>
          <a:xfrm>
            <a:off x="548640" y="41513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37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4293108"/>
            <a:ext cx="283464" cy="283464"/>
          </a:xfrm>
          <a:prstGeom prst="rect">
            <a:avLst/>
          </a:prstGeom>
        </p:spPr>
      </p:pic>
      <p:sp>
        <p:nvSpPr>
          <p:cNvPr id="23" name="text-38"/>
          <p:cNvSpPr txBox="1"/>
          <p:nvPr/>
        </p:nvSpPr>
        <p:spPr>
          <a:xfrm>
            <a:off x="1325880" y="4114800"/>
            <a:ext cx="4585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一个小程序，三套工作台</a:t>
            </a:r>
            <a:endParaRPr lang="en-US" sz="1600" dirty="0"/>
          </a:p>
        </p:txBody>
      </p:sp>
      <p:sp>
        <p:nvSpPr>
          <p:cNvPr id="24" name="text-39"/>
          <p:cNvSpPr txBox="1"/>
          <p:nvPr/>
        </p:nvSpPr>
        <p:spPr>
          <a:xfrm>
            <a:off x="1325880" y="4480560"/>
            <a:ext cx="45399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微信小程序按登录角色切换患者 / 医护 / 管理员界面，一套代码维护</a:t>
            </a:r>
            <a:endParaRPr lang="en-US" sz="1400" dirty="0"/>
          </a:p>
        </p:txBody>
      </p:sp>
      <p:sp>
        <p:nvSpPr>
          <p:cNvPr id="25" name="icon-bg-40"/>
          <p:cNvSpPr/>
          <p:nvPr/>
        </p:nvSpPr>
        <p:spPr>
          <a:xfrm>
            <a:off x="6231636" y="41513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4293108"/>
            <a:ext cx="283464" cy="283464"/>
          </a:xfrm>
          <a:prstGeom prst="rect">
            <a:avLst/>
          </a:prstGeom>
        </p:spPr>
      </p:pic>
      <p:sp>
        <p:nvSpPr>
          <p:cNvPr id="27" name="text-42"/>
          <p:cNvSpPr txBox="1"/>
          <p:nvPr/>
        </p:nvSpPr>
        <p:spPr>
          <a:xfrm>
            <a:off x="7008876" y="4114800"/>
            <a:ext cx="4585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平台 + 领域包</a:t>
            </a:r>
            <a:endParaRPr lang="en-US" sz="1600" dirty="0"/>
          </a:p>
        </p:txBody>
      </p:sp>
      <p:sp>
        <p:nvSpPr>
          <p:cNvPr id="28" name="text-43"/>
          <p:cNvSpPr txBox="1"/>
          <p:nvPr/>
        </p:nvSpPr>
        <p:spPr>
          <a:xfrm>
            <a:off x="7008876" y="4480560"/>
            <a:ext cx="45399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核心平台与业务解耦，场景差异放进配置：医疗、烟草各是一个领域包</a:t>
            </a:r>
            <a:endParaRPr lang="en-US" sz="1400" dirty="0"/>
          </a:p>
        </p:txBody>
      </p:sp>
      <p:sp>
        <p:nvSpPr>
          <p:cNvPr id="29" name="icon-bg-44"/>
          <p:cNvSpPr/>
          <p:nvPr/>
        </p:nvSpPr>
        <p:spPr>
          <a:xfrm>
            <a:off x="548640" y="52486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45" descr="Fa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390388"/>
            <a:ext cx="283464" cy="283464"/>
          </a:xfrm>
          <a:prstGeom prst="rect">
            <a:avLst/>
          </a:prstGeom>
        </p:spPr>
      </p:pic>
      <p:sp>
        <p:nvSpPr>
          <p:cNvPr id="31" name="text-46"/>
          <p:cNvSpPr txBox="1"/>
          <p:nvPr/>
        </p:nvSpPr>
        <p:spPr>
          <a:xfrm>
            <a:off x="1325880" y="5212080"/>
            <a:ext cx="4585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通用边缘数采端</a:t>
            </a:r>
            <a:endParaRPr lang="en-US" sz="1600" dirty="0"/>
          </a:p>
        </p:txBody>
      </p:sp>
      <p:sp>
        <p:nvSpPr>
          <p:cNvPr id="32" name="text-47"/>
          <p:cNvSpPr txBox="1"/>
          <p:nvPr/>
        </p:nvSpPr>
        <p:spPr>
          <a:xfrm>
            <a:off x="1325880" y="5577840"/>
            <a:ext cx="45399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Windows / Linux 同一套代码：断网缓存、断点续传，可本地推理</a:t>
            </a:r>
            <a:endParaRPr lang="en-US" sz="1400" dirty="0"/>
          </a:p>
        </p:txBody>
      </p:sp>
      <p:sp>
        <p:nvSpPr>
          <p:cNvPr id="33" name="icon-bg-48"/>
          <p:cNvSpPr/>
          <p:nvPr/>
        </p:nvSpPr>
        <p:spPr>
          <a:xfrm>
            <a:off x="6231636" y="52486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49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5390388"/>
            <a:ext cx="283464" cy="283464"/>
          </a:xfrm>
          <a:prstGeom prst="rect">
            <a:avLst/>
          </a:prstGeom>
        </p:spPr>
      </p:pic>
      <p:sp>
        <p:nvSpPr>
          <p:cNvPr id="35" name="text-50"/>
          <p:cNvSpPr txBox="1"/>
          <p:nvPr/>
        </p:nvSpPr>
        <p:spPr>
          <a:xfrm>
            <a:off x="7008876" y="5212080"/>
            <a:ext cx="4585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接口先留好</a:t>
            </a:r>
            <a:endParaRPr lang="en-US" sz="1600" dirty="0"/>
          </a:p>
        </p:txBody>
      </p:sp>
      <p:sp>
        <p:nvSpPr>
          <p:cNvPr id="36" name="text-51"/>
          <p:cNvSpPr txBox="1"/>
          <p:nvPr/>
        </p:nvSpPr>
        <p:spPr>
          <a:xfrm>
            <a:off x="7008876" y="5577840"/>
            <a:ext cx="45399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标准化分析插件契约；一期积累医生标注数据，二期直接接入模型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汇报目录</a:t>
            </a:r>
            <a:endParaRPr lang="en-US" sz="3200" dirty="0"/>
          </a:p>
        </p:txBody>
      </p:sp>
      <p:sp>
        <p:nvSpPr>
          <p:cNvPr id="4" name="agenda-card-52"/>
          <p:cNvSpPr/>
          <p:nvPr/>
        </p:nvSpPr>
        <p:spPr>
          <a:xfrm>
            <a:off x="548640" y="1508760"/>
            <a:ext cx="2035454" cy="3794760"/>
          </a:xfrm>
          <a:prstGeom prst="roundRect">
            <a:avLst>
              <a:gd name="adj" fmla="val 4492"/>
            </a:avLst>
          </a:prstGeom>
          <a:solidFill>
            <a:schemeClr val="bg2"/>
          </a:solidFill>
          <a:ln/>
        </p:spPr>
      </p:sp>
      <p:sp>
        <p:nvSpPr>
          <p:cNvPr id="5" name="text-53"/>
          <p:cNvSpPr txBox="1"/>
          <p:nvPr/>
        </p:nvSpPr>
        <p:spPr>
          <a:xfrm>
            <a:off x="777240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icon-bg-54"/>
          <p:cNvSpPr/>
          <p:nvPr/>
        </p:nvSpPr>
        <p:spPr>
          <a:xfrm>
            <a:off x="1852574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5" descr="Fa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304" y="1890522"/>
            <a:ext cx="251460" cy="251460"/>
          </a:xfrm>
          <a:prstGeom prst="rect">
            <a:avLst/>
          </a:prstGeom>
        </p:spPr>
      </p:pic>
      <p:sp>
        <p:nvSpPr>
          <p:cNvPr id="8" name="text-56"/>
          <p:cNvSpPr txBox="1"/>
          <p:nvPr/>
        </p:nvSpPr>
        <p:spPr>
          <a:xfrm>
            <a:off x="777240" y="246888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背景与需求</a:t>
            </a:r>
            <a:endParaRPr lang="en-US" sz="2000" dirty="0"/>
          </a:p>
        </p:txBody>
      </p:sp>
      <p:sp>
        <p:nvSpPr>
          <p:cNvPr id="9" name="text-57"/>
          <p:cNvSpPr txBox="1"/>
          <p:nvPr/>
        </p:nvSpPr>
        <p:spPr>
          <a:xfrm>
            <a:off x="777240" y="3017520"/>
            <a:ext cx="16696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临床背景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三类用户与功能</a:t>
            </a:r>
            <a:endParaRPr lang="en-US" sz="1400" dirty="0"/>
          </a:p>
        </p:txBody>
      </p:sp>
      <p:sp>
        <p:nvSpPr>
          <p:cNvPr id="10" name="agenda-card-58"/>
          <p:cNvSpPr/>
          <p:nvPr/>
        </p:nvSpPr>
        <p:spPr>
          <a:xfrm>
            <a:off x="2812694" y="1508760"/>
            <a:ext cx="2035454" cy="3794760"/>
          </a:xfrm>
          <a:prstGeom prst="roundRect">
            <a:avLst>
              <a:gd name="adj" fmla="val 4492"/>
            </a:avLst>
          </a:prstGeom>
          <a:solidFill>
            <a:schemeClr val="bg2"/>
          </a:solidFill>
          <a:ln/>
        </p:spPr>
      </p:sp>
      <p:sp>
        <p:nvSpPr>
          <p:cNvPr id="11" name="text-59"/>
          <p:cNvSpPr txBox="1"/>
          <p:nvPr/>
        </p:nvSpPr>
        <p:spPr>
          <a:xfrm>
            <a:off x="3041294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dirty="0"/>
          </a:p>
        </p:txBody>
      </p:sp>
      <p:sp>
        <p:nvSpPr>
          <p:cNvPr id="12" name="icon-bg-60"/>
          <p:cNvSpPr/>
          <p:nvPr/>
        </p:nvSpPr>
        <p:spPr>
          <a:xfrm>
            <a:off x="4116629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6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359" y="1890522"/>
            <a:ext cx="251460" cy="251460"/>
          </a:xfrm>
          <a:prstGeom prst="rect">
            <a:avLst/>
          </a:prstGeom>
        </p:spPr>
      </p:pic>
      <p:sp>
        <p:nvSpPr>
          <p:cNvPr id="14" name="text-62"/>
          <p:cNvSpPr txBox="1"/>
          <p:nvPr/>
        </p:nvSpPr>
        <p:spPr>
          <a:xfrm>
            <a:off x="3041294" y="246888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总体架构</a:t>
            </a:r>
            <a:endParaRPr lang="en-US" sz="2000" dirty="0"/>
          </a:p>
        </p:txBody>
      </p:sp>
      <p:sp>
        <p:nvSpPr>
          <p:cNvPr id="15" name="text-63"/>
          <p:cNvSpPr txBox="1"/>
          <p:nvPr/>
        </p:nvSpPr>
        <p:spPr>
          <a:xfrm>
            <a:off x="3041294" y="3017520"/>
            <a:ext cx="16696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六条设计原则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端边云智四层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与工业监测同构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通用领域模型</a:t>
            </a:r>
            <a:endParaRPr lang="en-US" sz="1400" dirty="0"/>
          </a:p>
        </p:txBody>
      </p:sp>
      <p:sp>
        <p:nvSpPr>
          <p:cNvPr id="16" name="agenda-card-64"/>
          <p:cNvSpPr/>
          <p:nvPr/>
        </p:nvSpPr>
        <p:spPr>
          <a:xfrm>
            <a:off x="5076749" y="1508760"/>
            <a:ext cx="2035454" cy="3794760"/>
          </a:xfrm>
          <a:prstGeom prst="roundRect">
            <a:avLst>
              <a:gd name="adj" fmla="val 4492"/>
            </a:avLst>
          </a:prstGeom>
          <a:solidFill>
            <a:schemeClr val="bg2"/>
          </a:solidFill>
          <a:ln/>
        </p:spPr>
      </p:sp>
      <p:sp>
        <p:nvSpPr>
          <p:cNvPr id="17" name="text-65"/>
          <p:cNvSpPr txBox="1"/>
          <p:nvPr/>
        </p:nvSpPr>
        <p:spPr>
          <a:xfrm>
            <a:off x="5305349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icon-bg-66"/>
          <p:cNvSpPr/>
          <p:nvPr/>
        </p:nvSpPr>
        <p:spPr>
          <a:xfrm>
            <a:off x="6380683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67" descr="Fa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413" y="1890522"/>
            <a:ext cx="251460" cy="251460"/>
          </a:xfrm>
          <a:prstGeom prst="rect">
            <a:avLst/>
          </a:prstGeom>
        </p:spPr>
      </p:pic>
      <p:sp>
        <p:nvSpPr>
          <p:cNvPr id="20" name="text-68"/>
          <p:cNvSpPr txBox="1"/>
          <p:nvPr/>
        </p:nvSpPr>
        <p:spPr>
          <a:xfrm>
            <a:off x="5305349" y="246888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关键模块</a:t>
            </a:r>
            <a:endParaRPr lang="en-US" sz="2000" dirty="0"/>
          </a:p>
        </p:txBody>
      </p:sp>
      <p:sp>
        <p:nvSpPr>
          <p:cNvPr id="21" name="text-69"/>
          <p:cNvSpPr txBox="1"/>
          <p:nvPr/>
        </p:nvSpPr>
        <p:spPr>
          <a:xfrm>
            <a:off x="5305349" y="3017520"/>
            <a:ext cx="16696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小程序三端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权限模型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核心流程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采样策略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实时监控墙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数采端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预留接口</a:t>
            </a:r>
            <a:endParaRPr lang="en-US" sz="1400" dirty="0"/>
          </a:p>
        </p:txBody>
      </p:sp>
      <p:sp>
        <p:nvSpPr>
          <p:cNvPr id="22" name="agenda-card-70"/>
          <p:cNvSpPr/>
          <p:nvPr/>
        </p:nvSpPr>
        <p:spPr>
          <a:xfrm>
            <a:off x="7340803" y="1508760"/>
            <a:ext cx="2035454" cy="3794760"/>
          </a:xfrm>
          <a:prstGeom prst="roundRect">
            <a:avLst>
              <a:gd name="adj" fmla="val 4492"/>
            </a:avLst>
          </a:prstGeom>
          <a:solidFill>
            <a:schemeClr val="bg2"/>
          </a:solidFill>
          <a:ln/>
        </p:spPr>
      </p:sp>
      <p:sp>
        <p:nvSpPr>
          <p:cNvPr id="23" name="text-71"/>
          <p:cNvSpPr txBox="1"/>
          <p:nvPr/>
        </p:nvSpPr>
        <p:spPr>
          <a:xfrm>
            <a:off x="7569403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04</a:t>
            </a:r>
            <a:endParaRPr lang="en-US" sz="3600" dirty="0"/>
          </a:p>
        </p:txBody>
      </p:sp>
      <p:sp>
        <p:nvSpPr>
          <p:cNvPr id="24" name="icon-bg-72"/>
          <p:cNvSpPr/>
          <p:nvPr/>
        </p:nvSpPr>
        <p:spPr>
          <a:xfrm>
            <a:off x="8644738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73" descr="Fa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468" y="1890522"/>
            <a:ext cx="251460" cy="251460"/>
          </a:xfrm>
          <a:prstGeom prst="rect">
            <a:avLst/>
          </a:prstGeom>
        </p:spPr>
      </p:pic>
      <p:sp>
        <p:nvSpPr>
          <p:cNvPr id="26" name="text-74"/>
          <p:cNvSpPr txBox="1"/>
          <p:nvPr/>
        </p:nvSpPr>
        <p:spPr>
          <a:xfrm>
            <a:off x="7569403" y="246888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技术与工程</a:t>
            </a:r>
            <a:endParaRPr lang="en-US" sz="2000" dirty="0"/>
          </a:p>
        </p:txBody>
      </p:sp>
      <p:sp>
        <p:nvSpPr>
          <p:cNvPr id="27" name="text-75"/>
          <p:cNvSpPr txBox="1"/>
          <p:nvPr/>
        </p:nvSpPr>
        <p:spPr>
          <a:xfrm>
            <a:off x="7569403" y="3017520"/>
            <a:ext cx="16696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技术选型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代码仓库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接口契约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安全合规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部署形态</a:t>
            </a:r>
            <a:endParaRPr lang="en-US" sz="1400" dirty="0"/>
          </a:p>
        </p:txBody>
      </p:sp>
      <p:sp>
        <p:nvSpPr>
          <p:cNvPr id="28" name="agenda-card-76"/>
          <p:cNvSpPr/>
          <p:nvPr/>
        </p:nvSpPr>
        <p:spPr>
          <a:xfrm>
            <a:off x="9604858" y="1508760"/>
            <a:ext cx="2035454" cy="3794760"/>
          </a:xfrm>
          <a:prstGeom prst="roundRect">
            <a:avLst>
              <a:gd name="adj" fmla="val 4492"/>
            </a:avLst>
          </a:prstGeom>
          <a:solidFill>
            <a:schemeClr val="bg2"/>
          </a:solidFill>
          <a:ln/>
        </p:spPr>
      </p:sp>
      <p:sp>
        <p:nvSpPr>
          <p:cNvPr id="29" name="text-77"/>
          <p:cNvSpPr txBox="1"/>
          <p:nvPr/>
        </p:nvSpPr>
        <p:spPr>
          <a:xfrm>
            <a:off x="9833458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05</a:t>
            </a:r>
            <a:endParaRPr lang="en-US" sz="3600" dirty="0"/>
          </a:p>
        </p:txBody>
      </p:sp>
      <p:sp>
        <p:nvSpPr>
          <p:cNvPr id="30" name="icon-bg-78"/>
          <p:cNvSpPr/>
          <p:nvPr/>
        </p:nvSpPr>
        <p:spPr>
          <a:xfrm>
            <a:off x="10908792" y="17647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79" descr="Fa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522" y="1890522"/>
            <a:ext cx="251460" cy="251460"/>
          </a:xfrm>
          <a:prstGeom prst="rect">
            <a:avLst/>
          </a:prstGeom>
        </p:spPr>
      </p:pic>
      <p:sp>
        <p:nvSpPr>
          <p:cNvPr id="32" name="text-80"/>
          <p:cNvSpPr txBox="1"/>
          <p:nvPr/>
        </p:nvSpPr>
        <p:spPr>
          <a:xfrm>
            <a:off x="9833458" y="246888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组织与计划</a:t>
            </a:r>
            <a:endParaRPr lang="en-US" sz="2000" dirty="0"/>
          </a:p>
        </p:txBody>
      </p:sp>
      <p:sp>
        <p:nvSpPr>
          <p:cNvPr id="33" name="text-81"/>
          <p:cNvSpPr txBox="1"/>
          <p:nvPr/>
        </p:nvSpPr>
        <p:spPr>
          <a:xfrm>
            <a:off x="9833458" y="3017520"/>
            <a:ext cx="166969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开发组织架构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分工与协作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路线图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风险与应对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待确认事项</a:t>
            </a:r>
            <a:endParaRPr lang="en-US" sz="1400" dirty="0"/>
          </a:p>
        </p:txBody>
      </p:sp>
      <p:sp>
        <p:nvSpPr>
          <p:cNvPr id="34" name="key-message-82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5" name="text-83"/>
          <p:cNvSpPr txBox="1"/>
          <p:nvPr/>
        </p:nvSpPr>
        <p:spPr>
          <a:xfrm>
            <a:off x="82296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核心观点：</a:t>
            </a:r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皮瓣监测只是第一个场景，真正要建的是可复用的“边云协同 + 实时看板 + AI 分析”监测平台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背景与需求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临床背景：术后 72 小时是皮瓣存活的关键窗口</a:t>
            </a:r>
            <a:endParaRPr lang="en-US" sz="3200" dirty="0"/>
          </a:p>
        </p:txBody>
      </p:sp>
      <p:sp>
        <p:nvSpPr>
          <p:cNvPr id="4" name="intro-84"/>
          <p:cNvSpPr txBox="1"/>
          <p:nvPr/>
        </p:nvSpPr>
        <p:spPr>
          <a:xfrm>
            <a:off x="548640" y="1508760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accent2"/>
                </a:solidFill>
              </a:rPr>
              <a:t>皮瓣移植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：从身体其他部位（供区）切取带血管的皮肤及皮下组织，转移覆盖创面。术后一旦出现血管危象而未及时处理，皮瓣可能部分或全部坏死。</a:t>
            </a:r>
            <a:endParaRPr lang="en-US" sz="1500" dirty="0"/>
          </a:p>
        </p:txBody>
      </p:sp>
      <p:sp>
        <p:nvSpPr>
          <p:cNvPr id="5" name="text-85"/>
          <p:cNvSpPr txBox="1"/>
          <p:nvPr/>
        </p:nvSpPr>
        <p:spPr>
          <a:xfrm>
            <a:off x="548640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需要重点观察的指标</a:t>
            </a:r>
            <a:endParaRPr lang="en-US" sz="1600" dirty="0"/>
          </a:p>
        </p:txBody>
      </p:sp>
      <p:sp>
        <p:nvSpPr>
          <p:cNvPr id="6" name="indicator-86"/>
          <p:cNvSpPr/>
          <p:nvPr/>
        </p:nvSpPr>
        <p:spPr>
          <a:xfrm>
            <a:off x="548640" y="3246120"/>
            <a:ext cx="2514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icon-bg-87"/>
          <p:cNvSpPr/>
          <p:nvPr/>
        </p:nvSpPr>
        <p:spPr>
          <a:xfrm>
            <a:off x="731520" y="3410712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-88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520440"/>
            <a:ext cx="219456" cy="219456"/>
          </a:xfrm>
          <a:prstGeom prst="rect">
            <a:avLst/>
          </a:prstGeom>
        </p:spPr>
      </p:pic>
      <p:sp>
        <p:nvSpPr>
          <p:cNvPr id="9" name="text-89"/>
          <p:cNvSpPr txBox="1"/>
          <p:nvPr/>
        </p:nvSpPr>
        <p:spPr>
          <a:xfrm>
            <a:off x="1298448" y="34290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颜色</a:t>
            </a:r>
            <a:endParaRPr lang="en-US" sz="1500" dirty="0"/>
          </a:p>
        </p:txBody>
      </p:sp>
      <p:sp>
        <p:nvSpPr>
          <p:cNvPr id="10" name="text-90"/>
          <p:cNvSpPr txBox="1"/>
          <p:nvPr/>
        </p:nvSpPr>
        <p:spPr>
          <a:xfrm>
            <a:off x="731520" y="39410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苍白 → 动脉供血不足；青紫 → 静脉回流障碍</a:t>
            </a:r>
            <a:endParaRPr lang="en-US" sz="1400" dirty="0"/>
          </a:p>
        </p:txBody>
      </p:sp>
      <p:sp>
        <p:nvSpPr>
          <p:cNvPr id="11" name="indicator-91"/>
          <p:cNvSpPr/>
          <p:nvPr/>
        </p:nvSpPr>
        <p:spPr>
          <a:xfrm>
            <a:off x="3291840" y="3246120"/>
            <a:ext cx="2514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icon-bg-92"/>
          <p:cNvSpPr/>
          <p:nvPr/>
        </p:nvSpPr>
        <p:spPr>
          <a:xfrm>
            <a:off x="3474720" y="341071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93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3520440"/>
            <a:ext cx="219456" cy="219456"/>
          </a:xfrm>
          <a:prstGeom prst="rect">
            <a:avLst/>
          </a:prstGeom>
        </p:spPr>
      </p:pic>
      <p:sp>
        <p:nvSpPr>
          <p:cNvPr id="14" name="text-94"/>
          <p:cNvSpPr txBox="1"/>
          <p:nvPr/>
        </p:nvSpPr>
        <p:spPr>
          <a:xfrm>
            <a:off x="4041648" y="34290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纹理</a:t>
            </a:r>
            <a:endParaRPr lang="en-US" sz="1500" dirty="0"/>
          </a:p>
        </p:txBody>
      </p:sp>
      <p:sp>
        <p:nvSpPr>
          <p:cNvPr id="15" name="text-95"/>
          <p:cNvSpPr txBox="1"/>
          <p:nvPr/>
        </p:nvSpPr>
        <p:spPr>
          <a:xfrm>
            <a:off x="3474720" y="394106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皮纹、皱褶、水疱与表面光泽变化</a:t>
            </a:r>
            <a:endParaRPr lang="en-US" sz="1400" dirty="0"/>
          </a:p>
        </p:txBody>
      </p:sp>
      <p:sp>
        <p:nvSpPr>
          <p:cNvPr id="16" name="indicator-96"/>
          <p:cNvSpPr/>
          <p:nvPr/>
        </p:nvSpPr>
        <p:spPr>
          <a:xfrm>
            <a:off x="548640" y="4709160"/>
            <a:ext cx="2514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7" name="icon-bg-97"/>
          <p:cNvSpPr/>
          <p:nvPr/>
        </p:nvSpPr>
        <p:spPr>
          <a:xfrm>
            <a:off x="731520" y="4873752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-98" descr="FaExpandArrows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83480"/>
            <a:ext cx="219456" cy="219456"/>
          </a:xfrm>
          <a:prstGeom prst="rect">
            <a:avLst/>
          </a:prstGeom>
        </p:spPr>
      </p:pic>
      <p:sp>
        <p:nvSpPr>
          <p:cNvPr id="19" name="text-99"/>
          <p:cNvSpPr txBox="1"/>
          <p:nvPr/>
        </p:nvSpPr>
        <p:spPr>
          <a:xfrm>
            <a:off x="1298448" y="48920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肿胀</a:t>
            </a:r>
            <a:endParaRPr lang="en-US" sz="1500" dirty="0"/>
          </a:p>
        </p:txBody>
      </p:sp>
      <p:sp>
        <p:nvSpPr>
          <p:cNvPr id="20" name="text-100"/>
          <p:cNvSpPr txBox="1"/>
          <p:nvPr/>
        </p:nvSpPr>
        <p:spPr>
          <a:xfrm>
            <a:off x="731520" y="54041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肿胀程度与张力，是否进行性加重</a:t>
            </a:r>
            <a:endParaRPr lang="en-US" sz="1400" dirty="0"/>
          </a:p>
        </p:txBody>
      </p:sp>
      <p:sp>
        <p:nvSpPr>
          <p:cNvPr id="21" name="indicator-101"/>
          <p:cNvSpPr/>
          <p:nvPr/>
        </p:nvSpPr>
        <p:spPr>
          <a:xfrm>
            <a:off x="3291840" y="4709160"/>
            <a:ext cx="25146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icon-bg-102"/>
          <p:cNvSpPr/>
          <p:nvPr/>
        </p:nvSpPr>
        <p:spPr>
          <a:xfrm>
            <a:off x="3474720" y="4873752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-10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4983480"/>
            <a:ext cx="219456" cy="219456"/>
          </a:xfrm>
          <a:prstGeom prst="rect">
            <a:avLst/>
          </a:prstGeom>
        </p:spPr>
      </p:pic>
      <p:sp>
        <p:nvSpPr>
          <p:cNvPr id="24" name="text-104"/>
          <p:cNvSpPr txBox="1"/>
          <p:nvPr/>
        </p:nvSpPr>
        <p:spPr>
          <a:xfrm>
            <a:off x="4041648" y="48920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扩展指标</a:t>
            </a:r>
            <a:endParaRPr lang="en-US" sz="1500" dirty="0"/>
          </a:p>
        </p:txBody>
      </p:sp>
      <p:sp>
        <p:nvSpPr>
          <p:cNvPr id="25" name="text-105"/>
          <p:cNvSpPr txBox="1"/>
          <p:nvPr/>
        </p:nvSpPr>
        <p:spPr>
          <a:xfrm>
            <a:off x="3474720" y="54041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皮温、毛细血管回流等，后续可接传感器</a:t>
            </a:r>
            <a:endParaRPr lang="en-US" sz="1400" dirty="0"/>
          </a:p>
        </p:txBody>
      </p:sp>
      <p:sp>
        <p:nvSpPr>
          <p:cNvPr id="26" name="timeline-card-106"/>
          <p:cNvSpPr/>
          <p:nvPr/>
        </p:nvSpPr>
        <p:spPr>
          <a:xfrm>
            <a:off x="6126480" y="1508760"/>
            <a:ext cx="5513832" cy="475488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E3A47">
                <a:alpha val="14000"/>
              </a:srgbClr>
            </a:outerShdw>
          </a:effectLst>
        </p:spPr>
      </p:sp>
      <p:sp>
        <p:nvSpPr>
          <p:cNvPr id="27" name="text-107"/>
          <p:cNvSpPr txBox="1"/>
          <p:nvPr/>
        </p:nvSpPr>
        <p:spPr>
          <a:xfrm>
            <a:off x="6400800" y="169164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监测频率（以手术结束为 T0）</a:t>
            </a:r>
            <a:endParaRPr lang="en-US" sz="1600" dirty="0"/>
          </a:p>
        </p:txBody>
      </p:sp>
      <p:sp>
        <p:nvSpPr>
          <p:cNvPr id="28" name="bar-72h-108"/>
          <p:cNvSpPr/>
          <p:nvPr/>
        </p:nvSpPr>
        <p:spPr>
          <a:xfrm>
            <a:off x="6446520" y="2606040"/>
            <a:ext cx="2924251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bar-after-109"/>
          <p:cNvSpPr/>
          <p:nvPr/>
        </p:nvSpPr>
        <p:spPr>
          <a:xfrm>
            <a:off x="9370771" y="2606040"/>
            <a:ext cx="1949501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ick-110"/>
          <p:cNvSpPr/>
          <p:nvPr/>
        </p:nvSpPr>
        <p:spPr>
          <a:xfrm>
            <a:off x="644652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1" name="tick-111"/>
          <p:cNvSpPr/>
          <p:nvPr/>
        </p:nvSpPr>
        <p:spPr>
          <a:xfrm>
            <a:off x="648713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2" name="tick-112"/>
          <p:cNvSpPr/>
          <p:nvPr/>
        </p:nvSpPr>
        <p:spPr>
          <a:xfrm>
            <a:off x="652774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3" name="tick-113"/>
          <p:cNvSpPr/>
          <p:nvPr/>
        </p:nvSpPr>
        <p:spPr>
          <a:xfrm>
            <a:off x="656836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4" name="tick-114"/>
          <p:cNvSpPr/>
          <p:nvPr/>
        </p:nvSpPr>
        <p:spPr>
          <a:xfrm>
            <a:off x="660897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5" name="tick-115"/>
          <p:cNvSpPr/>
          <p:nvPr/>
        </p:nvSpPr>
        <p:spPr>
          <a:xfrm>
            <a:off x="664959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6" name="tick-116"/>
          <p:cNvSpPr/>
          <p:nvPr/>
        </p:nvSpPr>
        <p:spPr>
          <a:xfrm>
            <a:off x="669020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7" name="tick-117"/>
          <p:cNvSpPr/>
          <p:nvPr/>
        </p:nvSpPr>
        <p:spPr>
          <a:xfrm>
            <a:off x="673082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8" name="tick-118"/>
          <p:cNvSpPr/>
          <p:nvPr/>
        </p:nvSpPr>
        <p:spPr>
          <a:xfrm>
            <a:off x="677143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39" name="tick-119"/>
          <p:cNvSpPr/>
          <p:nvPr/>
        </p:nvSpPr>
        <p:spPr>
          <a:xfrm>
            <a:off x="681205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0" name="tick-120"/>
          <p:cNvSpPr/>
          <p:nvPr/>
        </p:nvSpPr>
        <p:spPr>
          <a:xfrm>
            <a:off x="685266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1" name="tick-121"/>
          <p:cNvSpPr/>
          <p:nvPr/>
        </p:nvSpPr>
        <p:spPr>
          <a:xfrm>
            <a:off x="689328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2" name="tick-122"/>
          <p:cNvSpPr/>
          <p:nvPr/>
        </p:nvSpPr>
        <p:spPr>
          <a:xfrm>
            <a:off x="693389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3" name="tick-123"/>
          <p:cNvSpPr/>
          <p:nvPr/>
        </p:nvSpPr>
        <p:spPr>
          <a:xfrm>
            <a:off x="697451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4" name="tick-124"/>
          <p:cNvSpPr/>
          <p:nvPr/>
        </p:nvSpPr>
        <p:spPr>
          <a:xfrm>
            <a:off x="701512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5" name="tick-125"/>
          <p:cNvSpPr/>
          <p:nvPr/>
        </p:nvSpPr>
        <p:spPr>
          <a:xfrm>
            <a:off x="705573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6" name="tick-126"/>
          <p:cNvSpPr/>
          <p:nvPr/>
        </p:nvSpPr>
        <p:spPr>
          <a:xfrm>
            <a:off x="709635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7" name="tick-127"/>
          <p:cNvSpPr/>
          <p:nvPr/>
        </p:nvSpPr>
        <p:spPr>
          <a:xfrm>
            <a:off x="713696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8" name="tick-128"/>
          <p:cNvSpPr/>
          <p:nvPr/>
        </p:nvSpPr>
        <p:spPr>
          <a:xfrm>
            <a:off x="717758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49" name="tick-129"/>
          <p:cNvSpPr/>
          <p:nvPr/>
        </p:nvSpPr>
        <p:spPr>
          <a:xfrm>
            <a:off x="721819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0" name="tick-130"/>
          <p:cNvSpPr/>
          <p:nvPr/>
        </p:nvSpPr>
        <p:spPr>
          <a:xfrm>
            <a:off x="725881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1" name="tick-131"/>
          <p:cNvSpPr/>
          <p:nvPr/>
        </p:nvSpPr>
        <p:spPr>
          <a:xfrm>
            <a:off x="729942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2" name="tick-132"/>
          <p:cNvSpPr/>
          <p:nvPr/>
        </p:nvSpPr>
        <p:spPr>
          <a:xfrm>
            <a:off x="734004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3" name="tick-133"/>
          <p:cNvSpPr/>
          <p:nvPr/>
        </p:nvSpPr>
        <p:spPr>
          <a:xfrm>
            <a:off x="738065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4" name="tick-134"/>
          <p:cNvSpPr/>
          <p:nvPr/>
        </p:nvSpPr>
        <p:spPr>
          <a:xfrm>
            <a:off x="742127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5" name="tick-135"/>
          <p:cNvSpPr/>
          <p:nvPr/>
        </p:nvSpPr>
        <p:spPr>
          <a:xfrm>
            <a:off x="746188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6" name="tick-136"/>
          <p:cNvSpPr/>
          <p:nvPr/>
        </p:nvSpPr>
        <p:spPr>
          <a:xfrm>
            <a:off x="750250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7" name="tick-137"/>
          <p:cNvSpPr/>
          <p:nvPr/>
        </p:nvSpPr>
        <p:spPr>
          <a:xfrm>
            <a:off x="754311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8" name="tick-138"/>
          <p:cNvSpPr/>
          <p:nvPr/>
        </p:nvSpPr>
        <p:spPr>
          <a:xfrm>
            <a:off x="758372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59" name="tick-139"/>
          <p:cNvSpPr/>
          <p:nvPr/>
        </p:nvSpPr>
        <p:spPr>
          <a:xfrm>
            <a:off x="762434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0" name="tick-140"/>
          <p:cNvSpPr/>
          <p:nvPr/>
        </p:nvSpPr>
        <p:spPr>
          <a:xfrm>
            <a:off x="766495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1" name="tick-141"/>
          <p:cNvSpPr/>
          <p:nvPr/>
        </p:nvSpPr>
        <p:spPr>
          <a:xfrm>
            <a:off x="770557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2" name="tick-142"/>
          <p:cNvSpPr/>
          <p:nvPr/>
        </p:nvSpPr>
        <p:spPr>
          <a:xfrm>
            <a:off x="774618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3" name="tick-143"/>
          <p:cNvSpPr/>
          <p:nvPr/>
        </p:nvSpPr>
        <p:spPr>
          <a:xfrm>
            <a:off x="778680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4" name="tick-144"/>
          <p:cNvSpPr/>
          <p:nvPr/>
        </p:nvSpPr>
        <p:spPr>
          <a:xfrm>
            <a:off x="782741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5" name="tick-145"/>
          <p:cNvSpPr/>
          <p:nvPr/>
        </p:nvSpPr>
        <p:spPr>
          <a:xfrm>
            <a:off x="786803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6" name="tick-146"/>
          <p:cNvSpPr/>
          <p:nvPr/>
        </p:nvSpPr>
        <p:spPr>
          <a:xfrm>
            <a:off x="790864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7" name="tick-147"/>
          <p:cNvSpPr/>
          <p:nvPr/>
        </p:nvSpPr>
        <p:spPr>
          <a:xfrm>
            <a:off x="794926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8" name="tick-148"/>
          <p:cNvSpPr/>
          <p:nvPr/>
        </p:nvSpPr>
        <p:spPr>
          <a:xfrm>
            <a:off x="798987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69" name="tick-149"/>
          <p:cNvSpPr/>
          <p:nvPr/>
        </p:nvSpPr>
        <p:spPr>
          <a:xfrm>
            <a:off x="803048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0" name="tick-150"/>
          <p:cNvSpPr/>
          <p:nvPr/>
        </p:nvSpPr>
        <p:spPr>
          <a:xfrm>
            <a:off x="807110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1" name="tick-151"/>
          <p:cNvSpPr/>
          <p:nvPr/>
        </p:nvSpPr>
        <p:spPr>
          <a:xfrm>
            <a:off x="811171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2" name="tick-152"/>
          <p:cNvSpPr/>
          <p:nvPr/>
        </p:nvSpPr>
        <p:spPr>
          <a:xfrm>
            <a:off x="815233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3" name="tick-153"/>
          <p:cNvSpPr/>
          <p:nvPr/>
        </p:nvSpPr>
        <p:spPr>
          <a:xfrm>
            <a:off x="819294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4" name="tick-154"/>
          <p:cNvSpPr/>
          <p:nvPr/>
        </p:nvSpPr>
        <p:spPr>
          <a:xfrm>
            <a:off x="823356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5" name="tick-155"/>
          <p:cNvSpPr/>
          <p:nvPr/>
        </p:nvSpPr>
        <p:spPr>
          <a:xfrm>
            <a:off x="827417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6" name="tick-156"/>
          <p:cNvSpPr/>
          <p:nvPr/>
        </p:nvSpPr>
        <p:spPr>
          <a:xfrm>
            <a:off x="831479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7" name="tick-157"/>
          <p:cNvSpPr/>
          <p:nvPr/>
        </p:nvSpPr>
        <p:spPr>
          <a:xfrm>
            <a:off x="835540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8" name="tick-158"/>
          <p:cNvSpPr/>
          <p:nvPr/>
        </p:nvSpPr>
        <p:spPr>
          <a:xfrm>
            <a:off x="839602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79" name="tick-159"/>
          <p:cNvSpPr/>
          <p:nvPr/>
        </p:nvSpPr>
        <p:spPr>
          <a:xfrm>
            <a:off x="843663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0" name="tick-160"/>
          <p:cNvSpPr/>
          <p:nvPr/>
        </p:nvSpPr>
        <p:spPr>
          <a:xfrm>
            <a:off x="847725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1" name="tick-161"/>
          <p:cNvSpPr/>
          <p:nvPr/>
        </p:nvSpPr>
        <p:spPr>
          <a:xfrm>
            <a:off x="851786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2" name="tick-162"/>
          <p:cNvSpPr/>
          <p:nvPr/>
        </p:nvSpPr>
        <p:spPr>
          <a:xfrm>
            <a:off x="855847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3" name="tick-163"/>
          <p:cNvSpPr/>
          <p:nvPr/>
        </p:nvSpPr>
        <p:spPr>
          <a:xfrm>
            <a:off x="859909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4" name="tick-164"/>
          <p:cNvSpPr/>
          <p:nvPr/>
        </p:nvSpPr>
        <p:spPr>
          <a:xfrm>
            <a:off x="863970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5" name="tick-165"/>
          <p:cNvSpPr/>
          <p:nvPr/>
        </p:nvSpPr>
        <p:spPr>
          <a:xfrm>
            <a:off x="868032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6" name="tick-166"/>
          <p:cNvSpPr/>
          <p:nvPr/>
        </p:nvSpPr>
        <p:spPr>
          <a:xfrm>
            <a:off x="872093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7" name="tick-167"/>
          <p:cNvSpPr/>
          <p:nvPr/>
        </p:nvSpPr>
        <p:spPr>
          <a:xfrm>
            <a:off x="876155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8" name="tick-168"/>
          <p:cNvSpPr/>
          <p:nvPr/>
        </p:nvSpPr>
        <p:spPr>
          <a:xfrm>
            <a:off x="880216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9" name="tick-169"/>
          <p:cNvSpPr/>
          <p:nvPr/>
        </p:nvSpPr>
        <p:spPr>
          <a:xfrm>
            <a:off x="884278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0" name="tick-170"/>
          <p:cNvSpPr/>
          <p:nvPr/>
        </p:nvSpPr>
        <p:spPr>
          <a:xfrm>
            <a:off x="8883396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1" name="tick-171"/>
          <p:cNvSpPr/>
          <p:nvPr/>
        </p:nvSpPr>
        <p:spPr>
          <a:xfrm>
            <a:off x="892401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2" name="tick-172"/>
          <p:cNvSpPr/>
          <p:nvPr/>
        </p:nvSpPr>
        <p:spPr>
          <a:xfrm>
            <a:off x="8964625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3" name="tick-173"/>
          <p:cNvSpPr/>
          <p:nvPr/>
        </p:nvSpPr>
        <p:spPr>
          <a:xfrm>
            <a:off x="9005240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4" name="tick-174"/>
          <p:cNvSpPr/>
          <p:nvPr/>
        </p:nvSpPr>
        <p:spPr>
          <a:xfrm>
            <a:off x="904585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5" name="tick-175"/>
          <p:cNvSpPr/>
          <p:nvPr/>
        </p:nvSpPr>
        <p:spPr>
          <a:xfrm>
            <a:off x="9086469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6" name="tick-176"/>
          <p:cNvSpPr/>
          <p:nvPr/>
        </p:nvSpPr>
        <p:spPr>
          <a:xfrm>
            <a:off x="9127084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7" name="tick-177"/>
          <p:cNvSpPr/>
          <p:nvPr/>
        </p:nvSpPr>
        <p:spPr>
          <a:xfrm>
            <a:off x="9167698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8" name="tick-178"/>
          <p:cNvSpPr/>
          <p:nvPr/>
        </p:nvSpPr>
        <p:spPr>
          <a:xfrm>
            <a:off x="9208313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99" name="tick-179"/>
          <p:cNvSpPr/>
          <p:nvPr/>
        </p:nvSpPr>
        <p:spPr>
          <a:xfrm>
            <a:off x="924892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00" name="tick-180"/>
          <p:cNvSpPr/>
          <p:nvPr/>
        </p:nvSpPr>
        <p:spPr>
          <a:xfrm>
            <a:off x="9289542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01" name="tick-181"/>
          <p:cNvSpPr/>
          <p:nvPr/>
        </p:nvSpPr>
        <p:spPr>
          <a:xfrm>
            <a:off x="9330157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02" name="tick-182"/>
          <p:cNvSpPr/>
          <p:nvPr/>
        </p:nvSpPr>
        <p:spPr>
          <a:xfrm>
            <a:off x="9370771" y="2350008"/>
            <a:ext cx="0" cy="237744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03" name="tick-183"/>
          <p:cNvSpPr/>
          <p:nvPr/>
        </p:nvSpPr>
        <p:spPr>
          <a:xfrm>
            <a:off x="9533230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4" name="tick-184"/>
          <p:cNvSpPr/>
          <p:nvPr/>
        </p:nvSpPr>
        <p:spPr>
          <a:xfrm>
            <a:off x="9695688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5" name="tick-185"/>
          <p:cNvSpPr/>
          <p:nvPr/>
        </p:nvSpPr>
        <p:spPr>
          <a:xfrm>
            <a:off x="9858146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6" name="tick-186"/>
          <p:cNvSpPr/>
          <p:nvPr/>
        </p:nvSpPr>
        <p:spPr>
          <a:xfrm>
            <a:off x="10020605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7" name="tick-187"/>
          <p:cNvSpPr/>
          <p:nvPr/>
        </p:nvSpPr>
        <p:spPr>
          <a:xfrm>
            <a:off x="10183063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8" name="tick-188"/>
          <p:cNvSpPr/>
          <p:nvPr/>
        </p:nvSpPr>
        <p:spPr>
          <a:xfrm>
            <a:off x="10345522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9" name="tick-189"/>
          <p:cNvSpPr/>
          <p:nvPr/>
        </p:nvSpPr>
        <p:spPr>
          <a:xfrm>
            <a:off x="10507980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0" name="tick-190"/>
          <p:cNvSpPr/>
          <p:nvPr/>
        </p:nvSpPr>
        <p:spPr>
          <a:xfrm>
            <a:off x="10670438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1" name="tick-191"/>
          <p:cNvSpPr/>
          <p:nvPr/>
        </p:nvSpPr>
        <p:spPr>
          <a:xfrm>
            <a:off x="10832897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2" name="tick-192"/>
          <p:cNvSpPr/>
          <p:nvPr/>
        </p:nvSpPr>
        <p:spPr>
          <a:xfrm>
            <a:off x="10995355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3" name="tick-193"/>
          <p:cNvSpPr/>
          <p:nvPr/>
        </p:nvSpPr>
        <p:spPr>
          <a:xfrm>
            <a:off x="11157814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4" name="tick-194"/>
          <p:cNvSpPr/>
          <p:nvPr/>
        </p:nvSpPr>
        <p:spPr>
          <a:xfrm>
            <a:off x="11320272" y="2350008"/>
            <a:ext cx="0" cy="237744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5" name="text-195"/>
          <p:cNvSpPr txBox="1"/>
          <p:nvPr/>
        </p:nvSpPr>
        <p:spPr>
          <a:xfrm>
            <a:off x="6172200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T0</a:t>
            </a:r>
            <a:endParaRPr lang="en-US" sz="1100" dirty="0"/>
          </a:p>
        </p:txBody>
      </p:sp>
      <p:sp>
        <p:nvSpPr>
          <p:cNvPr id="116" name="text-196"/>
          <p:cNvSpPr txBox="1"/>
          <p:nvPr/>
        </p:nvSpPr>
        <p:spPr>
          <a:xfrm>
            <a:off x="7146950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24h</a:t>
            </a:r>
            <a:endParaRPr lang="en-US" sz="1100" dirty="0"/>
          </a:p>
        </p:txBody>
      </p:sp>
      <p:sp>
        <p:nvSpPr>
          <p:cNvPr id="117" name="text-197"/>
          <p:cNvSpPr txBox="1"/>
          <p:nvPr/>
        </p:nvSpPr>
        <p:spPr>
          <a:xfrm>
            <a:off x="8121701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48h</a:t>
            </a:r>
            <a:endParaRPr lang="en-US" sz="1100" dirty="0"/>
          </a:p>
        </p:txBody>
      </p:sp>
      <p:sp>
        <p:nvSpPr>
          <p:cNvPr id="118" name="text-198"/>
          <p:cNvSpPr txBox="1"/>
          <p:nvPr/>
        </p:nvSpPr>
        <p:spPr>
          <a:xfrm>
            <a:off x="9096451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72h</a:t>
            </a:r>
            <a:endParaRPr lang="en-US" sz="1100" dirty="0"/>
          </a:p>
        </p:txBody>
      </p:sp>
      <p:sp>
        <p:nvSpPr>
          <p:cNvPr id="119" name="text-199"/>
          <p:cNvSpPr txBox="1"/>
          <p:nvPr/>
        </p:nvSpPr>
        <p:spPr>
          <a:xfrm>
            <a:off x="10071202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96h</a:t>
            </a:r>
            <a:endParaRPr lang="en-US" sz="1100" dirty="0"/>
          </a:p>
        </p:txBody>
      </p:sp>
      <p:sp>
        <p:nvSpPr>
          <p:cNvPr id="120" name="text-200"/>
          <p:cNvSpPr txBox="1"/>
          <p:nvPr/>
        </p:nvSpPr>
        <p:spPr>
          <a:xfrm>
            <a:off x="11045952" y="2788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120h</a:t>
            </a:r>
            <a:endParaRPr lang="en-US" sz="1100" dirty="0"/>
          </a:p>
        </p:txBody>
      </p:sp>
      <p:sp>
        <p:nvSpPr>
          <p:cNvPr id="121" name="legend-key-201"/>
          <p:cNvSpPr/>
          <p:nvPr/>
        </p:nvSpPr>
        <p:spPr>
          <a:xfrm>
            <a:off x="6446520" y="3319272"/>
            <a:ext cx="164592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2" name="text-202"/>
          <p:cNvSpPr txBox="1"/>
          <p:nvPr/>
        </p:nvSpPr>
        <p:spPr>
          <a:xfrm>
            <a:off x="6720840" y="3246120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0–72 h：每 1 小时上传 1 次，共 72 次</a:t>
            </a:r>
            <a:endParaRPr lang="en-US" sz="1400" dirty="0"/>
          </a:p>
        </p:txBody>
      </p:sp>
      <p:sp>
        <p:nvSpPr>
          <p:cNvPr id="123" name="legend-key-203"/>
          <p:cNvSpPr/>
          <p:nvPr/>
        </p:nvSpPr>
        <p:spPr>
          <a:xfrm>
            <a:off x="6446520" y="3703320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4" name="text-204"/>
          <p:cNvSpPr txBox="1"/>
          <p:nvPr/>
        </p:nvSpPr>
        <p:spPr>
          <a:xfrm>
            <a:off x="6720840" y="363016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72 h 之后：每 4 小时上传 1 次，每天 6 次</a:t>
            </a:r>
            <a:endParaRPr lang="en-US" sz="1400" dirty="0"/>
          </a:p>
        </p:txBody>
      </p:sp>
      <p:sp>
        <p:nvSpPr>
          <p:cNvPr id="125" name="text-205"/>
          <p:cNvSpPr txBox="1"/>
          <p:nvPr/>
        </p:nvSpPr>
        <p:spPr>
          <a:xfrm>
            <a:off x="6400800" y="416052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当前痛点</a:t>
            </a:r>
            <a:endParaRPr lang="en-US" sz="1600" dirty="0"/>
          </a:p>
        </p:txBody>
      </p:sp>
      <p:sp>
        <p:nvSpPr>
          <p:cNvPr id="126" name="icon-bg-206"/>
          <p:cNvSpPr/>
          <p:nvPr/>
        </p:nvSpPr>
        <p:spPr>
          <a:xfrm>
            <a:off x="6400800" y="4663440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7" name="icon-207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764024"/>
            <a:ext cx="201168" cy="201168"/>
          </a:xfrm>
          <a:prstGeom prst="rect">
            <a:avLst/>
          </a:prstGeom>
        </p:spPr>
      </p:pic>
      <p:sp>
        <p:nvSpPr>
          <p:cNvPr id="128" name="text-208"/>
          <p:cNvSpPr txBox="1"/>
          <p:nvPr/>
        </p:nvSpPr>
        <p:spPr>
          <a:xfrm>
            <a:off x="6931152" y="4617720"/>
            <a:ext cx="18425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夜间人手紧张，巡视频次高</a:t>
            </a:r>
            <a:endParaRPr lang="en-US" sz="1400" dirty="0"/>
          </a:p>
        </p:txBody>
      </p:sp>
      <p:sp>
        <p:nvSpPr>
          <p:cNvPr id="129" name="icon-bg-209"/>
          <p:cNvSpPr/>
          <p:nvPr/>
        </p:nvSpPr>
        <p:spPr>
          <a:xfrm>
            <a:off x="8974836" y="4663440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0" name="icon-210" descr="FaClipboardL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420" y="4764024"/>
            <a:ext cx="201168" cy="201168"/>
          </a:xfrm>
          <a:prstGeom prst="rect">
            <a:avLst/>
          </a:prstGeom>
        </p:spPr>
      </p:pic>
      <p:sp>
        <p:nvSpPr>
          <p:cNvPr id="131" name="text-211"/>
          <p:cNvSpPr txBox="1"/>
          <p:nvPr/>
        </p:nvSpPr>
        <p:spPr>
          <a:xfrm>
            <a:off x="9505188" y="4617720"/>
            <a:ext cx="18425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纸质记录分散，难以前后对比</a:t>
            </a:r>
            <a:endParaRPr lang="en-US" sz="1400" dirty="0"/>
          </a:p>
        </p:txBody>
      </p:sp>
      <p:sp>
        <p:nvSpPr>
          <p:cNvPr id="132" name="icon-bg-212"/>
          <p:cNvSpPr/>
          <p:nvPr/>
        </p:nvSpPr>
        <p:spPr>
          <a:xfrm>
            <a:off x="6400800" y="5440680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3" name="icon-213" descr="FaStethoscop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5541264"/>
            <a:ext cx="201168" cy="201168"/>
          </a:xfrm>
          <a:prstGeom prst="rect">
            <a:avLst/>
          </a:prstGeom>
        </p:spPr>
      </p:pic>
      <p:sp>
        <p:nvSpPr>
          <p:cNvPr id="134" name="text-214"/>
          <p:cNvSpPr txBox="1"/>
          <p:nvPr/>
        </p:nvSpPr>
        <p:spPr>
          <a:xfrm>
            <a:off x="6931152" y="5394960"/>
            <a:ext cx="18425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早期变化细微，依赖个人经验</a:t>
            </a:r>
            <a:endParaRPr lang="en-US" sz="1400" dirty="0"/>
          </a:p>
        </p:txBody>
      </p:sp>
      <p:sp>
        <p:nvSpPr>
          <p:cNvPr id="135" name="icon-bg-215"/>
          <p:cNvSpPr/>
          <p:nvPr/>
        </p:nvSpPr>
        <p:spPr>
          <a:xfrm>
            <a:off x="8974836" y="5440680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6" name="icon-216" descr="FaVide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5420" y="5541264"/>
            <a:ext cx="201168" cy="201168"/>
          </a:xfrm>
          <a:prstGeom prst="rect">
            <a:avLst/>
          </a:prstGeom>
        </p:spPr>
      </p:pic>
      <p:sp>
        <p:nvSpPr>
          <p:cNvPr id="137" name="text-217"/>
          <p:cNvSpPr txBox="1"/>
          <p:nvPr/>
        </p:nvSpPr>
        <p:spPr>
          <a:xfrm>
            <a:off x="9505188" y="5394960"/>
            <a:ext cx="18425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无法远程查看与会诊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背景与需求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三类用户，一套系统</a:t>
            </a:r>
            <a:endParaRPr lang="en-US" sz="3200" dirty="0"/>
          </a:p>
        </p:txBody>
      </p:sp>
      <p:sp>
        <p:nvSpPr>
          <p:cNvPr id="4" name="role-card-218"/>
          <p:cNvSpPr/>
          <p:nvPr/>
        </p:nvSpPr>
        <p:spPr>
          <a:xfrm>
            <a:off x="548640" y="1508760"/>
            <a:ext cx="3514344" cy="3931920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E3A47">
                <a:alpha val="14000"/>
              </a:srgbClr>
            </a:outerShdw>
          </a:effectLst>
        </p:spPr>
      </p:sp>
      <p:sp>
        <p:nvSpPr>
          <p:cNvPr id="5" name="icon-bg-219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220" descr="FaUserInju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7" name="text-221"/>
          <p:cNvSpPr txBox="1"/>
          <p:nvPr/>
        </p:nvSpPr>
        <p:spPr>
          <a:xfrm>
            <a:off x="1691640" y="1764792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患者 / 家属</a:t>
            </a:r>
            <a:endParaRPr lang="en-US" sz="2200" dirty="0"/>
          </a:p>
        </p:txBody>
      </p:sp>
      <p:sp>
        <p:nvSpPr>
          <p:cNvPr id="8" name="text-222"/>
          <p:cNvSpPr txBox="1"/>
          <p:nvPr/>
        </p:nvSpPr>
        <p:spPr>
          <a:xfrm>
            <a:off x="1691640" y="2176272"/>
            <a:ext cx="223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数据提供方</a:t>
            </a:r>
            <a:endParaRPr lang="en-US" sz="1300" dirty="0"/>
          </a:p>
        </p:txBody>
      </p:sp>
      <p:sp>
        <p:nvSpPr>
          <p:cNvPr id="9" name="list-223"/>
          <p:cNvSpPr txBox="1"/>
          <p:nvPr/>
        </p:nvSpPr>
        <p:spPr>
          <a:xfrm>
            <a:off x="868680" y="274320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扫描病例二维码，绑定监测任务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按时拍照上传（带拍摄引导）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查看本人上传记录与下次时间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接收提醒，超时可补传</a:t>
            </a:r>
            <a:endParaRPr lang="en-US" sz="1400" dirty="0"/>
          </a:p>
        </p:txBody>
      </p:sp>
      <p:sp>
        <p:nvSpPr>
          <p:cNvPr id="10" name="role-need-224"/>
          <p:cNvSpPr/>
          <p:nvPr/>
        </p:nvSpPr>
        <p:spPr>
          <a:xfrm>
            <a:off x="777240" y="4754880"/>
            <a:ext cx="3057144" cy="475488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1" name="text-225"/>
          <p:cNvSpPr txBox="1"/>
          <p:nvPr/>
        </p:nvSpPr>
        <p:spPr>
          <a:xfrm>
            <a:off x="914400" y="4754880"/>
            <a:ext cx="2782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诉求：操作简单，3 步完成上传</a:t>
            </a:r>
            <a:endParaRPr lang="en-US" sz="1400" dirty="0"/>
          </a:p>
        </p:txBody>
      </p:sp>
      <p:sp>
        <p:nvSpPr>
          <p:cNvPr id="12" name="role-card-226"/>
          <p:cNvSpPr/>
          <p:nvPr/>
        </p:nvSpPr>
        <p:spPr>
          <a:xfrm>
            <a:off x="4337304" y="1508760"/>
            <a:ext cx="3514344" cy="3931920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E3A47">
                <a:alpha val="14000"/>
              </a:srgbClr>
            </a:outerShdw>
          </a:effectLst>
        </p:spPr>
      </p:sp>
      <p:sp>
        <p:nvSpPr>
          <p:cNvPr id="13" name="icon-bg-227"/>
          <p:cNvSpPr/>
          <p:nvPr/>
        </p:nvSpPr>
        <p:spPr>
          <a:xfrm>
            <a:off x="4611624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28" descr="FaUserM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74" y="1954530"/>
            <a:ext cx="342900" cy="342900"/>
          </a:xfrm>
          <a:prstGeom prst="rect">
            <a:avLst/>
          </a:prstGeom>
        </p:spPr>
      </p:pic>
      <p:sp>
        <p:nvSpPr>
          <p:cNvPr id="15" name="text-229"/>
          <p:cNvSpPr txBox="1"/>
          <p:nvPr/>
        </p:nvSpPr>
        <p:spPr>
          <a:xfrm>
            <a:off x="5480304" y="1764792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医生 / 护士</a:t>
            </a:r>
            <a:endParaRPr lang="en-US" sz="2200" dirty="0"/>
          </a:p>
        </p:txBody>
      </p:sp>
      <p:sp>
        <p:nvSpPr>
          <p:cNvPr id="16" name="text-230"/>
          <p:cNvSpPr txBox="1"/>
          <p:nvPr/>
        </p:nvSpPr>
        <p:spPr>
          <a:xfrm>
            <a:off x="5480304" y="2176272"/>
            <a:ext cx="223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数据使用方</a:t>
            </a:r>
            <a:endParaRPr lang="en-US" sz="1300" dirty="0"/>
          </a:p>
        </p:txBody>
      </p:sp>
      <p:sp>
        <p:nvSpPr>
          <p:cNvPr id="17" name="list-231"/>
          <p:cNvSpPr txBox="1"/>
          <p:nvPr/>
        </p:nvSpPr>
        <p:spPr>
          <a:xfrm>
            <a:off x="4657344" y="274320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查看任一负责患者的全部历史图像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实时监控墙：所有患者一屏总览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时间轴对比、评估标注、处置记录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接收超时与（预留）AI 预警</a:t>
            </a:r>
            <a:endParaRPr lang="en-US" sz="1400" dirty="0"/>
          </a:p>
        </p:txBody>
      </p:sp>
      <p:sp>
        <p:nvSpPr>
          <p:cNvPr id="18" name="role-need-232"/>
          <p:cNvSpPr/>
          <p:nvPr/>
        </p:nvSpPr>
        <p:spPr>
          <a:xfrm>
            <a:off x="4565904" y="4754880"/>
            <a:ext cx="3057144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9" name="text-233"/>
          <p:cNvSpPr txBox="1"/>
          <p:nvPr/>
        </p:nvSpPr>
        <p:spPr>
          <a:xfrm>
            <a:off x="4703064" y="4754880"/>
            <a:ext cx="2782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诉求：一眼看出谁有异常</a:t>
            </a:r>
            <a:endParaRPr lang="en-US" sz="1400" dirty="0"/>
          </a:p>
        </p:txBody>
      </p:sp>
      <p:sp>
        <p:nvSpPr>
          <p:cNvPr id="20" name="role-card-234"/>
          <p:cNvSpPr/>
          <p:nvPr/>
        </p:nvSpPr>
        <p:spPr>
          <a:xfrm>
            <a:off x="8125968" y="1508760"/>
            <a:ext cx="3514344" cy="3931920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E3A47">
                <a:alpha val="14000"/>
              </a:srgbClr>
            </a:outerShdw>
          </a:effectLst>
        </p:spPr>
      </p:sp>
      <p:sp>
        <p:nvSpPr>
          <p:cNvPr id="21" name="icon-bg-235"/>
          <p:cNvSpPr/>
          <p:nvPr/>
        </p:nvSpPr>
        <p:spPr>
          <a:xfrm>
            <a:off x="8400288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236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738" y="1954530"/>
            <a:ext cx="342900" cy="342900"/>
          </a:xfrm>
          <a:prstGeom prst="rect">
            <a:avLst/>
          </a:prstGeom>
        </p:spPr>
      </p:pic>
      <p:sp>
        <p:nvSpPr>
          <p:cNvPr id="23" name="text-237"/>
          <p:cNvSpPr txBox="1"/>
          <p:nvPr/>
        </p:nvSpPr>
        <p:spPr>
          <a:xfrm>
            <a:off x="9268968" y="1764792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管理员</a:t>
            </a:r>
            <a:endParaRPr lang="en-US" sz="2200" dirty="0"/>
          </a:p>
        </p:txBody>
      </p:sp>
      <p:sp>
        <p:nvSpPr>
          <p:cNvPr id="24" name="text-238"/>
          <p:cNvSpPr txBox="1"/>
          <p:nvPr/>
        </p:nvSpPr>
        <p:spPr>
          <a:xfrm>
            <a:off x="9268968" y="2176272"/>
            <a:ext cx="223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系统运维方</a:t>
            </a:r>
            <a:endParaRPr lang="en-US" sz="1300" dirty="0"/>
          </a:p>
        </p:txBody>
      </p:sp>
      <p:sp>
        <p:nvSpPr>
          <p:cNvPr id="25" name="list-239"/>
          <p:cNvSpPr txBox="1"/>
          <p:nvPr/>
        </p:nvSpPr>
        <p:spPr>
          <a:xfrm>
            <a:off x="8446008" y="274320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新增 / 停用用户，分配角色与科室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配置采样策略模板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登记与管理数采端设备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查看审计日志与运行状态</a:t>
            </a:r>
            <a:endParaRPr lang="en-US" sz="1400" dirty="0"/>
          </a:p>
        </p:txBody>
      </p:sp>
      <p:sp>
        <p:nvSpPr>
          <p:cNvPr id="26" name="role-need-240"/>
          <p:cNvSpPr/>
          <p:nvPr/>
        </p:nvSpPr>
        <p:spPr>
          <a:xfrm>
            <a:off x="8354568" y="4754880"/>
            <a:ext cx="3057144" cy="475488"/>
          </a:xfrm>
          <a:prstGeom prst="roundRect">
            <a:avLst>
              <a:gd name="adj" fmla="val 15385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7" name="text-241"/>
          <p:cNvSpPr txBox="1"/>
          <p:nvPr/>
        </p:nvSpPr>
        <p:spPr>
          <a:xfrm>
            <a:off x="8491728" y="4754880"/>
            <a:ext cx="2782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诉求：账号与配置可控、可追溯</a:t>
            </a:r>
            <a:endParaRPr lang="en-US" sz="1400" dirty="0"/>
          </a:p>
        </p:txBody>
      </p:sp>
      <p:sp>
        <p:nvSpPr>
          <p:cNvPr id="28" name="reserve-band-242"/>
          <p:cNvSpPr/>
          <p:nvPr/>
        </p:nvSpPr>
        <p:spPr>
          <a:xfrm>
            <a:off x="548640" y="5641848"/>
            <a:ext cx="11091672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9" name="icon-bg-243"/>
          <p:cNvSpPr/>
          <p:nvPr/>
        </p:nvSpPr>
        <p:spPr>
          <a:xfrm>
            <a:off x="731520" y="5751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244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5847588"/>
            <a:ext cx="192024" cy="192024"/>
          </a:xfrm>
          <a:prstGeom prst="rect">
            <a:avLst/>
          </a:prstGeom>
        </p:spPr>
      </p:pic>
      <p:sp>
        <p:nvSpPr>
          <p:cNvPr id="31" name="text-245"/>
          <p:cNvSpPr txBox="1"/>
          <p:nvPr/>
        </p:nvSpPr>
        <p:spPr>
          <a:xfrm>
            <a:off x="1280160" y="5641848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预留扩展：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实时分析 · 床旁摄像头实时视频 · 更多角色（护士长 / 科研人员 / 质检员）· 工业场景接入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总体架构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六条设计原则：可拓展、一物多用</a:t>
            </a:r>
            <a:endParaRPr lang="en-US" sz="3200" dirty="0"/>
          </a:p>
        </p:txBody>
      </p:sp>
      <p:sp>
        <p:nvSpPr>
          <p:cNvPr id="4" name="principle-246"/>
          <p:cNvSpPr/>
          <p:nvPr/>
        </p:nvSpPr>
        <p:spPr>
          <a:xfrm>
            <a:off x="548640" y="15087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5" name="icon-bg-247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48" descr="Fa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7" name="text-249"/>
          <p:cNvSpPr txBox="1"/>
          <p:nvPr/>
        </p:nvSpPr>
        <p:spPr>
          <a:xfrm>
            <a:off x="822960" y="25146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平台 + 领域包</a:t>
            </a:r>
            <a:endParaRPr lang="en-US" sz="1800" dirty="0"/>
          </a:p>
        </p:txBody>
      </p:sp>
      <p:sp>
        <p:nvSpPr>
          <p:cNvPr id="8" name="text-250"/>
          <p:cNvSpPr txBox="1"/>
          <p:nvPr/>
        </p:nvSpPr>
        <p:spPr>
          <a:xfrm>
            <a:off x="822960" y="29535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核心平台与业务解耦，医疗、烟草各自是一个可插拔的“领域包”</a:t>
            </a:r>
            <a:endParaRPr lang="en-US" sz="1400" dirty="0"/>
          </a:p>
        </p:txBody>
      </p:sp>
      <p:sp>
        <p:nvSpPr>
          <p:cNvPr id="9" name="principle-251"/>
          <p:cNvSpPr/>
          <p:nvPr/>
        </p:nvSpPr>
        <p:spPr>
          <a:xfrm>
            <a:off x="4337304" y="15087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0" name="icon-bg-252"/>
          <p:cNvSpPr/>
          <p:nvPr/>
        </p:nvSpPr>
        <p:spPr>
          <a:xfrm>
            <a:off x="461162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253" descr="Fa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214" y="1931670"/>
            <a:ext cx="297180" cy="297180"/>
          </a:xfrm>
          <a:prstGeom prst="rect">
            <a:avLst/>
          </a:prstGeom>
        </p:spPr>
      </p:pic>
      <p:sp>
        <p:nvSpPr>
          <p:cNvPr id="12" name="text-254"/>
          <p:cNvSpPr txBox="1"/>
          <p:nvPr/>
        </p:nvSpPr>
        <p:spPr>
          <a:xfrm>
            <a:off x="4611624" y="25146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配置驱动</a:t>
            </a:r>
            <a:endParaRPr lang="en-US" sz="1800" dirty="0"/>
          </a:p>
        </p:txBody>
      </p:sp>
      <p:sp>
        <p:nvSpPr>
          <p:cNvPr id="13" name="text-255"/>
          <p:cNvSpPr txBox="1"/>
          <p:nvPr/>
        </p:nvSpPr>
        <p:spPr>
          <a:xfrm>
            <a:off x="4611624" y="29535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采样频率、术语、表单、告警规则都写成配置，而不是写死在代码里</a:t>
            </a:r>
            <a:endParaRPr lang="en-US" sz="1400" dirty="0"/>
          </a:p>
        </p:txBody>
      </p:sp>
      <p:sp>
        <p:nvSpPr>
          <p:cNvPr id="14" name="principle-256"/>
          <p:cNvSpPr/>
          <p:nvPr/>
        </p:nvSpPr>
        <p:spPr>
          <a:xfrm>
            <a:off x="8125968" y="15087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5" name="icon-bg-257"/>
          <p:cNvSpPr/>
          <p:nvPr/>
        </p:nvSpPr>
        <p:spPr>
          <a:xfrm>
            <a:off x="840028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258" descr="FaFile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878" y="1931670"/>
            <a:ext cx="297180" cy="297180"/>
          </a:xfrm>
          <a:prstGeom prst="rect">
            <a:avLst/>
          </a:prstGeom>
        </p:spPr>
      </p:pic>
      <p:sp>
        <p:nvSpPr>
          <p:cNvPr id="17" name="text-259"/>
          <p:cNvSpPr txBox="1"/>
          <p:nvPr/>
        </p:nvSpPr>
        <p:spPr>
          <a:xfrm>
            <a:off x="8400288" y="25146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接口先行</a:t>
            </a:r>
            <a:endParaRPr lang="en-US" sz="1800" dirty="0"/>
          </a:p>
        </p:txBody>
      </p:sp>
      <p:sp>
        <p:nvSpPr>
          <p:cNvPr id="18" name="text-260"/>
          <p:cNvSpPr txBox="1"/>
          <p:nvPr/>
        </p:nvSpPr>
        <p:spPr>
          <a:xfrm>
            <a:off x="8400288" y="29535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先定 OpenAPI 接口契约，前端、后端、数采端、AI 四方并行开发</a:t>
            </a:r>
            <a:endParaRPr lang="en-US" sz="1400" dirty="0"/>
          </a:p>
        </p:txBody>
      </p:sp>
      <p:sp>
        <p:nvSpPr>
          <p:cNvPr id="19" name="principle-261"/>
          <p:cNvSpPr/>
          <p:nvPr/>
        </p:nvSpPr>
        <p:spPr>
          <a:xfrm>
            <a:off x="548640" y="40233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0" name="icon-bg-262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263" descr="FaNetworkWir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446270"/>
            <a:ext cx="297180" cy="297180"/>
          </a:xfrm>
          <a:prstGeom prst="rect">
            <a:avLst/>
          </a:prstGeom>
        </p:spPr>
      </p:pic>
      <p:sp>
        <p:nvSpPr>
          <p:cNvPr id="22" name="text-264"/>
          <p:cNvSpPr txBox="1"/>
          <p:nvPr/>
        </p:nvSpPr>
        <p:spPr>
          <a:xfrm>
            <a:off x="822960" y="50292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边云协同</a:t>
            </a:r>
            <a:endParaRPr lang="en-US" sz="1800" dirty="0"/>
          </a:p>
        </p:txBody>
      </p:sp>
      <p:sp>
        <p:nvSpPr>
          <p:cNvPr id="23" name="text-265"/>
          <p:cNvSpPr txBox="1"/>
          <p:nvPr/>
        </p:nvSpPr>
        <p:spPr>
          <a:xfrm>
            <a:off x="822960" y="54681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边缘就近采集、缓存与预处理；云端集中存储、调度与展示</a:t>
            </a:r>
            <a:endParaRPr lang="en-US" sz="1400" dirty="0"/>
          </a:p>
        </p:txBody>
      </p:sp>
      <p:sp>
        <p:nvSpPr>
          <p:cNvPr id="24" name="principle-266"/>
          <p:cNvSpPr/>
          <p:nvPr/>
        </p:nvSpPr>
        <p:spPr>
          <a:xfrm>
            <a:off x="4337304" y="40233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5" name="icon-bg-267"/>
          <p:cNvSpPr/>
          <p:nvPr/>
        </p:nvSpPr>
        <p:spPr>
          <a:xfrm>
            <a:off x="4611624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268" descr="FaBo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214" y="4446270"/>
            <a:ext cx="297180" cy="297180"/>
          </a:xfrm>
          <a:prstGeom prst="rect">
            <a:avLst/>
          </a:prstGeom>
        </p:spPr>
      </p:pic>
      <p:sp>
        <p:nvSpPr>
          <p:cNvPr id="27" name="text-269"/>
          <p:cNvSpPr txBox="1"/>
          <p:nvPr/>
        </p:nvSpPr>
        <p:spPr>
          <a:xfrm>
            <a:off x="4611624" y="50292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事件驱动</a:t>
            </a:r>
            <a:endParaRPr lang="en-US" sz="1800" dirty="0"/>
          </a:p>
        </p:txBody>
      </p:sp>
      <p:sp>
        <p:nvSpPr>
          <p:cNvPr id="28" name="text-270"/>
          <p:cNvSpPr txBox="1"/>
          <p:nvPr/>
        </p:nvSpPr>
        <p:spPr>
          <a:xfrm>
            <a:off x="4611624" y="54681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“新图片到达”等事件进入消息总线，AI、告警、大屏按需订阅</a:t>
            </a:r>
            <a:endParaRPr lang="en-US" sz="1400" dirty="0"/>
          </a:p>
        </p:txBody>
      </p:sp>
      <p:sp>
        <p:nvSpPr>
          <p:cNvPr id="29" name="principle-271"/>
          <p:cNvSpPr/>
          <p:nvPr/>
        </p:nvSpPr>
        <p:spPr>
          <a:xfrm>
            <a:off x="8125968" y="4023360"/>
            <a:ext cx="351434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30" name="icon-bg-272"/>
          <p:cNvSpPr/>
          <p:nvPr/>
        </p:nvSpPr>
        <p:spPr>
          <a:xfrm>
            <a:off x="8400288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273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878" y="4446270"/>
            <a:ext cx="297180" cy="297180"/>
          </a:xfrm>
          <a:prstGeom prst="rect">
            <a:avLst/>
          </a:prstGeom>
        </p:spPr>
      </p:pic>
      <p:sp>
        <p:nvSpPr>
          <p:cNvPr id="32" name="text-274"/>
          <p:cNvSpPr txBox="1"/>
          <p:nvPr/>
        </p:nvSpPr>
        <p:spPr>
          <a:xfrm>
            <a:off x="8400288" y="502920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安全合规</a:t>
            </a:r>
            <a:endParaRPr lang="en-US" sz="1800" dirty="0"/>
          </a:p>
        </p:txBody>
      </p:sp>
      <p:sp>
        <p:nvSpPr>
          <p:cNvPr id="33" name="text-275"/>
          <p:cNvSpPr txBox="1"/>
          <p:nvPr/>
        </p:nvSpPr>
        <p:spPr>
          <a:xfrm>
            <a:off x="8400288" y="5468112"/>
            <a:ext cx="3011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医疗影像属敏感个人信息：最小权限、全程加密、操作留痕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总体架构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总体架构：端 · 边 · 云 · 智 四层协同</a:t>
            </a:r>
            <a:endParaRPr lang="en-US" sz="3200" dirty="0"/>
          </a:p>
        </p:txBody>
      </p:sp>
      <p:sp>
        <p:nvSpPr>
          <p:cNvPr id="4" name="text-276"/>
          <p:cNvSpPr txBox="1"/>
          <p:nvPr/>
        </p:nvSpPr>
        <p:spPr>
          <a:xfrm>
            <a:off x="54864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采集侧 · 端 + 边</a:t>
            </a:r>
            <a:endParaRPr lang="en-US" sz="1300" dirty="0"/>
          </a:p>
        </p:txBody>
      </p:sp>
      <p:sp>
        <p:nvSpPr>
          <p:cNvPr id="5" name="node-277"/>
          <p:cNvSpPr/>
          <p:nvPr/>
        </p:nvSpPr>
        <p:spPr>
          <a:xfrm>
            <a:off x="548640" y="178308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6" name="icon-bg-278"/>
          <p:cNvSpPr/>
          <p:nvPr/>
        </p:nvSpPr>
        <p:spPr>
          <a:xfrm>
            <a:off x="676656" y="19019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-279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997964"/>
            <a:ext cx="192024" cy="192024"/>
          </a:xfrm>
          <a:prstGeom prst="rect">
            <a:avLst/>
          </a:prstGeom>
        </p:spPr>
      </p:pic>
      <p:sp>
        <p:nvSpPr>
          <p:cNvPr id="8" name="text-280"/>
          <p:cNvSpPr txBox="1"/>
          <p:nvPr/>
        </p:nvSpPr>
        <p:spPr>
          <a:xfrm>
            <a:off x="1152144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患者小程序</a:t>
            </a:r>
            <a:endParaRPr lang="en-US" sz="1400" dirty="0"/>
          </a:p>
        </p:txBody>
      </p:sp>
      <p:sp>
        <p:nvSpPr>
          <p:cNvPr id="9" name="text-281"/>
          <p:cNvSpPr txBox="1"/>
          <p:nvPr/>
        </p:nvSpPr>
        <p:spPr>
          <a:xfrm>
            <a:off x="676656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拍照上传 · 查看记录</a:t>
            </a:r>
            <a:endParaRPr lang="en-US" sz="1200" dirty="0"/>
          </a:p>
        </p:txBody>
      </p:sp>
      <p:sp>
        <p:nvSpPr>
          <p:cNvPr id="10" name="node-282"/>
          <p:cNvSpPr/>
          <p:nvPr/>
        </p:nvSpPr>
        <p:spPr>
          <a:xfrm>
            <a:off x="548640" y="283464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1" name="icon-bg-283"/>
          <p:cNvSpPr/>
          <p:nvPr/>
        </p:nvSpPr>
        <p:spPr>
          <a:xfrm>
            <a:off x="676656" y="295351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284" descr="FaMicro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3049524"/>
            <a:ext cx="192024" cy="192024"/>
          </a:xfrm>
          <a:prstGeom prst="rect">
            <a:avLst/>
          </a:prstGeom>
        </p:spPr>
      </p:pic>
      <p:sp>
        <p:nvSpPr>
          <p:cNvPr id="13" name="text-285"/>
          <p:cNvSpPr txBox="1"/>
          <p:nvPr/>
        </p:nvSpPr>
        <p:spPr>
          <a:xfrm>
            <a:off x="1152144" y="2953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边缘数采端</a:t>
            </a:r>
            <a:endParaRPr lang="en-US" sz="1400" dirty="0"/>
          </a:p>
        </p:txBody>
      </p:sp>
      <p:sp>
        <p:nvSpPr>
          <p:cNvPr id="14" name="text-286"/>
          <p:cNvSpPr txBox="1"/>
          <p:nvPr/>
        </p:nvSpPr>
        <p:spPr>
          <a:xfrm>
            <a:off x="676656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Win / Linux · 摄像头 · 相机</a:t>
            </a:r>
            <a:endParaRPr lang="en-US" sz="1200" dirty="0"/>
          </a:p>
        </p:txBody>
      </p:sp>
      <p:sp>
        <p:nvSpPr>
          <p:cNvPr id="15" name="node-287"/>
          <p:cNvSpPr/>
          <p:nvPr/>
        </p:nvSpPr>
        <p:spPr>
          <a:xfrm>
            <a:off x="548640" y="388620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6" name="icon-bg-288"/>
          <p:cNvSpPr/>
          <p:nvPr/>
        </p:nvSpPr>
        <p:spPr>
          <a:xfrm>
            <a:off x="676656" y="400507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-289" descr="Fa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4101084"/>
            <a:ext cx="192024" cy="192024"/>
          </a:xfrm>
          <a:prstGeom prst="rect">
            <a:avLst/>
          </a:prstGeom>
        </p:spPr>
      </p:pic>
      <p:sp>
        <p:nvSpPr>
          <p:cNvPr id="18" name="text-290"/>
          <p:cNvSpPr txBox="1"/>
          <p:nvPr/>
        </p:nvSpPr>
        <p:spPr>
          <a:xfrm>
            <a:off x="1152144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第三方（预留）</a:t>
            </a:r>
            <a:endParaRPr lang="en-US" sz="1400" dirty="0"/>
          </a:p>
        </p:txBody>
      </p:sp>
      <p:sp>
        <p:nvSpPr>
          <p:cNvPr id="19" name="text-291"/>
          <p:cNvSpPr txBox="1"/>
          <p:nvPr/>
        </p:nvSpPr>
        <p:spPr>
          <a:xfrm>
            <a:off x="676656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HIS · MES · 设备系统</a:t>
            </a:r>
            <a:endParaRPr lang="en-US" sz="1200" dirty="0"/>
          </a:p>
        </p:txBody>
      </p:sp>
      <p:sp>
        <p:nvSpPr>
          <p:cNvPr id="20" name="text-292"/>
          <p:cNvSpPr txBox="1"/>
          <p:nvPr/>
        </p:nvSpPr>
        <p:spPr>
          <a:xfrm>
            <a:off x="9354312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应用侧 · 查看与管理</a:t>
            </a:r>
            <a:endParaRPr lang="en-US" sz="1300" dirty="0"/>
          </a:p>
        </p:txBody>
      </p:sp>
      <p:sp>
        <p:nvSpPr>
          <p:cNvPr id="21" name="node-293"/>
          <p:cNvSpPr/>
          <p:nvPr/>
        </p:nvSpPr>
        <p:spPr>
          <a:xfrm>
            <a:off x="9354312" y="178308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2" name="icon-bg-294"/>
          <p:cNvSpPr/>
          <p:nvPr/>
        </p:nvSpPr>
        <p:spPr>
          <a:xfrm>
            <a:off x="9482328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295" descr="FaUserM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1997964"/>
            <a:ext cx="192024" cy="192024"/>
          </a:xfrm>
          <a:prstGeom prst="rect">
            <a:avLst/>
          </a:prstGeom>
        </p:spPr>
      </p:pic>
      <p:sp>
        <p:nvSpPr>
          <p:cNvPr id="24" name="text-296"/>
          <p:cNvSpPr txBox="1"/>
          <p:nvPr/>
        </p:nvSpPr>
        <p:spPr>
          <a:xfrm>
            <a:off x="9957816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医护小程序</a:t>
            </a:r>
            <a:endParaRPr lang="en-US" sz="1400" dirty="0"/>
          </a:p>
        </p:txBody>
      </p:sp>
      <p:sp>
        <p:nvSpPr>
          <p:cNvPr id="25" name="text-297"/>
          <p:cNvSpPr txBox="1"/>
          <p:nvPr/>
        </p:nvSpPr>
        <p:spPr>
          <a:xfrm>
            <a:off x="9482328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历史图像 · 评估标注</a:t>
            </a:r>
            <a:endParaRPr lang="en-US" sz="1200" dirty="0"/>
          </a:p>
        </p:txBody>
      </p:sp>
      <p:sp>
        <p:nvSpPr>
          <p:cNvPr id="26" name="node-298"/>
          <p:cNvSpPr/>
          <p:nvPr/>
        </p:nvSpPr>
        <p:spPr>
          <a:xfrm>
            <a:off x="9354312" y="283464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7" name="icon-bg-299"/>
          <p:cNvSpPr/>
          <p:nvPr/>
        </p:nvSpPr>
        <p:spPr>
          <a:xfrm>
            <a:off x="9482328" y="2953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300" descr="FaTv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340" y="3049524"/>
            <a:ext cx="192024" cy="192024"/>
          </a:xfrm>
          <a:prstGeom prst="rect">
            <a:avLst/>
          </a:prstGeom>
        </p:spPr>
      </p:pic>
      <p:sp>
        <p:nvSpPr>
          <p:cNvPr id="29" name="text-301"/>
          <p:cNvSpPr txBox="1"/>
          <p:nvPr/>
        </p:nvSpPr>
        <p:spPr>
          <a:xfrm>
            <a:off x="9957816" y="2953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监控大屏</a:t>
            </a:r>
            <a:endParaRPr lang="en-US" sz="1400" dirty="0"/>
          </a:p>
        </p:txBody>
      </p:sp>
      <p:sp>
        <p:nvSpPr>
          <p:cNvPr id="30" name="text-302"/>
          <p:cNvSpPr txBox="1"/>
          <p:nvPr/>
        </p:nvSpPr>
        <p:spPr>
          <a:xfrm>
            <a:off x="9482328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实时宫格 · 状态告警</a:t>
            </a:r>
            <a:endParaRPr lang="en-US" sz="1200" dirty="0"/>
          </a:p>
        </p:txBody>
      </p:sp>
      <p:sp>
        <p:nvSpPr>
          <p:cNvPr id="31" name="node-303"/>
          <p:cNvSpPr/>
          <p:nvPr/>
        </p:nvSpPr>
        <p:spPr>
          <a:xfrm>
            <a:off x="9354312" y="3886200"/>
            <a:ext cx="22860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32" name="icon-bg-304"/>
          <p:cNvSpPr/>
          <p:nvPr/>
        </p:nvSpPr>
        <p:spPr>
          <a:xfrm>
            <a:off x="9482328" y="400507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con-305" descr="FaUserCo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340" y="4101084"/>
            <a:ext cx="192024" cy="192024"/>
          </a:xfrm>
          <a:prstGeom prst="rect">
            <a:avLst/>
          </a:prstGeom>
        </p:spPr>
      </p:pic>
      <p:sp>
        <p:nvSpPr>
          <p:cNvPr id="34" name="text-306"/>
          <p:cNvSpPr txBox="1"/>
          <p:nvPr/>
        </p:nvSpPr>
        <p:spPr>
          <a:xfrm>
            <a:off x="9957816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管理后台</a:t>
            </a:r>
            <a:endParaRPr lang="en-US" sz="1400" dirty="0"/>
          </a:p>
        </p:txBody>
      </p:sp>
      <p:sp>
        <p:nvSpPr>
          <p:cNvPr id="35" name="text-307"/>
          <p:cNvSpPr txBox="1"/>
          <p:nvPr/>
        </p:nvSpPr>
        <p:spPr>
          <a:xfrm>
            <a:off x="9482328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用户 · 策略 · 设备</a:t>
            </a:r>
            <a:endParaRPr lang="en-US" sz="1200" dirty="0"/>
          </a:p>
        </p:txBody>
      </p:sp>
      <p:sp>
        <p:nvSpPr>
          <p:cNvPr id="36" name="text-308"/>
          <p:cNvSpPr txBox="1"/>
          <p:nvPr/>
        </p:nvSpPr>
        <p:spPr>
          <a:xfrm>
            <a:off x="3200400" y="144475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云平台 · 核心服务</a:t>
            </a:r>
            <a:endParaRPr lang="en-US" sz="1300" dirty="0"/>
          </a:p>
        </p:txBody>
      </p:sp>
      <p:sp>
        <p:nvSpPr>
          <p:cNvPr id="37" name="layer-309"/>
          <p:cNvSpPr/>
          <p:nvPr/>
        </p:nvSpPr>
        <p:spPr>
          <a:xfrm>
            <a:off x="3200400" y="1783080"/>
            <a:ext cx="5806440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8" name="text-310"/>
          <p:cNvSpPr txBox="1"/>
          <p:nvPr/>
        </p:nvSpPr>
        <p:spPr>
          <a:xfrm>
            <a:off x="3273552" y="178308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接入层</a:t>
            </a:r>
            <a:endParaRPr lang="en-US" sz="1300" dirty="0"/>
          </a:p>
        </p:txBody>
      </p:sp>
      <p:sp>
        <p:nvSpPr>
          <p:cNvPr id="39" name="chip-311"/>
          <p:cNvSpPr/>
          <p:nvPr/>
        </p:nvSpPr>
        <p:spPr>
          <a:xfrm>
            <a:off x="4041648" y="1856232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40" name="text-312"/>
          <p:cNvSpPr txBox="1"/>
          <p:nvPr/>
        </p:nvSpPr>
        <p:spPr>
          <a:xfrm>
            <a:off x="4069080" y="1856232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API 网关</a:t>
            </a:r>
            <a:endParaRPr lang="en-US" sz="1200" dirty="0"/>
          </a:p>
        </p:txBody>
      </p:sp>
      <p:sp>
        <p:nvSpPr>
          <p:cNvPr id="41" name="chip-313"/>
          <p:cNvSpPr/>
          <p:nvPr/>
        </p:nvSpPr>
        <p:spPr>
          <a:xfrm>
            <a:off x="5287518" y="1856232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42" name="text-314"/>
          <p:cNvSpPr txBox="1"/>
          <p:nvPr/>
        </p:nvSpPr>
        <p:spPr>
          <a:xfrm>
            <a:off x="5314950" y="1856232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统一鉴权</a:t>
            </a:r>
            <a:endParaRPr lang="en-US" sz="1200" dirty="0"/>
          </a:p>
        </p:txBody>
      </p:sp>
      <p:sp>
        <p:nvSpPr>
          <p:cNvPr id="43" name="chip-315"/>
          <p:cNvSpPr/>
          <p:nvPr/>
        </p:nvSpPr>
        <p:spPr>
          <a:xfrm>
            <a:off x="6533388" y="1856232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44" name="text-316"/>
          <p:cNvSpPr txBox="1"/>
          <p:nvPr/>
        </p:nvSpPr>
        <p:spPr>
          <a:xfrm>
            <a:off x="6560820" y="1856232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WebSocket</a:t>
            </a:r>
            <a:endParaRPr lang="en-US" sz="1200" dirty="0"/>
          </a:p>
        </p:txBody>
      </p:sp>
      <p:sp>
        <p:nvSpPr>
          <p:cNvPr id="45" name="chip-317"/>
          <p:cNvSpPr/>
          <p:nvPr/>
        </p:nvSpPr>
        <p:spPr>
          <a:xfrm>
            <a:off x="7779258" y="1856232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46" name="text-318"/>
          <p:cNvSpPr txBox="1"/>
          <p:nvPr/>
        </p:nvSpPr>
        <p:spPr>
          <a:xfrm>
            <a:off x="7806690" y="1856232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MQTT（预留）</a:t>
            </a:r>
            <a:endParaRPr lang="en-US" sz="1200" dirty="0"/>
          </a:p>
        </p:txBody>
      </p:sp>
      <p:sp>
        <p:nvSpPr>
          <p:cNvPr id="47" name="layer-319"/>
          <p:cNvSpPr/>
          <p:nvPr/>
        </p:nvSpPr>
        <p:spPr>
          <a:xfrm>
            <a:off x="3200400" y="2487168"/>
            <a:ext cx="5806440" cy="1591056"/>
          </a:xfrm>
          <a:prstGeom prst="roundRect">
            <a:avLst>
              <a:gd name="adj" fmla="val 4598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8" name="text-320"/>
          <p:cNvSpPr txBox="1"/>
          <p:nvPr/>
        </p:nvSpPr>
        <p:spPr>
          <a:xfrm>
            <a:off x="3273552" y="2487168"/>
            <a:ext cx="7315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服务层</a:t>
            </a:r>
            <a:endParaRPr lang="en-US" sz="1300" dirty="0"/>
          </a:p>
        </p:txBody>
      </p:sp>
      <p:sp>
        <p:nvSpPr>
          <p:cNvPr id="49" name="chip-321"/>
          <p:cNvSpPr/>
          <p:nvPr/>
        </p:nvSpPr>
        <p:spPr>
          <a:xfrm>
            <a:off x="4041648" y="2578608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50" name="text-322"/>
          <p:cNvSpPr txBox="1"/>
          <p:nvPr/>
        </p:nvSpPr>
        <p:spPr>
          <a:xfrm>
            <a:off x="4069080" y="2651760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用户与权限</a:t>
            </a:r>
            <a:endParaRPr lang="en-US" sz="1200" dirty="0"/>
          </a:p>
        </p:txBody>
      </p:sp>
      <p:sp>
        <p:nvSpPr>
          <p:cNvPr id="51" name="text-323"/>
          <p:cNvSpPr txBox="1"/>
          <p:nvPr/>
        </p:nvSpPr>
        <p:spPr>
          <a:xfrm>
            <a:off x="4069080" y="2926080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RBAC · 数据范围</a:t>
            </a:r>
            <a:endParaRPr lang="en-US" sz="1000" dirty="0"/>
          </a:p>
        </p:txBody>
      </p:sp>
      <p:sp>
        <p:nvSpPr>
          <p:cNvPr id="52" name="chip-324"/>
          <p:cNvSpPr/>
          <p:nvPr/>
        </p:nvSpPr>
        <p:spPr>
          <a:xfrm>
            <a:off x="5287518" y="2578608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53" name="text-325"/>
          <p:cNvSpPr txBox="1"/>
          <p:nvPr/>
        </p:nvSpPr>
        <p:spPr>
          <a:xfrm>
            <a:off x="5314950" y="2651760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组织与对象</a:t>
            </a:r>
            <a:endParaRPr lang="en-US" sz="1200" dirty="0"/>
          </a:p>
        </p:txBody>
      </p:sp>
      <p:sp>
        <p:nvSpPr>
          <p:cNvPr id="54" name="text-326"/>
          <p:cNvSpPr txBox="1"/>
          <p:nvPr/>
        </p:nvSpPr>
        <p:spPr>
          <a:xfrm>
            <a:off x="5314950" y="2926080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医院 · 科室 · 患者</a:t>
            </a:r>
            <a:endParaRPr lang="en-US" sz="1000" dirty="0"/>
          </a:p>
        </p:txBody>
      </p:sp>
      <p:sp>
        <p:nvSpPr>
          <p:cNvPr id="55" name="chip-327"/>
          <p:cNvSpPr/>
          <p:nvPr/>
        </p:nvSpPr>
        <p:spPr>
          <a:xfrm>
            <a:off x="6533388" y="2578608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56" name="text-328"/>
          <p:cNvSpPr txBox="1"/>
          <p:nvPr/>
        </p:nvSpPr>
        <p:spPr>
          <a:xfrm>
            <a:off x="6560820" y="2651760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监测任务</a:t>
            </a:r>
            <a:endParaRPr lang="en-US" sz="1200" dirty="0"/>
          </a:p>
        </p:txBody>
      </p:sp>
      <p:sp>
        <p:nvSpPr>
          <p:cNvPr id="57" name="text-329"/>
          <p:cNvSpPr txBox="1"/>
          <p:nvPr/>
        </p:nvSpPr>
        <p:spPr>
          <a:xfrm>
            <a:off x="6560820" y="2926080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建档 · 绑定 · 周期</a:t>
            </a:r>
            <a:endParaRPr lang="en-US" sz="1000" dirty="0"/>
          </a:p>
        </p:txBody>
      </p:sp>
      <p:sp>
        <p:nvSpPr>
          <p:cNvPr id="58" name="chip-330"/>
          <p:cNvSpPr/>
          <p:nvPr/>
        </p:nvSpPr>
        <p:spPr>
          <a:xfrm>
            <a:off x="7779258" y="2578608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59" name="text-331"/>
          <p:cNvSpPr txBox="1"/>
          <p:nvPr/>
        </p:nvSpPr>
        <p:spPr>
          <a:xfrm>
            <a:off x="7806690" y="2651760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采样排程</a:t>
            </a:r>
            <a:endParaRPr lang="en-US" sz="1200" dirty="0"/>
          </a:p>
        </p:txBody>
      </p:sp>
      <p:sp>
        <p:nvSpPr>
          <p:cNvPr id="60" name="text-332"/>
          <p:cNvSpPr txBox="1"/>
          <p:nvPr/>
        </p:nvSpPr>
        <p:spPr>
          <a:xfrm>
            <a:off x="7806690" y="2926080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策略 · 提醒 · 超时</a:t>
            </a:r>
            <a:endParaRPr lang="en-US" sz="1000" dirty="0"/>
          </a:p>
        </p:txBody>
      </p:sp>
      <p:sp>
        <p:nvSpPr>
          <p:cNvPr id="61" name="chip-333"/>
          <p:cNvSpPr/>
          <p:nvPr/>
        </p:nvSpPr>
        <p:spPr>
          <a:xfrm>
            <a:off x="4041648" y="3328416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62" name="text-334"/>
          <p:cNvSpPr txBox="1"/>
          <p:nvPr/>
        </p:nvSpPr>
        <p:spPr>
          <a:xfrm>
            <a:off x="4069080" y="3401568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媒体服务</a:t>
            </a:r>
            <a:endParaRPr lang="en-US" sz="1200" dirty="0"/>
          </a:p>
        </p:txBody>
      </p:sp>
      <p:sp>
        <p:nvSpPr>
          <p:cNvPr id="63" name="text-335"/>
          <p:cNvSpPr txBox="1"/>
          <p:nvPr/>
        </p:nvSpPr>
        <p:spPr>
          <a:xfrm>
            <a:off x="4069080" y="3675888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直传 · 缩略图</a:t>
            </a:r>
            <a:endParaRPr lang="en-US" sz="1000" dirty="0"/>
          </a:p>
        </p:txBody>
      </p:sp>
      <p:sp>
        <p:nvSpPr>
          <p:cNvPr id="64" name="chip-336"/>
          <p:cNvSpPr/>
          <p:nvPr/>
        </p:nvSpPr>
        <p:spPr>
          <a:xfrm>
            <a:off x="5287518" y="3328416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65" name="text-337"/>
          <p:cNvSpPr txBox="1"/>
          <p:nvPr/>
        </p:nvSpPr>
        <p:spPr>
          <a:xfrm>
            <a:off x="5314950" y="3401568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监控墙</a:t>
            </a:r>
            <a:endParaRPr lang="en-US" sz="1200" dirty="0"/>
          </a:p>
        </p:txBody>
      </p:sp>
      <p:sp>
        <p:nvSpPr>
          <p:cNvPr id="66" name="text-338"/>
          <p:cNvSpPr txBox="1"/>
          <p:nvPr/>
        </p:nvSpPr>
        <p:spPr>
          <a:xfrm>
            <a:off x="5314950" y="3675888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快照聚合 · 推送</a:t>
            </a:r>
            <a:endParaRPr lang="en-US" sz="1000" dirty="0"/>
          </a:p>
        </p:txBody>
      </p:sp>
      <p:sp>
        <p:nvSpPr>
          <p:cNvPr id="67" name="chip-339"/>
          <p:cNvSpPr/>
          <p:nvPr/>
        </p:nvSpPr>
        <p:spPr>
          <a:xfrm>
            <a:off x="6533388" y="3328416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68" name="text-340"/>
          <p:cNvSpPr txBox="1"/>
          <p:nvPr/>
        </p:nvSpPr>
        <p:spPr>
          <a:xfrm>
            <a:off x="6560820" y="3401568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告警规则</a:t>
            </a:r>
            <a:endParaRPr lang="en-US" sz="1200" dirty="0"/>
          </a:p>
        </p:txBody>
      </p:sp>
      <p:sp>
        <p:nvSpPr>
          <p:cNvPr id="69" name="text-341"/>
          <p:cNvSpPr txBox="1"/>
          <p:nvPr/>
        </p:nvSpPr>
        <p:spPr>
          <a:xfrm>
            <a:off x="6560820" y="3675888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阈值 · 升级 · 通知</a:t>
            </a:r>
            <a:endParaRPr lang="en-US" sz="1000" dirty="0"/>
          </a:p>
        </p:txBody>
      </p:sp>
      <p:sp>
        <p:nvSpPr>
          <p:cNvPr id="70" name="chip-342"/>
          <p:cNvSpPr/>
          <p:nvPr/>
        </p:nvSpPr>
        <p:spPr>
          <a:xfrm>
            <a:off x="7779258" y="3328416"/>
            <a:ext cx="115443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/>
        </p:spPr>
      </p:sp>
      <p:sp>
        <p:nvSpPr>
          <p:cNvPr id="71" name="text-343"/>
          <p:cNvSpPr txBox="1"/>
          <p:nvPr/>
        </p:nvSpPr>
        <p:spPr>
          <a:xfrm>
            <a:off x="7806690" y="3401568"/>
            <a:ext cx="1099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审计日志</a:t>
            </a:r>
            <a:endParaRPr lang="en-US" sz="1200" dirty="0"/>
          </a:p>
        </p:txBody>
      </p:sp>
      <p:sp>
        <p:nvSpPr>
          <p:cNvPr id="72" name="text-344"/>
          <p:cNvSpPr txBox="1"/>
          <p:nvPr/>
        </p:nvSpPr>
        <p:spPr>
          <a:xfrm>
            <a:off x="7806690" y="3675888"/>
            <a:ext cx="1099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查看 · 导出留痕</a:t>
            </a:r>
            <a:endParaRPr lang="en-US" sz="1000" dirty="0"/>
          </a:p>
        </p:txBody>
      </p:sp>
      <p:sp>
        <p:nvSpPr>
          <p:cNvPr id="73" name="layer-345"/>
          <p:cNvSpPr/>
          <p:nvPr/>
        </p:nvSpPr>
        <p:spPr>
          <a:xfrm>
            <a:off x="3200400" y="4215384"/>
            <a:ext cx="5806440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74" name="text-346"/>
          <p:cNvSpPr txBox="1"/>
          <p:nvPr/>
        </p:nvSpPr>
        <p:spPr>
          <a:xfrm>
            <a:off x="3273552" y="42153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数据层</a:t>
            </a:r>
            <a:endParaRPr lang="en-US" sz="1300" dirty="0"/>
          </a:p>
        </p:txBody>
      </p:sp>
      <p:sp>
        <p:nvSpPr>
          <p:cNvPr id="75" name="chip-347"/>
          <p:cNvSpPr/>
          <p:nvPr/>
        </p:nvSpPr>
        <p:spPr>
          <a:xfrm>
            <a:off x="4041648" y="4288536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76" name="text-348"/>
          <p:cNvSpPr txBox="1"/>
          <p:nvPr/>
        </p:nvSpPr>
        <p:spPr>
          <a:xfrm>
            <a:off x="4069080" y="4288536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77" name="chip-349"/>
          <p:cNvSpPr/>
          <p:nvPr/>
        </p:nvSpPr>
        <p:spPr>
          <a:xfrm>
            <a:off x="5287518" y="4288536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78" name="text-350"/>
          <p:cNvSpPr txBox="1"/>
          <p:nvPr/>
        </p:nvSpPr>
        <p:spPr>
          <a:xfrm>
            <a:off x="5314950" y="4288536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Redis 队列</a:t>
            </a:r>
            <a:endParaRPr lang="en-US" sz="1200" dirty="0"/>
          </a:p>
        </p:txBody>
      </p:sp>
      <p:sp>
        <p:nvSpPr>
          <p:cNvPr id="79" name="chip-351"/>
          <p:cNvSpPr/>
          <p:nvPr/>
        </p:nvSpPr>
        <p:spPr>
          <a:xfrm>
            <a:off x="6533388" y="4288536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80" name="text-352"/>
          <p:cNvSpPr txBox="1"/>
          <p:nvPr/>
        </p:nvSpPr>
        <p:spPr>
          <a:xfrm>
            <a:off x="6560820" y="4288536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对象存储</a:t>
            </a:r>
            <a:endParaRPr lang="en-US" sz="1200" dirty="0"/>
          </a:p>
        </p:txBody>
      </p:sp>
      <p:sp>
        <p:nvSpPr>
          <p:cNvPr id="81" name="chip-353"/>
          <p:cNvSpPr/>
          <p:nvPr/>
        </p:nvSpPr>
        <p:spPr>
          <a:xfrm>
            <a:off x="7779258" y="4288536"/>
            <a:ext cx="1154430" cy="420624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</p:spPr>
      </p:sp>
      <p:sp>
        <p:nvSpPr>
          <p:cNvPr id="82" name="text-354"/>
          <p:cNvSpPr txBox="1"/>
          <p:nvPr/>
        </p:nvSpPr>
        <p:spPr>
          <a:xfrm>
            <a:off x="7806690" y="4288536"/>
            <a:ext cx="10995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时序库（预留）</a:t>
            </a:r>
            <a:endParaRPr lang="en-US" sz="1200" dirty="0"/>
          </a:p>
        </p:txBody>
      </p:sp>
      <p:sp>
        <p:nvSpPr>
          <p:cNvPr id="83" name="connector-355"/>
          <p:cNvSpPr/>
          <p:nvPr/>
        </p:nvSpPr>
        <p:spPr>
          <a:xfrm>
            <a:off x="2852928" y="2231136"/>
            <a:ext cx="32918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4" name="connector-356"/>
          <p:cNvSpPr/>
          <p:nvPr/>
        </p:nvSpPr>
        <p:spPr>
          <a:xfrm>
            <a:off x="2852928" y="3282696"/>
            <a:ext cx="32918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5" name="connector-357"/>
          <p:cNvSpPr/>
          <p:nvPr/>
        </p:nvSpPr>
        <p:spPr>
          <a:xfrm>
            <a:off x="2852928" y="4334256"/>
            <a:ext cx="32918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86" name="connector-358"/>
          <p:cNvSpPr/>
          <p:nvPr/>
        </p:nvSpPr>
        <p:spPr>
          <a:xfrm>
            <a:off x="9025128" y="2231136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7" name="connector-359"/>
          <p:cNvSpPr/>
          <p:nvPr/>
        </p:nvSpPr>
        <p:spPr>
          <a:xfrm>
            <a:off x="9025128" y="3282696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8" name="connector-360"/>
          <p:cNvSpPr/>
          <p:nvPr/>
        </p:nvSpPr>
        <p:spPr>
          <a:xfrm>
            <a:off x="9025128" y="4334256"/>
            <a:ext cx="310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9" name="ai-layer-361"/>
          <p:cNvSpPr/>
          <p:nvPr/>
        </p:nvSpPr>
        <p:spPr>
          <a:xfrm>
            <a:off x="548640" y="5029200"/>
            <a:ext cx="11091672" cy="786384"/>
          </a:xfrm>
          <a:prstGeom prst="roundRect">
            <a:avLst>
              <a:gd name="adj" fmla="val 9302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90" name="text-362"/>
          <p:cNvSpPr txBox="1"/>
          <p:nvPr/>
        </p:nvSpPr>
        <p:spPr>
          <a:xfrm>
            <a:off x="640080" y="502920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智能层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（预留）</a:t>
            </a:r>
            <a:endParaRPr lang="en-US" sz="1300" dirty="0"/>
          </a:p>
        </p:txBody>
      </p:sp>
      <p:sp>
        <p:nvSpPr>
          <p:cNvPr id="91" name="ai-chip-363"/>
          <p:cNvSpPr/>
          <p:nvPr/>
        </p:nvSpPr>
        <p:spPr>
          <a:xfrm>
            <a:off x="1737360" y="5138928"/>
            <a:ext cx="2350008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/>
        </p:spPr>
      </p:sp>
      <p:sp>
        <p:nvSpPr>
          <p:cNvPr id="92" name="text-364"/>
          <p:cNvSpPr txBox="1"/>
          <p:nvPr/>
        </p:nvSpPr>
        <p:spPr>
          <a:xfrm>
            <a:off x="1783080" y="513892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网关：插件注册与路由</a:t>
            </a:r>
            <a:endParaRPr lang="en-US" sz="1200" dirty="0"/>
          </a:p>
        </p:txBody>
      </p:sp>
      <p:sp>
        <p:nvSpPr>
          <p:cNvPr id="93" name="ai-chip-365"/>
          <p:cNvSpPr/>
          <p:nvPr/>
        </p:nvSpPr>
        <p:spPr>
          <a:xfrm>
            <a:off x="4224528" y="5138928"/>
            <a:ext cx="2350008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/>
        </p:spPr>
      </p:sp>
      <p:sp>
        <p:nvSpPr>
          <p:cNvPr id="94" name="text-366"/>
          <p:cNvSpPr txBox="1"/>
          <p:nvPr/>
        </p:nvSpPr>
        <p:spPr>
          <a:xfrm>
            <a:off x="4270248" y="513892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皮瓣模型：颜色·纹理·肿胀</a:t>
            </a:r>
            <a:endParaRPr lang="en-US" sz="1200" dirty="0"/>
          </a:p>
        </p:txBody>
      </p:sp>
      <p:sp>
        <p:nvSpPr>
          <p:cNvPr id="95" name="ai-chip-367"/>
          <p:cNvSpPr/>
          <p:nvPr/>
        </p:nvSpPr>
        <p:spPr>
          <a:xfrm>
            <a:off x="6711696" y="5138928"/>
            <a:ext cx="2350008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/>
        </p:spPr>
      </p:sp>
      <p:sp>
        <p:nvSpPr>
          <p:cNvPr id="96" name="text-368"/>
          <p:cNvSpPr txBox="1"/>
          <p:nvPr/>
        </p:nvSpPr>
        <p:spPr>
          <a:xfrm>
            <a:off x="6757416" y="513892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烟草缺陷检测模型</a:t>
            </a:r>
            <a:endParaRPr lang="en-US" sz="1200" dirty="0"/>
          </a:p>
        </p:txBody>
      </p:sp>
      <p:sp>
        <p:nvSpPr>
          <p:cNvPr id="97" name="ai-chip-369"/>
          <p:cNvSpPr/>
          <p:nvPr/>
        </p:nvSpPr>
        <p:spPr>
          <a:xfrm>
            <a:off x="9198864" y="5138928"/>
            <a:ext cx="2350008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/>
        </p:spPr>
      </p:sp>
      <p:sp>
        <p:nvSpPr>
          <p:cNvPr id="98" name="text-370"/>
          <p:cNvSpPr txBox="1"/>
          <p:nvPr/>
        </p:nvSpPr>
        <p:spPr>
          <a:xfrm>
            <a:off x="9244584" y="513892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边缘轻量模型（ONNX）</a:t>
            </a:r>
            <a:endParaRPr lang="en-US" sz="1200" dirty="0"/>
          </a:p>
        </p:txBody>
      </p:sp>
      <p:sp>
        <p:nvSpPr>
          <p:cNvPr id="99" name="connector-371"/>
          <p:cNvSpPr/>
          <p:nvPr/>
        </p:nvSpPr>
        <p:spPr>
          <a:xfrm>
            <a:off x="6099048" y="480060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00" name="text-372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数据流：采集侧 → 接入层 → 服务层 → 数据层；“新采样”等事件经消息总线驱动监控墙、告警与 AI 分析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总体架构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与工业边云监测同构：一套架构，两个行业</a:t>
            </a:r>
            <a:endParaRPr lang="en-US" sz="3200" dirty="0"/>
          </a:p>
        </p:txBody>
      </p:sp>
      <p:graphicFrame>
        <p:nvGraphicFramePr>
          <p:cNvPr id="9" name="table-3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39996"/>
                <a:gridCol w="45399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架构要素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皮瓣监测（医疗）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烟草在线监测（工业）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监测对象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患者的移植皮瓣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烟支 / 烟包 / 设备工位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采集端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患者手机、床旁摄像头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产线工业相机、传感器、PLC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边缘节点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病区护士站电脑（Windows）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工控机（Windows / Linux）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采样策略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术后 0–72 h 每 1 h，之后每 4 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按节拍 / 班次 / 批次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分析模型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颜色 · 纹理 · 肿胀 → 坏死风险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外观缺陷 · 尺寸 · 色差 → 质量判定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实时看板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病区患者监控墙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车间中控大屏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异常处置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通知医生、记录处置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报警、剔除、工艺调整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组织层级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医院 → 科室 → 病区 → 床位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工厂 → 车间 → 产线 → 工位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onclusion-374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icon-bg-375"/>
          <p:cNvSpPr/>
          <p:nvPr/>
        </p:nvSpPr>
        <p:spPr>
          <a:xfrm>
            <a:off x="713232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376" descr="Fa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5893308"/>
            <a:ext cx="192024" cy="192024"/>
          </a:xfrm>
          <a:prstGeom prst="rect">
            <a:avLst/>
          </a:prstGeom>
        </p:spPr>
      </p:pic>
      <p:sp>
        <p:nvSpPr>
          <p:cNvPr id="8" name="text-377"/>
          <p:cNvSpPr txBox="1"/>
          <p:nvPr/>
        </p:nvSpPr>
        <p:spPr>
          <a:xfrm>
            <a:off x="1234440" y="5715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结论：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差异只在“领域包”（术语 · 表单 · 策略 · 模型 · 大屏模板），平台核心代码复用，目标复用率 ≥ 80%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总体架构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通用领域模型：把“患者”抽象为“监测对象”</a:t>
            </a:r>
            <a:endParaRPr lang="en-US" sz="3200" dirty="0"/>
          </a:p>
        </p:txBody>
      </p:sp>
      <p:sp>
        <p:nvSpPr>
          <p:cNvPr id="4" name="text-378"/>
          <p:cNvSpPr txBox="1"/>
          <p:nvPr/>
        </p:nvSpPr>
        <p:spPr>
          <a:xfrm>
            <a:off x="548640" y="14630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① 组织与对象：谁被监测</a:t>
            </a:r>
            <a:endParaRPr lang="en-US" sz="1400" dirty="0"/>
          </a:p>
        </p:txBody>
      </p:sp>
      <p:sp>
        <p:nvSpPr>
          <p:cNvPr id="5" name="entity-379"/>
          <p:cNvSpPr/>
          <p:nvPr/>
        </p:nvSpPr>
        <p:spPr>
          <a:xfrm>
            <a:off x="548640" y="182880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" name="text-380"/>
          <p:cNvSpPr txBox="1"/>
          <p:nvPr/>
        </p:nvSpPr>
        <p:spPr>
          <a:xfrm>
            <a:off x="749808" y="19659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租户</a:t>
            </a:r>
            <a:endParaRPr lang="en-US" sz="1700" dirty="0"/>
          </a:p>
        </p:txBody>
      </p:sp>
      <p:sp>
        <p:nvSpPr>
          <p:cNvPr id="7" name="text-381"/>
          <p:cNvSpPr txBox="1"/>
          <p:nvPr/>
        </p:nvSpPr>
        <p:spPr>
          <a:xfrm>
            <a:off x="749808" y="23317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</a:t>
            </a:r>
            <a:endParaRPr lang="en-US" sz="1100" dirty="0"/>
          </a:p>
        </p:txBody>
      </p:sp>
      <p:sp>
        <p:nvSpPr>
          <p:cNvPr id="8" name="dot-382"/>
          <p:cNvSpPr/>
          <p:nvPr/>
        </p:nvSpPr>
        <p:spPr>
          <a:xfrm>
            <a:off x="768096" y="273405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-383"/>
          <p:cNvSpPr txBox="1"/>
          <p:nvPr/>
        </p:nvSpPr>
        <p:spPr>
          <a:xfrm>
            <a:off x="960120" y="26517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医疗：医院</a:t>
            </a:r>
            <a:endParaRPr lang="en-US" sz="1400" dirty="0"/>
          </a:p>
        </p:txBody>
      </p:sp>
      <p:sp>
        <p:nvSpPr>
          <p:cNvPr id="10" name="dot-384"/>
          <p:cNvSpPr/>
          <p:nvPr/>
        </p:nvSpPr>
        <p:spPr>
          <a:xfrm>
            <a:off x="768096" y="3063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-385"/>
          <p:cNvSpPr txBox="1"/>
          <p:nvPr/>
        </p:nvSpPr>
        <p:spPr>
          <a:xfrm>
            <a:off x="960120" y="29809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烟草：卷烟厂</a:t>
            </a:r>
            <a:endParaRPr lang="en-US" sz="1400" dirty="0"/>
          </a:p>
        </p:txBody>
      </p:sp>
      <p:sp>
        <p:nvSpPr>
          <p:cNvPr id="12" name="connector-386"/>
          <p:cNvSpPr/>
          <p:nvPr/>
        </p:nvSpPr>
        <p:spPr>
          <a:xfrm>
            <a:off x="3118104" y="256032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entity-387"/>
          <p:cNvSpPr/>
          <p:nvPr/>
        </p:nvSpPr>
        <p:spPr>
          <a:xfrm>
            <a:off x="3401568" y="182880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text-388"/>
          <p:cNvSpPr txBox="1"/>
          <p:nvPr/>
        </p:nvSpPr>
        <p:spPr>
          <a:xfrm>
            <a:off x="3602736" y="19659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组织</a:t>
            </a:r>
            <a:endParaRPr lang="en-US" sz="1700" dirty="0"/>
          </a:p>
        </p:txBody>
      </p:sp>
      <p:sp>
        <p:nvSpPr>
          <p:cNvPr id="15" name="text-389"/>
          <p:cNvSpPr txBox="1"/>
          <p:nvPr/>
        </p:nvSpPr>
        <p:spPr>
          <a:xfrm>
            <a:off x="3602736" y="23317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</a:t>
            </a:r>
            <a:endParaRPr lang="en-US" sz="1100" dirty="0"/>
          </a:p>
        </p:txBody>
      </p:sp>
      <p:sp>
        <p:nvSpPr>
          <p:cNvPr id="16" name="dot-390"/>
          <p:cNvSpPr/>
          <p:nvPr/>
        </p:nvSpPr>
        <p:spPr>
          <a:xfrm>
            <a:off x="3621024" y="273405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-391"/>
          <p:cNvSpPr txBox="1"/>
          <p:nvPr/>
        </p:nvSpPr>
        <p:spPr>
          <a:xfrm>
            <a:off x="3813048" y="26517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医疗：科室 / 病区</a:t>
            </a:r>
            <a:endParaRPr lang="en-US" sz="1400" dirty="0"/>
          </a:p>
        </p:txBody>
      </p:sp>
      <p:sp>
        <p:nvSpPr>
          <p:cNvPr id="18" name="dot-392"/>
          <p:cNvSpPr/>
          <p:nvPr/>
        </p:nvSpPr>
        <p:spPr>
          <a:xfrm>
            <a:off x="3621024" y="3063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-393"/>
          <p:cNvSpPr txBox="1"/>
          <p:nvPr/>
        </p:nvSpPr>
        <p:spPr>
          <a:xfrm>
            <a:off x="3813048" y="29809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烟草：车间 / 产线</a:t>
            </a:r>
            <a:endParaRPr lang="en-US" sz="1400" dirty="0"/>
          </a:p>
        </p:txBody>
      </p:sp>
      <p:sp>
        <p:nvSpPr>
          <p:cNvPr id="20" name="connector-394"/>
          <p:cNvSpPr/>
          <p:nvPr/>
        </p:nvSpPr>
        <p:spPr>
          <a:xfrm>
            <a:off x="5971032" y="256032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entity-395"/>
          <p:cNvSpPr/>
          <p:nvPr/>
        </p:nvSpPr>
        <p:spPr>
          <a:xfrm>
            <a:off x="6254496" y="182880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2" name="text-396"/>
          <p:cNvSpPr txBox="1"/>
          <p:nvPr/>
        </p:nvSpPr>
        <p:spPr>
          <a:xfrm>
            <a:off x="6455664" y="19659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监测对象</a:t>
            </a:r>
            <a:endParaRPr lang="en-US" sz="1700" dirty="0"/>
          </a:p>
        </p:txBody>
      </p:sp>
      <p:sp>
        <p:nvSpPr>
          <p:cNvPr id="23" name="text-397"/>
          <p:cNvSpPr txBox="1"/>
          <p:nvPr/>
        </p:nvSpPr>
        <p:spPr>
          <a:xfrm>
            <a:off x="6455664" y="23317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100" dirty="0"/>
          </a:p>
        </p:txBody>
      </p:sp>
      <p:sp>
        <p:nvSpPr>
          <p:cNvPr id="24" name="dot-398"/>
          <p:cNvSpPr/>
          <p:nvPr/>
        </p:nvSpPr>
        <p:spPr>
          <a:xfrm>
            <a:off x="6473952" y="273405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399"/>
          <p:cNvSpPr txBox="1"/>
          <p:nvPr/>
        </p:nvSpPr>
        <p:spPr>
          <a:xfrm>
            <a:off x="6665976" y="26517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医疗：患者皮瓣</a:t>
            </a:r>
            <a:endParaRPr lang="en-US" sz="1400" dirty="0"/>
          </a:p>
        </p:txBody>
      </p:sp>
      <p:sp>
        <p:nvSpPr>
          <p:cNvPr id="26" name="dot-400"/>
          <p:cNvSpPr/>
          <p:nvPr/>
        </p:nvSpPr>
        <p:spPr>
          <a:xfrm>
            <a:off x="6473952" y="3063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-401"/>
          <p:cNvSpPr txBox="1"/>
          <p:nvPr/>
        </p:nvSpPr>
        <p:spPr>
          <a:xfrm>
            <a:off x="6665976" y="29809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烟草：机台 / 工位</a:t>
            </a:r>
            <a:endParaRPr lang="en-US" sz="1400" dirty="0"/>
          </a:p>
        </p:txBody>
      </p:sp>
      <p:sp>
        <p:nvSpPr>
          <p:cNvPr id="28" name="connector-402"/>
          <p:cNvSpPr/>
          <p:nvPr/>
        </p:nvSpPr>
        <p:spPr>
          <a:xfrm>
            <a:off x="8823960" y="256032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entity-403"/>
          <p:cNvSpPr/>
          <p:nvPr/>
        </p:nvSpPr>
        <p:spPr>
          <a:xfrm>
            <a:off x="9107424" y="182880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0" name="text-404"/>
          <p:cNvSpPr txBox="1"/>
          <p:nvPr/>
        </p:nvSpPr>
        <p:spPr>
          <a:xfrm>
            <a:off x="9308592" y="19659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监测任务</a:t>
            </a:r>
            <a:endParaRPr lang="en-US" sz="1700" dirty="0"/>
          </a:p>
        </p:txBody>
      </p:sp>
      <p:sp>
        <p:nvSpPr>
          <p:cNvPr id="31" name="text-405"/>
          <p:cNvSpPr txBox="1"/>
          <p:nvPr/>
        </p:nvSpPr>
        <p:spPr>
          <a:xfrm>
            <a:off x="9308592" y="23317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100" dirty="0"/>
          </a:p>
        </p:txBody>
      </p:sp>
      <p:sp>
        <p:nvSpPr>
          <p:cNvPr id="32" name="dot-406"/>
          <p:cNvSpPr/>
          <p:nvPr/>
        </p:nvSpPr>
        <p:spPr>
          <a:xfrm>
            <a:off x="9326880" y="273405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-407"/>
          <p:cNvSpPr txBox="1"/>
          <p:nvPr/>
        </p:nvSpPr>
        <p:spPr>
          <a:xfrm>
            <a:off x="9518904" y="265176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医疗：术后监测周期</a:t>
            </a:r>
            <a:endParaRPr lang="en-US" sz="1400" dirty="0"/>
          </a:p>
        </p:txBody>
      </p:sp>
      <p:sp>
        <p:nvSpPr>
          <p:cNvPr id="34" name="dot-408"/>
          <p:cNvSpPr/>
          <p:nvPr/>
        </p:nvSpPr>
        <p:spPr>
          <a:xfrm>
            <a:off x="9326880" y="3063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text-409"/>
          <p:cNvSpPr txBox="1"/>
          <p:nvPr/>
        </p:nvSpPr>
        <p:spPr>
          <a:xfrm>
            <a:off x="9518904" y="29809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烟草：一个生产批次</a:t>
            </a:r>
            <a:endParaRPr lang="en-US" sz="1400" dirty="0"/>
          </a:p>
        </p:txBody>
      </p:sp>
      <p:sp>
        <p:nvSpPr>
          <p:cNvPr id="36" name="text-410"/>
          <p:cNvSpPr txBox="1"/>
          <p:nvPr/>
        </p:nvSpPr>
        <p:spPr>
          <a:xfrm>
            <a:off x="548640" y="36118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② 数据与智能：监测到了什么</a:t>
            </a:r>
            <a:endParaRPr lang="en-US" sz="1400" dirty="0"/>
          </a:p>
        </p:txBody>
      </p:sp>
      <p:sp>
        <p:nvSpPr>
          <p:cNvPr id="37" name="entity-411"/>
          <p:cNvSpPr/>
          <p:nvPr/>
        </p:nvSpPr>
        <p:spPr>
          <a:xfrm>
            <a:off x="548640" y="39776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8" name="text-412"/>
          <p:cNvSpPr txBox="1"/>
          <p:nvPr/>
        </p:nvSpPr>
        <p:spPr>
          <a:xfrm>
            <a:off x="749808" y="41148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采集源</a:t>
            </a:r>
            <a:endParaRPr lang="en-US" sz="1700" dirty="0"/>
          </a:p>
        </p:txBody>
      </p:sp>
      <p:sp>
        <p:nvSpPr>
          <p:cNvPr id="39" name="text-413"/>
          <p:cNvSpPr txBox="1"/>
          <p:nvPr/>
        </p:nvSpPr>
        <p:spPr>
          <a:xfrm>
            <a:off x="749808" y="44805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100" dirty="0"/>
          </a:p>
        </p:txBody>
      </p:sp>
      <p:sp>
        <p:nvSpPr>
          <p:cNvPr id="40" name="dot-414"/>
          <p:cNvSpPr/>
          <p:nvPr/>
        </p:nvSpPr>
        <p:spPr>
          <a:xfrm>
            <a:off x="768096" y="488289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-415"/>
          <p:cNvSpPr txBox="1"/>
          <p:nvPr/>
        </p:nvSpPr>
        <p:spPr>
          <a:xfrm>
            <a:off x="960120" y="4800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医疗：手机 / 摄像头</a:t>
            </a:r>
            <a:endParaRPr lang="en-US" sz="1400" dirty="0"/>
          </a:p>
        </p:txBody>
      </p:sp>
      <p:sp>
        <p:nvSpPr>
          <p:cNvPr id="42" name="dot-416"/>
          <p:cNvSpPr/>
          <p:nvPr/>
        </p:nvSpPr>
        <p:spPr>
          <a:xfrm>
            <a:off x="768096" y="521208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text-417"/>
          <p:cNvSpPr txBox="1"/>
          <p:nvPr/>
        </p:nvSpPr>
        <p:spPr>
          <a:xfrm>
            <a:off x="960120" y="51297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烟草：工业相机</a:t>
            </a:r>
            <a:endParaRPr lang="en-US" sz="1400" dirty="0"/>
          </a:p>
        </p:txBody>
      </p:sp>
      <p:sp>
        <p:nvSpPr>
          <p:cNvPr id="44" name="connector-418"/>
          <p:cNvSpPr/>
          <p:nvPr/>
        </p:nvSpPr>
        <p:spPr>
          <a:xfrm>
            <a:off x="3118104" y="470916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entity-419"/>
          <p:cNvSpPr/>
          <p:nvPr/>
        </p:nvSpPr>
        <p:spPr>
          <a:xfrm>
            <a:off x="3401568" y="39776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6" name="text-420"/>
          <p:cNvSpPr txBox="1"/>
          <p:nvPr/>
        </p:nvSpPr>
        <p:spPr>
          <a:xfrm>
            <a:off x="3602736" y="41148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采样</a:t>
            </a:r>
            <a:endParaRPr lang="en-US" sz="1700" dirty="0"/>
          </a:p>
        </p:txBody>
      </p:sp>
      <p:sp>
        <p:nvSpPr>
          <p:cNvPr id="47" name="text-421"/>
          <p:cNvSpPr txBox="1"/>
          <p:nvPr/>
        </p:nvSpPr>
        <p:spPr>
          <a:xfrm>
            <a:off x="3602736" y="44805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1100" dirty="0"/>
          </a:p>
        </p:txBody>
      </p:sp>
      <p:sp>
        <p:nvSpPr>
          <p:cNvPr id="48" name="dot-422"/>
          <p:cNvSpPr/>
          <p:nvPr/>
        </p:nvSpPr>
        <p:spPr>
          <a:xfrm>
            <a:off x="3621024" y="488289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-423"/>
          <p:cNvSpPr txBox="1"/>
          <p:nvPr/>
        </p:nvSpPr>
        <p:spPr>
          <a:xfrm>
            <a:off x="3813048" y="4800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医疗：一张创面照片</a:t>
            </a:r>
            <a:endParaRPr lang="en-US" sz="1400" dirty="0"/>
          </a:p>
        </p:txBody>
      </p:sp>
      <p:sp>
        <p:nvSpPr>
          <p:cNvPr id="50" name="dot-424"/>
          <p:cNvSpPr/>
          <p:nvPr/>
        </p:nvSpPr>
        <p:spPr>
          <a:xfrm>
            <a:off x="3621024" y="521208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1" name="text-425"/>
          <p:cNvSpPr txBox="1"/>
          <p:nvPr/>
        </p:nvSpPr>
        <p:spPr>
          <a:xfrm>
            <a:off x="3813048" y="51297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烟草：一帧图像</a:t>
            </a:r>
            <a:endParaRPr lang="en-US" sz="1400" dirty="0"/>
          </a:p>
        </p:txBody>
      </p:sp>
      <p:sp>
        <p:nvSpPr>
          <p:cNvPr id="52" name="connector-426"/>
          <p:cNvSpPr/>
          <p:nvPr/>
        </p:nvSpPr>
        <p:spPr>
          <a:xfrm>
            <a:off x="5971032" y="470916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3" name="entity-427"/>
          <p:cNvSpPr/>
          <p:nvPr/>
        </p:nvSpPr>
        <p:spPr>
          <a:xfrm>
            <a:off x="6254496" y="39776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4" name="text-428"/>
          <p:cNvSpPr txBox="1"/>
          <p:nvPr/>
        </p:nvSpPr>
        <p:spPr>
          <a:xfrm>
            <a:off x="6455664" y="41148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分析结果</a:t>
            </a:r>
            <a:endParaRPr lang="en-US" sz="1700" dirty="0"/>
          </a:p>
        </p:txBody>
      </p:sp>
      <p:sp>
        <p:nvSpPr>
          <p:cNvPr id="55" name="text-429"/>
          <p:cNvSpPr txBox="1"/>
          <p:nvPr/>
        </p:nvSpPr>
        <p:spPr>
          <a:xfrm>
            <a:off x="6455664" y="44805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56" name="dot-430"/>
          <p:cNvSpPr/>
          <p:nvPr/>
        </p:nvSpPr>
        <p:spPr>
          <a:xfrm>
            <a:off x="6473952" y="488289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7" name="text-431"/>
          <p:cNvSpPr txBox="1"/>
          <p:nvPr/>
        </p:nvSpPr>
        <p:spPr>
          <a:xfrm>
            <a:off x="6665976" y="4800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医疗：坏死风险评分</a:t>
            </a:r>
            <a:endParaRPr lang="en-US" sz="1400" dirty="0"/>
          </a:p>
        </p:txBody>
      </p:sp>
      <p:sp>
        <p:nvSpPr>
          <p:cNvPr id="58" name="dot-432"/>
          <p:cNvSpPr/>
          <p:nvPr/>
        </p:nvSpPr>
        <p:spPr>
          <a:xfrm>
            <a:off x="6473952" y="521208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9" name="text-433"/>
          <p:cNvSpPr txBox="1"/>
          <p:nvPr/>
        </p:nvSpPr>
        <p:spPr>
          <a:xfrm>
            <a:off x="6665976" y="51297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烟草：缺陷类型判定</a:t>
            </a:r>
            <a:endParaRPr lang="en-US" sz="1400" dirty="0"/>
          </a:p>
        </p:txBody>
      </p:sp>
      <p:sp>
        <p:nvSpPr>
          <p:cNvPr id="60" name="connector-434"/>
          <p:cNvSpPr/>
          <p:nvPr/>
        </p:nvSpPr>
        <p:spPr>
          <a:xfrm>
            <a:off x="8823960" y="470916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1" name="entity-435"/>
          <p:cNvSpPr/>
          <p:nvPr/>
        </p:nvSpPr>
        <p:spPr>
          <a:xfrm>
            <a:off x="9107424" y="39776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2" name="text-436"/>
          <p:cNvSpPr txBox="1"/>
          <p:nvPr/>
        </p:nvSpPr>
        <p:spPr>
          <a:xfrm>
            <a:off x="9308592" y="41148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事件告警</a:t>
            </a:r>
            <a:endParaRPr lang="en-US" sz="1700" dirty="0"/>
          </a:p>
        </p:txBody>
      </p:sp>
      <p:sp>
        <p:nvSpPr>
          <p:cNvPr id="63" name="text-437"/>
          <p:cNvSpPr txBox="1"/>
          <p:nvPr/>
        </p:nvSpPr>
        <p:spPr>
          <a:xfrm>
            <a:off x="9308592" y="44805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100" dirty="0"/>
          </a:p>
        </p:txBody>
      </p:sp>
      <p:sp>
        <p:nvSpPr>
          <p:cNvPr id="64" name="dot-438"/>
          <p:cNvSpPr/>
          <p:nvPr/>
        </p:nvSpPr>
        <p:spPr>
          <a:xfrm>
            <a:off x="9326880" y="488289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5" name="text-439"/>
          <p:cNvSpPr txBox="1"/>
          <p:nvPr/>
        </p:nvSpPr>
        <p:spPr>
          <a:xfrm>
            <a:off x="9518904" y="4800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医疗：疑似血管危象</a:t>
            </a:r>
            <a:endParaRPr lang="en-US" sz="1400" dirty="0"/>
          </a:p>
        </p:txBody>
      </p:sp>
      <p:sp>
        <p:nvSpPr>
          <p:cNvPr id="66" name="dot-440"/>
          <p:cNvSpPr/>
          <p:nvPr/>
        </p:nvSpPr>
        <p:spPr>
          <a:xfrm>
            <a:off x="9326880" y="521208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7" name="text-441"/>
          <p:cNvSpPr txBox="1"/>
          <p:nvPr/>
        </p:nvSpPr>
        <p:spPr>
          <a:xfrm>
            <a:off x="9518904" y="51297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烟草：质量异常报警</a:t>
            </a:r>
            <a:endParaRPr lang="en-US" sz="1400" dirty="0"/>
          </a:p>
        </p:txBody>
      </p:sp>
      <p:sp>
        <p:nvSpPr>
          <p:cNvPr id="68" name="note-442"/>
          <p:cNvSpPr/>
          <p:nvPr/>
        </p:nvSpPr>
        <p:spPr>
          <a:xfrm>
            <a:off x="548640" y="5788152"/>
            <a:ext cx="11091672" cy="475488"/>
          </a:xfrm>
          <a:prstGeom prst="roundRect">
            <a:avLst>
              <a:gd name="adj" fmla="val 19231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9" name="text-443"/>
          <p:cNvSpPr txBox="1"/>
          <p:nvPr/>
        </p:nvSpPr>
        <p:spPr>
          <a:xfrm>
            <a:off x="731520" y="578815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落地方式：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通用字段建表固定；领域特有字段存入 JSONB 扩展属性，并由领域包中的表单 Schema 描述 —— 新场景无需改表结构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用户端：一个小程序，按角色呈现三套工作台</a:t>
            </a:r>
            <a:endParaRPr lang="en-US" sz="3200" dirty="0"/>
          </a:p>
        </p:txBody>
      </p:sp>
      <p:sp>
        <p:nvSpPr>
          <p:cNvPr id="4" name="phone-444"/>
          <p:cNvSpPr/>
          <p:nvPr/>
        </p:nvSpPr>
        <p:spPr>
          <a:xfrm>
            <a:off x="548640" y="1554480"/>
            <a:ext cx="2057400" cy="4572000"/>
          </a:xfrm>
          <a:prstGeom prst="roundRect">
            <a:avLst>
              <a:gd name="adj" fmla="val 12444"/>
            </a:avLst>
          </a:prstGeom>
          <a:solidFill>
            <a:schemeClr val="bg1"/>
          </a:solidFill>
          <a:ln w="28575">
            <a:solidFill>
              <a:schemeClr val="tx2"/>
            </a:solidFill>
            <a:prstDash val="solid"/>
          </a:ln>
        </p:spPr>
      </p:sp>
      <p:sp>
        <p:nvSpPr>
          <p:cNvPr id="5" name="phone-notch-445"/>
          <p:cNvSpPr/>
          <p:nvPr/>
        </p:nvSpPr>
        <p:spPr>
          <a:xfrm>
            <a:off x="1303020" y="1682496"/>
            <a:ext cx="548640" cy="64008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</p:sp>
      <p:sp>
        <p:nvSpPr>
          <p:cNvPr id="6" name="phone-header-446"/>
          <p:cNvSpPr/>
          <p:nvPr/>
        </p:nvSpPr>
        <p:spPr>
          <a:xfrm>
            <a:off x="685800" y="1874520"/>
            <a:ext cx="17830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7" name="text-447"/>
          <p:cNvSpPr txBox="1"/>
          <p:nvPr/>
        </p:nvSpPr>
        <p:spPr>
          <a:xfrm>
            <a:off x="68580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患者端</a:t>
            </a:r>
            <a:endParaRPr lang="en-US" sz="1500" dirty="0"/>
          </a:p>
        </p:txBody>
      </p:sp>
      <p:sp>
        <p:nvSpPr>
          <p:cNvPr id="8" name="screen-448"/>
          <p:cNvSpPr/>
          <p:nvPr/>
        </p:nvSpPr>
        <p:spPr>
          <a:xfrm>
            <a:off x="685800" y="2514600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-449"/>
          <p:cNvSpPr txBox="1"/>
          <p:nvPr/>
        </p:nvSpPr>
        <p:spPr>
          <a:xfrm>
            <a:off x="795528" y="2587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首页</a:t>
            </a:r>
            <a:endParaRPr lang="en-US" sz="1400" dirty="0"/>
          </a:p>
        </p:txBody>
      </p:sp>
      <p:sp>
        <p:nvSpPr>
          <p:cNvPr id="10" name="text-450"/>
          <p:cNvSpPr txBox="1"/>
          <p:nvPr/>
        </p:nvSpPr>
        <p:spPr>
          <a:xfrm>
            <a:off x="795528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下次上传倒计时</a:t>
            </a:r>
            <a:endParaRPr lang="en-US" sz="1100" dirty="0"/>
          </a:p>
        </p:txBody>
      </p:sp>
      <p:sp>
        <p:nvSpPr>
          <p:cNvPr id="11" name="screen-451"/>
          <p:cNvSpPr/>
          <p:nvPr/>
        </p:nvSpPr>
        <p:spPr>
          <a:xfrm>
            <a:off x="685800" y="3355848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text-452"/>
          <p:cNvSpPr txBox="1"/>
          <p:nvPr/>
        </p:nvSpPr>
        <p:spPr>
          <a:xfrm>
            <a:off x="795528" y="3429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拍照上传</a:t>
            </a:r>
            <a:endParaRPr lang="en-US" sz="1400" dirty="0"/>
          </a:p>
        </p:txBody>
      </p:sp>
      <p:sp>
        <p:nvSpPr>
          <p:cNvPr id="13" name="text-453"/>
          <p:cNvSpPr txBox="1"/>
          <p:nvPr/>
        </p:nvSpPr>
        <p:spPr>
          <a:xfrm>
            <a:off x="795528" y="37216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引导框 + 色卡，自动质检</a:t>
            </a:r>
            <a:endParaRPr lang="en-US" sz="1100" dirty="0"/>
          </a:p>
        </p:txBody>
      </p:sp>
      <p:sp>
        <p:nvSpPr>
          <p:cNvPr id="14" name="screen-454"/>
          <p:cNvSpPr/>
          <p:nvPr/>
        </p:nvSpPr>
        <p:spPr>
          <a:xfrm>
            <a:off x="685800" y="4197096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-455"/>
          <p:cNvSpPr txBox="1"/>
          <p:nvPr/>
        </p:nvSpPr>
        <p:spPr>
          <a:xfrm>
            <a:off x="795528" y="4270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我的记录</a:t>
            </a:r>
            <a:endParaRPr lang="en-US" sz="1400" dirty="0"/>
          </a:p>
        </p:txBody>
      </p:sp>
      <p:sp>
        <p:nvSpPr>
          <p:cNvPr id="16" name="text-456"/>
          <p:cNvSpPr txBox="1"/>
          <p:nvPr/>
        </p:nvSpPr>
        <p:spPr>
          <a:xfrm>
            <a:off x="795528" y="4562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按时间查看历史照片</a:t>
            </a:r>
            <a:endParaRPr lang="en-US" sz="1100" dirty="0"/>
          </a:p>
        </p:txBody>
      </p:sp>
      <p:sp>
        <p:nvSpPr>
          <p:cNvPr id="17" name="screen-457"/>
          <p:cNvSpPr/>
          <p:nvPr/>
        </p:nvSpPr>
        <p:spPr>
          <a:xfrm>
            <a:off x="685800" y="5038344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text-458"/>
          <p:cNvSpPr txBox="1"/>
          <p:nvPr/>
        </p:nvSpPr>
        <p:spPr>
          <a:xfrm>
            <a:off x="795528" y="5111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消息</a:t>
            </a:r>
            <a:endParaRPr lang="en-US" sz="1400" dirty="0"/>
          </a:p>
        </p:txBody>
      </p:sp>
      <p:sp>
        <p:nvSpPr>
          <p:cNvPr id="19" name="text-459"/>
          <p:cNvSpPr txBox="1"/>
          <p:nvPr/>
        </p:nvSpPr>
        <p:spPr>
          <a:xfrm>
            <a:off x="795528" y="54041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提醒订阅 · 医护留言</a:t>
            </a:r>
            <a:endParaRPr lang="en-US" sz="1100" dirty="0"/>
          </a:p>
        </p:txBody>
      </p:sp>
      <p:sp>
        <p:nvSpPr>
          <p:cNvPr id="20" name="phone-460"/>
          <p:cNvSpPr/>
          <p:nvPr/>
        </p:nvSpPr>
        <p:spPr>
          <a:xfrm>
            <a:off x="2880360" y="1554480"/>
            <a:ext cx="2057400" cy="4572000"/>
          </a:xfrm>
          <a:prstGeom prst="roundRect">
            <a:avLst>
              <a:gd name="adj" fmla="val 12444"/>
            </a:avLst>
          </a:prstGeom>
          <a:solidFill>
            <a:schemeClr val="bg1"/>
          </a:solidFill>
          <a:ln w="28575">
            <a:solidFill>
              <a:schemeClr val="tx2"/>
            </a:solidFill>
            <a:prstDash val="solid"/>
          </a:ln>
        </p:spPr>
      </p:sp>
      <p:sp>
        <p:nvSpPr>
          <p:cNvPr id="21" name="phone-notch-461"/>
          <p:cNvSpPr/>
          <p:nvPr/>
        </p:nvSpPr>
        <p:spPr>
          <a:xfrm>
            <a:off x="3634740" y="1682496"/>
            <a:ext cx="548640" cy="64008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</p:sp>
      <p:sp>
        <p:nvSpPr>
          <p:cNvPr id="22" name="phone-header-462"/>
          <p:cNvSpPr/>
          <p:nvPr/>
        </p:nvSpPr>
        <p:spPr>
          <a:xfrm>
            <a:off x="3017520" y="1874520"/>
            <a:ext cx="17830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23" name="text-463"/>
          <p:cNvSpPr txBox="1"/>
          <p:nvPr/>
        </p:nvSpPr>
        <p:spPr>
          <a:xfrm>
            <a:off x="301752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医护端</a:t>
            </a:r>
            <a:endParaRPr lang="en-US" sz="1500" dirty="0"/>
          </a:p>
        </p:txBody>
      </p:sp>
      <p:sp>
        <p:nvSpPr>
          <p:cNvPr id="24" name="screen-464"/>
          <p:cNvSpPr/>
          <p:nvPr/>
        </p:nvSpPr>
        <p:spPr>
          <a:xfrm>
            <a:off x="3017520" y="2514600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text-465"/>
          <p:cNvSpPr txBox="1"/>
          <p:nvPr/>
        </p:nvSpPr>
        <p:spPr>
          <a:xfrm>
            <a:off x="3127248" y="2587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监控墙</a:t>
            </a:r>
            <a:endParaRPr lang="en-US" sz="1400" dirty="0"/>
          </a:p>
        </p:txBody>
      </p:sp>
      <p:sp>
        <p:nvSpPr>
          <p:cNvPr id="26" name="text-466"/>
          <p:cNvSpPr txBox="1"/>
          <p:nvPr/>
        </p:nvSpPr>
        <p:spPr>
          <a:xfrm>
            <a:off x="3127248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宫格总览，异常置顶</a:t>
            </a:r>
            <a:endParaRPr lang="en-US" sz="1100" dirty="0"/>
          </a:p>
        </p:txBody>
      </p:sp>
      <p:sp>
        <p:nvSpPr>
          <p:cNvPr id="27" name="screen-467"/>
          <p:cNvSpPr/>
          <p:nvPr/>
        </p:nvSpPr>
        <p:spPr>
          <a:xfrm>
            <a:off x="3017520" y="3355848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8" name="text-468"/>
          <p:cNvSpPr txBox="1"/>
          <p:nvPr/>
        </p:nvSpPr>
        <p:spPr>
          <a:xfrm>
            <a:off x="3127248" y="3429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患者列表</a:t>
            </a:r>
            <a:endParaRPr lang="en-US" sz="1400" dirty="0"/>
          </a:p>
        </p:txBody>
      </p:sp>
      <p:sp>
        <p:nvSpPr>
          <p:cNvPr id="29" name="text-469"/>
          <p:cNvSpPr txBox="1"/>
          <p:nvPr/>
        </p:nvSpPr>
        <p:spPr>
          <a:xfrm>
            <a:off x="3127248" y="37216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按病区 / 风险筛选</a:t>
            </a:r>
            <a:endParaRPr lang="en-US" sz="1100" dirty="0"/>
          </a:p>
        </p:txBody>
      </p:sp>
      <p:sp>
        <p:nvSpPr>
          <p:cNvPr id="30" name="screen-470"/>
          <p:cNvSpPr/>
          <p:nvPr/>
        </p:nvSpPr>
        <p:spPr>
          <a:xfrm>
            <a:off x="3017520" y="4197096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1" name="text-471"/>
          <p:cNvSpPr txBox="1"/>
          <p:nvPr/>
        </p:nvSpPr>
        <p:spPr>
          <a:xfrm>
            <a:off x="3127248" y="4270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患者详情</a:t>
            </a:r>
            <a:endParaRPr lang="en-US" sz="1400" dirty="0"/>
          </a:p>
        </p:txBody>
      </p:sp>
      <p:sp>
        <p:nvSpPr>
          <p:cNvPr id="32" name="text-472"/>
          <p:cNvSpPr txBox="1"/>
          <p:nvPr/>
        </p:nvSpPr>
        <p:spPr>
          <a:xfrm>
            <a:off x="3127248" y="4562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时间轴 · 前后对比</a:t>
            </a:r>
            <a:endParaRPr lang="en-US" sz="1100" dirty="0"/>
          </a:p>
        </p:txBody>
      </p:sp>
      <p:sp>
        <p:nvSpPr>
          <p:cNvPr id="33" name="screen-473"/>
          <p:cNvSpPr/>
          <p:nvPr/>
        </p:nvSpPr>
        <p:spPr>
          <a:xfrm>
            <a:off x="3017520" y="5038344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4" name="text-474"/>
          <p:cNvSpPr txBox="1"/>
          <p:nvPr/>
        </p:nvSpPr>
        <p:spPr>
          <a:xfrm>
            <a:off x="3127248" y="5111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评估标注</a:t>
            </a:r>
            <a:endParaRPr lang="en-US" sz="1400" dirty="0"/>
          </a:p>
        </p:txBody>
      </p:sp>
      <p:sp>
        <p:nvSpPr>
          <p:cNvPr id="35" name="text-475"/>
          <p:cNvSpPr txBox="1"/>
          <p:nvPr/>
        </p:nvSpPr>
        <p:spPr>
          <a:xfrm>
            <a:off x="3127248" y="54041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正常 / 可疑 / 异常</a:t>
            </a:r>
            <a:endParaRPr lang="en-US" sz="1100" dirty="0"/>
          </a:p>
        </p:txBody>
      </p:sp>
      <p:sp>
        <p:nvSpPr>
          <p:cNvPr id="36" name="phone-476"/>
          <p:cNvSpPr/>
          <p:nvPr/>
        </p:nvSpPr>
        <p:spPr>
          <a:xfrm>
            <a:off x="5212080" y="1554480"/>
            <a:ext cx="2057400" cy="4572000"/>
          </a:xfrm>
          <a:prstGeom prst="roundRect">
            <a:avLst>
              <a:gd name="adj" fmla="val 12444"/>
            </a:avLst>
          </a:prstGeom>
          <a:solidFill>
            <a:schemeClr val="bg1"/>
          </a:solidFill>
          <a:ln w="28575">
            <a:solidFill>
              <a:schemeClr val="tx2"/>
            </a:solidFill>
            <a:prstDash val="solid"/>
          </a:ln>
        </p:spPr>
      </p:sp>
      <p:sp>
        <p:nvSpPr>
          <p:cNvPr id="37" name="phone-notch-477"/>
          <p:cNvSpPr/>
          <p:nvPr/>
        </p:nvSpPr>
        <p:spPr>
          <a:xfrm>
            <a:off x="5966460" y="1682496"/>
            <a:ext cx="548640" cy="64008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</p:sp>
      <p:sp>
        <p:nvSpPr>
          <p:cNvPr id="38" name="phone-header-478"/>
          <p:cNvSpPr/>
          <p:nvPr/>
        </p:nvSpPr>
        <p:spPr>
          <a:xfrm>
            <a:off x="5349240" y="1874520"/>
            <a:ext cx="178308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</p:sp>
      <p:sp>
        <p:nvSpPr>
          <p:cNvPr id="39" name="text-479"/>
          <p:cNvSpPr txBox="1"/>
          <p:nvPr/>
        </p:nvSpPr>
        <p:spPr>
          <a:xfrm>
            <a:off x="534924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管理端</a:t>
            </a:r>
            <a:endParaRPr lang="en-US" sz="1500" dirty="0"/>
          </a:p>
        </p:txBody>
      </p:sp>
      <p:sp>
        <p:nvSpPr>
          <p:cNvPr id="40" name="screen-480"/>
          <p:cNvSpPr/>
          <p:nvPr/>
        </p:nvSpPr>
        <p:spPr>
          <a:xfrm>
            <a:off x="5349240" y="2514600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1" name="text-481"/>
          <p:cNvSpPr txBox="1"/>
          <p:nvPr/>
        </p:nvSpPr>
        <p:spPr>
          <a:xfrm>
            <a:off x="5458968" y="2587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用户管理</a:t>
            </a:r>
            <a:endParaRPr lang="en-US" sz="1400" dirty="0"/>
          </a:p>
        </p:txBody>
      </p:sp>
      <p:sp>
        <p:nvSpPr>
          <p:cNvPr id="42" name="text-482"/>
          <p:cNvSpPr txBox="1"/>
          <p:nvPr/>
        </p:nvSpPr>
        <p:spPr>
          <a:xfrm>
            <a:off x="5458968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新增 · 停用 · 分配角色</a:t>
            </a:r>
            <a:endParaRPr lang="en-US" sz="1100" dirty="0"/>
          </a:p>
        </p:txBody>
      </p:sp>
      <p:sp>
        <p:nvSpPr>
          <p:cNvPr id="43" name="screen-483"/>
          <p:cNvSpPr/>
          <p:nvPr/>
        </p:nvSpPr>
        <p:spPr>
          <a:xfrm>
            <a:off x="5349240" y="3355848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4" name="text-484"/>
          <p:cNvSpPr txBox="1"/>
          <p:nvPr/>
        </p:nvSpPr>
        <p:spPr>
          <a:xfrm>
            <a:off x="5458968" y="3429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组织与床位</a:t>
            </a:r>
            <a:endParaRPr lang="en-US" sz="1400" dirty="0"/>
          </a:p>
        </p:txBody>
      </p:sp>
      <p:sp>
        <p:nvSpPr>
          <p:cNvPr id="45" name="text-485"/>
          <p:cNvSpPr txBox="1"/>
          <p:nvPr/>
        </p:nvSpPr>
        <p:spPr>
          <a:xfrm>
            <a:off x="5458968" y="37216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医院 / 科室 / 病区</a:t>
            </a:r>
            <a:endParaRPr lang="en-US" sz="1100" dirty="0"/>
          </a:p>
        </p:txBody>
      </p:sp>
      <p:sp>
        <p:nvSpPr>
          <p:cNvPr id="46" name="screen-486"/>
          <p:cNvSpPr/>
          <p:nvPr/>
        </p:nvSpPr>
        <p:spPr>
          <a:xfrm>
            <a:off x="5349240" y="4197096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7" name="text-487"/>
          <p:cNvSpPr txBox="1"/>
          <p:nvPr/>
        </p:nvSpPr>
        <p:spPr>
          <a:xfrm>
            <a:off x="5458968" y="4270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采样策略</a:t>
            </a:r>
            <a:endParaRPr lang="en-US" sz="1400" dirty="0"/>
          </a:p>
        </p:txBody>
      </p:sp>
      <p:sp>
        <p:nvSpPr>
          <p:cNvPr id="48" name="text-488"/>
          <p:cNvSpPr txBox="1"/>
          <p:nvPr/>
        </p:nvSpPr>
        <p:spPr>
          <a:xfrm>
            <a:off x="5458968" y="4562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频率模板配置</a:t>
            </a:r>
            <a:endParaRPr lang="en-US" sz="1100" dirty="0"/>
          </a:p>
        </p:txBody>
      </p:sp>
      <p:sp>
        <p:nvSpPr>
          <p:cNvPr id="49" name="screen-489"/>
          <p:cNvSpPr/>
          <p:nvPr/>
        </p:nvSpPr>
        <p:spPr>
          <a:xfrm>
            <a:off x="5349240" y="5038344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0" name="text-490"/>
          <p:cNvSpPr txBox="1"/>
          <p:nvPr/>
        </p:nvSpPr>
        <p:spPr>
          <a:xfrm>
            <a:off x="5458968" y="5111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设备与审计</a:t>
            </a:r>
            <a:endParaRPr lang="en-US" sz="1400" dirty="0"/>
          </a:p>
        </p:txBody>
      </p:sp>
      <p:sp>
        <p:nvSpPr>
          <p:cNvPr id="51" name="text-491"/>
          <p:cNvSpPr txBox="1"/>
          <p:nvPr/>
        </p:nvSpPr>
        <p:spPr>
          <a:xfrm>
            <a:off x="5458968" y="54041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数采端登记 · 操作日志</a:t>
            </a:r>
            <a:endParaRPr lang="en-US" sz="1100" dirty="0"/>
          </a:p>
        </p:txBody>
      </p:sp>
      <p:sp>
        <p:nvSpPr>
          <p:cNvPr id="52" name="icon-bg-492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3" name="icon-493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410" y="1725930"/>
            <a:ext cx="251460" cy="251460"/>
          </a:xfrm>
          <a:prstGeom prst="rect">
            <a:avLst/>
          </a:prstGeom>
        </p:spPr>
      </p:pic>
      <p:sp>
        <p:nvSpPr>
          <p:cNvPr id="54" name="text-494"/>
          <p:cNvSpPr txBox="1"/>
          <p:nvPr/>
        </p:nvSpPr>
        <p:spPr>
          <a:xfrm>
            <a:off x="8412480" y="1636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登录与绑定</a:t>
            </a:r>
            <a:endParaRPr lang="en-US" sz="1600" dirty="0"/>
          </a:p>
        </p:txBody>
      </p:sp>
      <p:sp>
        <p:nvSpPr>
          <p:cNvPr id="55" name="text-495"/>
          <p:cNvSpPr txBox="1"/>
          <p:nvPr/>
        </p:nvSpPr>
        <p:spPr>
          <a:xfrm>
            <a:off x="8412480" y="205740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微信授权登录。医护账号由管理员预建，首次登录绑定微信；患者扫描护士出示的二维码绑定病例</a:t>
            </a:r>
            <a:endParaRPr lang="en-US" sz="1400" dirty="0"/>
          </a:p>
        </p:txBody>
      </p:sp>
      <p:sp>
        <p:nvSpPr>
          <p:cNvPr id="56" name="icon-bg-496"/>
          <p:cNvSpPr/>
          <p:nvPr/>
        </p:nvSpPr>
        <p:spPr>
          <a:xfrm>
            <a:off x="772668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7" name="icon-497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10" y="3280410"/>
            <a:ext cx="251460" cy="251460"/>
          </a:xfrm>
          <a:prstGeom prst="rect">
            <a:avLst/>
          </a:prstGeom>
        </p:spPr>
      </p:pic>
      <p:sp>
        <p:nvSpPr>
          <p:cNvPr id="58" name="text-498"/>
          <p:cNvSpPr txBox="1"/>
          <p:nvPr/>
        </p:nvSpPr>
        <p:spPr>
          <a:xfrm>
            <a:off x="8412480" y="31912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按角色路由</a:t>
            </a:r>
            <a:endParaRPr lang="en-US" sz="1600" dirty="0"/>
          </a:p>
        </p:txBody>
      </p:sp>
      <p:sp>
        <p:nvSpPr>
          <p:cNvPr id="59" name="text-499"/>
          <p:cNvSpPr txBox="1"/>
          <p:nvPr/>
        </p:nvSpPr>
        <p:spPr>
          <a:xfrm>
            <a:off x="8412480" y="361188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登录后按角色加载对应的菜单与页面；前端只做展示控制，权限由后端统一校验</a:t>
            </a:r>
            <a:endParaRPr lang="en-US" sz="1400" dirty="0"/>
          </a:p>
        </p:txBody>
      </p:sp>
      <p:sp>
        <p:nvSpPr>
          <p:cNvPr id="60" name="icon-bg-500"/>
          <p:cNvSpPr/>
          <p:nvPr/>
        </p:nvSpPr>
        <p:spPr>
          <a:xfrm>
            <a:off x="7726680" y="4709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1" name="icon-501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4834890"/>
            <a:ext cx="251460" cy="251460"/>
          </a:xfrm>
          <a:prstGeom prst="rect">
            <a:avLst/>
          </a:prstGeom>
        </p:spPr>
      </p:pic>
      <p:sp>
        <p:nvSpPr>
          <p:cNvPr id="62" name="text-502"/>
          <p:cNvSpPr txBox="1"/>
          <p:nvPr/>
        </p:nvSpPr>
        <p:spPr>
          <a:xfrm>
            <a:off x="8412480" y="4745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跨端复用</a:t>
            </a:r>
            <a:endParaRPr lang="en-US" sz="1600" dirty="0"/>
          </a:p>
        </p:txBody>
      </p:sp>
      <p:sp>
        <p:nvSpPr>
          <p:cNvPr id="63" name="text-503"/>
          <p:cNvSpPr txBox="1"/>
          <p:nvPr/>
        </p:nvSpPr>
        <p:spPr>
          <a:xfrm>
            <a:off x="8412480" y="51663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uni-app（Vue 3）一套代码编译为微信小程序与 H5，监控大屏和工业 PC 浏览器可直接复用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权限模型：RBAC 角色 + 数据范围双重控制</a:t>
            </a:r>
            <a:endParaRPr lang="en-US" sz="3200" dirty="0"/>
          </a:p>
        </p:txBody>
      </p:sp>
      <p:graphicFrame>
        <p:nvGraphicFramePr>
          <p:cNvPr id="12" name="table-5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64592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功能 \ 角色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患者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医护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管理员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上传图片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本人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代拍上传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查看历史图像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本人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负责 / 本科室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只读审计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实时监控墙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本科室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全院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评估标注 · 处置记录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采样策略配置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本科室调整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全局模板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用户与角色管理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数采端设备管理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-505"/>
          <p:cNvSpPr txBox="1"/>
          <p:nvPr/>
        </p:nvSpPr>
        <p:spPr>
          <a:xfrm>
            <a:off x="548640" y="54864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医护可再细分：护士（上传、查看）· 医生（+评估、调策略）· 科主任（+全科统计）</a:t>
            </a:r>
            <a:endParaRPr lang="en-US" sz="1300" dirty="0"/>
          </a:p>
        </p:txBody>
      </p:sp>
      <p:sp>
        <p:nvSpPr>
          <p:cNvPr id="6" name="rbac-card-506"/>
          <p:cNvSpPr/>
          <p:nvPr/>
        </p:nvSpPr>
        <p:spPr>
          <a:xfrm>
            <a:off x="7863840" y="1508760"/>
            <a:ext cx="37764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7" name="icon-bg-507"/>
          <p:cNvSpPr/>
          <p:nvPr/>
        </p:nvSpPr>
        <p:spPr>
          <a:xfrm>
            <a:off x="8092440" y="1709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508" descr="FaUserC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740" y="1824228"/>
            <a:ext cx="228600" cy="228600"/>
          </a:xfrm>
          <a:prstGeom prst="rect">
            <a:avLst/>
          </a:prstGeom>
        </p:spPr>
      </p:pic>
      <p:sp>
        <p:nvSpPr>
          <p:cNvPr id="9" name="text-509"/>
          <p:cNvSpPr txBox="1"/>
          <p:nvPr/>
        </p:nvSpPr>
        <p:spPr>
          <a:xfrm>
            <a:off x="8686800" y="17099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角色可扩展</a:t>
            </a:r>
            <a:endParaRPr lang="en-US" sz="1600" dirty="0"/>
          </a:p>
        </p:txBody>
      </p:sp>
      <p:sp>
        <p:nvSpPr>
          <p:cNvPr id="10" name="text-510"/>
          <p:cNvSpPr txBox="1"/>
          <p:nvPr/>
        </p:nvSpPr>
        <p:spPr>
          <a:xfrm>
            <a:off x="8092440" y="2258568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新增角色 = 勾选权限点，无需改代码：护士长、科研人员、质检员…</a:t>
            </a:r>
            <a:endParaRPr lang="en-US" sz="1400" dirty="0"/>
          </a:p>
        </p:txBody>
      </p:sp>
      <p:sp>
        <p:nvSpPr>
          <p:cNvPr id="11" name="rbac-card-511"/>
          <p:cNvSpPr/>
          <p:nvPr/>
        </p:nvSpPr>
        <p:spPr>
          <a:xfrm>
            <a:off x="7863840" y="3154680"/>
            <a:ext cx="37764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2" name="icon-bg-512"/>
          <p:cNvSpPr/>
          <p:nvPr/>
        </p:nvSpPr>
        <p:spPr>
          <a:xfrm>
            <a:off x="8092440" y="3355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513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3470148"/>
            <a:ext cx="228600" cy="228600"/>
          </a:xfrm>
          <a:prstGeom prst="rect">
            <a:avLst/>
          </a:prstGeom>
        </p:spPr>
      </p:pic>
      <p:sp>
        <p:nvSpPr>
          <p:cNvPr id="14" name="text-514"/>
          <p:cNvSpPr txBox="1"/>
          <p:nvPr/>
        </p:nvSpPr>
        <p:spPr>
          <a:xfrm>
            <a:off x="8686800" y="33558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数据范围分级</a:t>
            </a:r>
            <a:endParaRPr lang="en-US" sz="1600" dirty="0"/>
          </a:p>
        </p:txBody>
      </p:sp>
      <p:sp>
        <p:nvSpPr>
          <p:cNvPr id="15" name="text-515"/>
          <p:cNvSpPr txBox="1"/>
          <p:nvPr/>
        </p:nvSpPr>
        <p:spPr>
          <a:xfrm>
            <a:off x="8092440" y="3904488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本人 → 本组 → 本科室 → 全院；工业场景对应 工位 → 产线 → 全厂</a:t>
            </a:r>
            <a:endParaRPr lang="en-US" sz="1400" dirty="0"/>
          </a:p>
        </p:txBody>
      </p:sp>
      <p:sp>
        <p:nvSpPr>
          <p:cNvPr id="16" name="rbac-card-516"/>
          <p:cNvSpPr/>
          <p:nvPr/>
        </p:nvSpPr>
        <p:spPr>
          <a:xfrm>
            <a:off x="7863840" y="4800600"/>
            <a:ext cx="37764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icon-bg-517"/>
          <p:cNvSpPr/>
          <p:nvPr/>
        </p:nvSpPr>
        <p:spPr>
          <a:xfrm>
            <a:off x="8092440" y="5001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518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5116068"/>
            <a:ext cx="228600" cy="228600"/>
          </a:xfrm>
          <a:prstGeom prst="rect">
            <a:avLst/>
          </a:prstGeom>
        </p:spPr>
      </p:pic>
      <p:sp>
        <p:nvSpPr>
          <p:cNvPr id="19" name="text-519"/>
          <p:cNvSpPr txBox="1"/>
          <p:nvPr/>
        </p:nvSpPr>
        <p:spPr>
          <a:xfrm>
            <a:off x="8686800" y="500176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权限点示例</a:t>
            </a:r>
            <a:endParaRPr lang="en-US" sz="1600" dirty="0"/>
          </a:p>
        </p:txBody>
      </p:sp>
      <p:sp>
        <p:nvSpPr>
          <p:cNvPr id="20" name="text-520"/>
          <p:cNvSpPr txBox="1"/>
          <p:nvPr/>
        </p:nvSpPr>
        <p:spPr>
          <a:xfrm>
            <a:off x="8092440" y="555040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sample:upload   sample:read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wall:view   review:write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user:manage   edge:manage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核心流程：从建档到预警的业务闭环</a:t>
            </a:r>
            <a:endParaRPr lang="en-US" sz="3200" dirty="0"/>
          </a:p>
        </p:txBody>
      </p:sp>
      <p:sp>
        <p:nvSpPr>
          <p:cNvPr id="4" name="connector-521"/>
          <p:cNvSpPr/>
          <p:nvPr/>
        </p:nvSpPr>
        <p:spPr>
          <a:xfrm>
            <a:off x="1340902" y="1920240"/>
            <a:ext cx="7922623" cy="0"/>
          </a:xfrm>
          <a:prstGeom prst="line">
            <a:avLst/>
          </a:prstGeom>
          <a:noFill/>
          <a:ln w="254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" name="connector-522"/>
          <p:cNvSpPr/>
          <p:nvPr/>
        </p:nvSpPr>
        <p:spPr>
          <a:xfrm>
            <a:off x="9263525" y="1920240"/>
            <a:ext cx="1584525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6" name="step-523"/>
          <p:cNvSpPr/>
          <p:nvPr/>
        </p:nvSpPr>
        <p:spPr>
          <a:xfrm>
            <a:off x="975142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7" name="text-524"/>
          <p:cNvSpPr txBox="1"/>
          <p:nvPr/>
        </p:nvSpPr>
        <p:spPr>
          <a:xfrm>
            <a:off x="97514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-525"/>
          <p:cNvSpPr txBox="1"/>
          <p:nvPr/>
        </p:nvSpPr>
        <p:spPr>
          <a:xfrm>
            <a:off x="594360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建档</a:t>
            </a:r>
            <a:endParaRPr lang="en-US" sz="1600" dirty="0"/>
          </a:p>
        </p:txBody>
      </p:sp>
      <p:sp>
        <p:nvSpPr>
          <p:cNvPr id="9" name="text-526"/>
          <p:cNvSpPr txBox="1"/>
          <p:nvPr/>
        </p:nvSpPr>
        <p:spPr>
          <a:xfrm>
            <a:off x="676656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护士创建监测任务，录入手术时间 T0，生成绑定二维码</a:t>
            </a:r>
            <a:endParaRPr lang="en-US" sz="1400" dirty="0"/>
          </a:p>
        </p:txBody>
      </p:sp>
      <p:sp>
        <p:nvSpPr>
          <p:cNvPr id="10" name="step-527"/>
          <p:cNvSpPr/>
          <p:nvPr/>
        </p:nvSpPr>
        <p:spPr>
          <a:xfrm>
            <a:off x="2559667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-528"/>
          <p:cNvSpPr txBox="1"/>
          <p:nvPr/>
        </p:nvSpPr>
        <p:spPr>
          <a:xfrm>
            <a:off x="2559667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-529"/>
          <p:cNvSpPr txBox="1"/>
          <p:nvPr/>
        </p:nvSpPr>
        <p:spPr>
          <a:xfrm>
            <a:off x="2178885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绑定</a:t>
            </a:r>
            <a:endParaRPr lang="en-US" sz="1600" dirty="0"/>
          </a:p>
        </p:txBody>
      </p:sp>
      <p:sp>
        <p:nvSpPr>
          <p:cNvPr id="13" name="text-530"/>
          <p:cNvSpPr txBox="1"/>
          <p:nvPr/>
        </p:nvSpPr>
        <p:spPr>
          <a:xfrm>
            <a:off x="2261181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患者微信扫码，阅读并同意隐私条款</a:t>
            </a:r>
            <a:endParaRPr lang="en-US" sz="1400" dirty="0"/>
          </a:p>
        </p:txBody>
      </p:sp>
      <p:sp>
        <p:nvSpPr>
          <p:cNvPr id="14" name="step-531"/>
          <p:cNvSpPr/>
          <p:nvPr/>
        </p:nvSpPr>
        <p:spPr>
          <a:xfrm>
            <a:off x="4144191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-532"/>
          <p:cNvSpPr txBox="1"/>
          <p:nvPr/>
        </p:nvSpPr>
        <p:spPr>
          <a:xfrm>
            <a:off x="414419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-533"/>
          <p:cNvSpPr txBox="1"/>
          <p:nvPr/>
        </p:nvSpPr>
        <p:spPr>
          <a:xfrm>
            <a:off x="3763409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排程</a:t>
            </a:r>
            <a:endParaRPr lang="en-US" sz="1600" dirty="0"/>
          </a:p>
        </p:txBody>
      </p:sp>
      <p:sp>
        <p:nvSpPr>
          <p:cNvPr id="17" name="text-534"/>
          <p:cNvSpPr txBox="1"/>
          <p:nvPr/>
        </p:nvSpPr>
        <p:spPr>
          <a:xfrm>
            <a:off x="3845705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按采样策略自动生成上传时间表</a:t>
            </a:r>
            <a:endParaRPr lang="en-US" sz="1400" dirty="0"/>
          </a:p>
        </p:txBody>
      </p:sp>
      <p:sp>
        <p:nvSpPr>
          <p:cNvPr id="18" name="step-535"/>
          <p:cNvSpPr/>
          <p:nvPr/>
        </p:nvSpPr>
        <p:spPr>
          <a:xfrm>
            <a:off x="5728716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9" name="text-536"/>
          <p:cNvSpPr txBox="1"/>
          <p:nvPr/>
        </p:nvSpPr>
        <p:spPr>
          <a:xfrm>
            <a:off x="572871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-537"/>
          <p:cNvSpPr txBox="1"/>
          <p:nvPr/>
        </p:nvSpPr>
        <p:spPr>
          <a:xfrm>
            <a:off x="5347934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提醒</a:t>
            </a:r>
            <a:endParaRPr lang="en-US" sz="1600" dirty="0"/>
          </a:p>
        </p:txBody>
      </p:sp>
      <p:sp>
        <p:nvSpPr>
          <p:cNvPr id="21" name="text-538"/>
          <p:cNvSpPr txBox="1"/>
          <p:nvPr/>
        </p:nvSpPr>
        <p:spPr>
          <a:xfrm>
            <a:off x="5430230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到点推送订阅消息；超时未传通知责任护士</a:t>
            </a:r>
            <a:endParaRPr lang="en-US" sz="1400" dirty="0"/>
          </a:p>
        </p:txBody>
      </p:sp>
      <p:sp>
        <p:nvSpPr>
          <p:cNvPr id="22" name="step-539"/>
          <p:cNvSpPr/>
          <p:nvPr/>
        </p:nvSpPr>
        <p:spPr>
          <a:xfrm>
            <a:off x="7313241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3" name="text-540"/>
          <p:cNvSpPr txBox="1"/>
          <p:nvPr/>
        </p:nvSpPr>
        <p:spPr>
          <a:xfrm>
            <a:off x="731324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-541"/>
          <p:cNvSpPr txBox="1"/>
          <p:nvPr/>
        </p:nvSpPr>
        <p:spPr>
          <a:xfrm>
            <a:off x="6932458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上传</a:t>
            </a:r>
            <a:endParaRPr lang="en-US" sz="1600" dirty="0"/>
          </a:p>
        </p:txBody>
      </p:sp>
      <p:sp>
        <p:nvSpPr>
          <p:cNvPr id="25" name="text-542"/>
          <p:cNvSpPr txBox="1"/>
          <p:nvPr/>
        </p:nvSpPr>
        <p:spPr>
          <a:xfrm>
            <a:off x="7014754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引导拍照 → 质量检查 → 压缩并生成缩略图 → 入库</a:t>
            </a:r>
            <a:endParaRPr lang="en-US" sz="1400" dirty="0"/>
          </a:p>
        </p:txBody>
      </p:sp>
      <p:sp>
        <p:nvSpPr>
          <p:cNvPr id="26" name="step-543"/>
          <p:cNvSpPr/>
          <p:nvPr/>
        </p:nvSpPr>
        <p:spPr>
          <a:xfrm>
            <a:off x="8897765" y="155448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7" name="text-544"/>
          <p:cNvSpPr txBox="1"/>
          <p:nvPr/>
        </p:nvSpPr>
        <p:spPr>
          <a:xfrm>
            <a:off x="8897765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8" name="text-545"/>
          <p:cNvSpPr txBox="1"/>
          <p:nvPr/>
        </p:nvSpPr>
        <p:spPr>
          <a:xfrm>
            <a:off x="8516983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查看</a:t>
            </a:r>
            <a:endParaRPr lang="en-US" sz="1600" dirty="0"/>
          </a:p>
        </p:txBody>
      </p:sp>
      <p:sp>
        <p:nvSpPr>
          <p:cNvPr id="29" name="text-546"/>
          <p:cNvSpPr txBox="1"/>
          <p:nvPr/>
        </p:nvSpPr>
        <p:spPr>
          <a:xfrm>
            <a:off x="8599279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监控墙实时刷新；医生查看、对比并评估</a:t>
            </a:r>
            <a:endParaRPr lang="en-US" sz="1400" dirty="0"/>
          </a:p>
        </p:txBody>
      </p:sp>
      <p:sp>
        <p:nvSpPr>
          <p:cNvPr id="30" name="step-547"/>
          <p:cNvSpPr/>
          <p:nvPr/>
        </p:nvSpPr>
        <p:spPr>
          <a:xfrm>
            <a:off x="10482290" y="1554480"/>
            <a:ext cx="731520" cy="73152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1" name="text-548"/>
          <p:cNvSpPr txBox="1"/>
          <p:nvPr/>
        </p:nvSpPr>
        <p:spPr>
          <a:xfrm>
            <a:off x="1048229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32" name="text-549"/>
          <p:cNvSpPr txBox="1"/>
          <p:nvPr/>
        </p:nvSpPr>
        <p:spPr>
          <a:xfrm>
            <a:off x="10101507" y="2423160"/>
            <a:ext cx="1493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AI 分析</a:t>
            </a:r>
            <a:endParaRPr lang="en-US" sz="1600" dirty="0"/>
          </a:p>
        </p:txBody>
      </p:sp>
      <p:sp>
        <p:nvSpPr>
          <p:cNvPr id="33" name="text-550"/>
          <p:cNvSpPr txBox="1"/>
          <p:nvPr/>
        </p:nvSpPr>
        <p:spPr>
          <a:xfrm>
            <a:off x="10183803" y="2834640"/>
            <a:ext cx="132849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预留：输出风险评分，超过阈值自动告警</a:t>
            </a:r>
            <a:endParaRPr lang="en-US" sz="1400" dirty="0"/>
          </a:p>
        </p:txBody>
      </p:sp>
      <p:sp>
        <p:nvSpPr>
          <p:cNvPr id="34" name="flywheel-551"/>
          <p:cNvSpPr/>
          <p:nvPr/>
        </p:nvSpPr>
        <p:spPr>
          <a:xfrm>
            <a:off x="548640" y="4343400"/>
            <a:ext cx="1109167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5" name="text-552"/>
          <p:cNvSpPr txBox="1"/>
          <p:nvPr/>
        </p:nvSpPr>
        <p:spPr>
          <a:xfrm>
            <a:off x="822960" y="4498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数据飞轮：一期积累，二期见效</a:t>
            </a:r>
            <a:endParaRPr lang="en-US" sz="1600" dirty="0"/>
          </a:p>
        </p:txBody>
      </p:sp>
      <p:sp>
        <p:nvSpPr>
          <p:cNvPr id="36" name="flywheel-chip-553"/>
          <p:cNvSpPr/>
          <p:nvPr/>
        </p:nvSpPr>
        <p:spPr>
          <a:xfrm>
            <a:off x="822960" y="5029200"/>
            <a:ext cx="1783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</p:spPr>
      </p:sp>
      <p:sp>
        <p:nvSpPr>
          <p:cNvPr id="37" name="text-554"/>
          <p:cNvSpPr txBox="1"/>
          <p:nvPr/>
        </p:nvSpPr>
        <p:spPr>
          <a:xfrm>
            <a:off x="822960" y="502920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医生评估标注</a:t>
            </a:r>
            <a:endParaRPr lang="en-US" sz="1400" dirty="0"/>
          </a:p>
        </p:txBody>
      </p:sp>
      <p:sp>
        <p:nvSpPr>
          <p:cNvPr id="38" name="connector-555"/>
          <p:cNvSpPr/>
          <p:nvPr/>
        </p:nvSpPr>
        <p:spPr>
          <a:xfrm>
            <a:off x="2679192" y="5330952"/>
            <a:ext cx="2606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flywheel-chip-556"/>
          <p:cNvSpPr/>
          <p:nvPr/>
        </p:nvSpPr>
        <p:spPr>
          <a:xfrm>
            <a:off x="3012948" y="5029200"/>
            <a:ext cx="1783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</p:spPr>
      </p:sp>
      <p:sp>
        <p:nvSpPr>
          <p:cNvPr id="40" name="text-557"/>
          <p:cNvSpPr txBox="1"/>
          <p:nvPr/>
        </p:nvSpPr>
        <p:spPr>
          <a:xfrm>
            <a:off x="3012948" y="502920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带标签数据集</a:t>
            </a:r>
            <a:endParaRPr lang="en-US" sz="1400" dirty="0"/>
          </a:p>
        </p:txBody>
      </p:sp>
      <p:sp>
        <p:nvSpPr>
          <p:cNvPr id="41" name="connector-558"/>
          <p:cNvSpPr/>
          <p:nvPr/>
        </p:nvSpPr>
        <p:spPr>
          <a:xfrm>
            <a:off x="4869180" y="5330952"/>
            <a:ext cx="2606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flywheel-chip-559"/>
          <p:cNvSpPr/>
          <p:nvPr/>
        </p:nvSpPr>
        <p:spPr>
          <a:xfrm>
            <a:off x="5202936" y="5029200"/>
            <a:ext cx="1783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</p:spPr>
      </p:sp>
      <p:sp>
        <p:nvSpPr>
          <p:cNvPr id="43" name="text-560"/>
          <p:cNvSpPr txBox="1"/>
          <p:nvPr/>
        </p:nvSpPr>
        <p:spPr>
          <a:xfrm>
            <a:off x="5202936" y="502920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训练 / 迭代模型</a:t>
            </a:r>
            <a:endParaRPr lang="en-US" sz="1400" dirty="0"/>
          </a:p>
        </p:txBody>
      </p:sp>
      <p:sp>
        <p:nvSpPr>
          <p:cNvPr id="44" name="connector-561"/>
          <p:cNvSpPr/>
          <p:nvPr/>
        </p:nvSpPr>
        <p:spPr>
          <a:xfrm>
            <a:off x="7059168" y="5330952"/>
            <a:ext cx="2606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5" name="flywheel-chip-562"/>
          <p:cNvSpPr/>
          <p:nvPr/>
        </p:nvSpPr>
        <p:spPr>
          <a:xfrm>
            <a:off x="7392924" y="5029200"/>
            <a:ext cx="1783080" cy="603504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/>
        </p:spPr>
      </p:sp>
      <p:sp>
        <p:nvSpPr>
          <p:cNvPr id="46" name="text-563"/>
          <p:cNvSpPr txBox="1"/>
          <p:nvPr/>
        </p:nvSpPr>
        <p:spPr>
          <a:xfrm>
            <a:off x="7392924" y="502920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辅助提示</a:t>
            </a:r>
            <a:endParaRPr lang="en-US" sz="1400" dirty="0"/>
          </a:p>
        </p:txBody>
      </p:sp>
      <p:sp>
        <p:nvSpPr>
          <p:cNvPr id="47" name="connector-564"/>
          <p:cNvSpPr/>
          <p:nvPr/>
        </p:nvSpPr>
        <p:spPr>
          <a:xfrm>
            <a:off x="9249156" y="5330952"/>
            <a:ext cx="2606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8" name="flywheel-chip-565"/>
          <p:cNvSpPr/>
          <p:nvPr/>
        </p:nvSpPr>
        <p:spPr>
          <a:xfrm>
            <a:off x="9582912" y="5029200"/>
            <a:ext cx="178308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</p:spPr>
      </p:sp>
      <p:sp>
        <p:nvSpPr>
          <p:cNvPr id="49" name="text-566"/>
          <p:cNvSpPr txBox="1"/>
          <p:nvPr/>
        </p:nvSpPr>
        <p:spPr>
          <a:xfrm>
            <a:off x="9582912" y="502920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医生复核反馈</a:t>
            </a:r>
            <a:endParaRPr lang="en-US" sz="1400" dirty="0"/>
          </a:p>
        </p:txBody>
      </p:sp>
      <p:sp>
        <p:nvSpPr>
          <p:cNvPr id="50" name="text-567"/>
          <p:cNvSpPr txBox="1"/>
          <p:nvPr/>
        </p:nvSpPr>
        <p:spPr>
          <a:xfrm>
            <a:off x="822960" y="58064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AI 只做辅助提示，诊疗判断始终由医生作出；医生的每次复核都会回流为新的标注数据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采样策略引擎：频率可配置，不写死在代码里</a:t>
            </a:r>
            <a:endParaRPr lang="en-US" sz="3200" dirty="0"/>
          </a:p>
        </p:txBody>
      </p:sp>
      <p:graphicFrame>
        <p:nvGraphicFramePr>
          <p:cNvPr id="4" name="chart-daily-568" descr=""/>
          <p:cNvGraphicFramePr/>
          <p:nvPr/>
        </p:nvGraphicFramePr>
        <p:xfrm>
          <a:off x="548640" y="1508760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gend-key-569"/>
          <p:cNvSpPr/>
          <p:nvPr/>
        </p:nvSpPr>
        <p:spPr>
          <a:xfrm>
            <a:off x="777240" y="473659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-570"/>
          <p:cNvSpPr txBox="1"/>
          <p:nvPr/>
        </p:nvSpPr>
        <p:spPr>
          <a:xfrm>
            <a:off x="1024128" y="4663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术后 0–72 h：每 1 小时一次（每天 24 次）</a:t>
            </a:r>
            <a:endParaRPr lang="en-US" sz="1300" dirty="0"/>
          </a:p>
        </p:txBody>
      </p:sp>
      <p:sp>
        <p:nvSpPr>
          <p:cNvPr id="7" name="legend-key-571"/>
          <p:cNvSpPr/>
          <p:nvPr/>
        </p:nvSpPr>
        <p:spPr>
          <a:xfrm>
            <a:off x="777240" y="5065776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-572"/>
          <p:cNvSpPr txBox="1"/>
          <p:nvPr/>
        </p:nvSpPr>
        <p:spPr>
          <a:xfrm>
            <a:off x="1024128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72 h 之后：每 4 小时一次（每天 6 次）</a:t>
            </a:r>
            <a:endParaRPr lang="en-US" sz="1300" dirty="0"/>
          </a:p>
        </p:txBody>
      </p:sp>
      <p:sp>
        <p:nvSpPr>
          <p:cNvPr id="9" name="icon-bg-573"/>
          <p:cNvSpPr/>
          <p:nvPr/>
        </p:nvSpPr>
        <p:spPr>
          <a:xfrm>
            <a:off x="548640" y="548640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574" descr="Fa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596128"/>
            <a:ext cx="219456" cy="219456"/>
          </a:xfrm>
          <a:prstGeom prst="rect">
            <a:avLst/>
          </a:prstGeom>
        </p:spPr>
      </p:pic>
      <p:sp>
        <p:nvSpPr>
          <p:cNvPr id="11" name="text-575"/>
          <p:cNvSpPr txBox="1"/>
          <p:nvPr/>
        </p:nvSpPr>
        <p:spPr>
          <a:xfrm>
            <a:off x="1143000" y="5413248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提醒通道：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微信订阅消息为一次性授权 → 每次上传成功后引导订阅下一次；备用短信 / 护士站大屏</a:t>
            </a:r>
            <a:endParaRPr lang="en-US" sz="1400" dirty="0"/>
          </a:p>
        </p:txBody>
      </p:sp>
      <p:sp>
        <p:nvSpPr>
          <p:cNvPr id="12" name="text-576"/>
          <p:cNvSpPr txBox="1"/>
          <p:nvPr/>
        </p:nvSpPr>
        <p:spPr>
          <a:xfrm>
            <a:off x="6629400" y="150876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策略配置示例（领域包内的 JSON）</a:t>
            </a:r>
            <a:endParaRPr lang="en-US" sz="1400" dirty="0"/>
          </a:p>
        </p:txBody>
      </p:sp>
      <p:sp>
        <p:nvSpPr>
          <p:cNvPr id="13" name="code-577"/>
          <p:cNvSpPr/>
          <p:nvPr/>
        </p:nvSpPr>
        <p:spPr>
          <a:xfrm>
            <a:off x="6629400" y="1874520"/>
            <a:ext cx="5010912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14" name="text-578"/>
          <p:cNvSpPr txBox="1"/>
          <p:nvPr/>
        </p:nvSpPr>
        <p:spPr>
          <a:xfrm>
            <a:off x="6812280" y="1984248"/>
            <a:ext cx="46451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"policy": "FLAP_DEFAULT",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"anchor": "surgeryEndTime",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"rules": [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"from": "0h",  "to": "72h", "every": "1h" },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"from": "72h", "to": "end", "every": "4h" }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"graceMinutes": 15,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"escalate": ["patient", "nurse", "doctor"]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icon-bg-579"/>
          <p:cNvSpPr/>
          <p:nvPr/>
        </p:nvSpPr>
        <p:spPr>
          <a:xfrm>
            <a:off x="6629400" y="42153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580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4315968"/>
            <a:ext cx="201168" cy="201168"/>
          </a:xfrm>
          <a:prstGeom prst="rect">
            <a:avLst/>
          </a:prstGeom>
        </p:spPr>
      </p:pic>
      <p:sp>
        <p:nvSpPr>
          <p:cNvPr id="17" name="text-581"/>
          <p:cNvSpPr txBox="1"/>
          <p:nvPr/>
        </p:nvSpPr>
        <p:spPr>
          <a:xfrm>
            <a:off x="7178040" y="416052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时间窗与升级：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允许 ±15 分钟；超时依次提醒患者 → 责任护士 → 主治医生</a:t>
            </a:r>
            <a:endParaRPr lang="en-US" sz="1400" dirty="0"/>
          </a:p>
        </p:txBody>
      </p:sp>
      <p:sp>
        <p:nvSpPr>
          <p:cNvPr id="18" name="icon-bg-582"/>
          <p:cNvSpPr/>
          <p:nvPr/>
        </p:nvSpPr>
        <p:spPr>
          <a:xfrm>
            <a:off x="6629400" y="4910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583" descr="FaSlider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5010912"/>
            <a:ext cx="201168" cy="201168"/>
          </a:xfrm>
          <a:prstGeom prst="rect">
            <a:avLst/>
          </a:prstGeom>
        </p:spPr>
      </p:pic>
      <p:sp>
        <p:nvSpPr>
          <p:cNvPr id="20" name="text-584"/>
          <p:cNvSpPr txBox="1"/>
          <p:nvPr/>
        </p:nvSpPr>
        <p:spPr>
          <a:xfrm>
            <a:off x="7178040" y="4855464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个体化调整：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发现可疑时，医生可将单个患者临时改为每 30 分钟一次</a:t>
            </a:r>
            <a:endParaRPr lang="en-US" sz="1400" dirty="0"/>
          </a:p>
        </p:txBody>
      </p:sp>
      <p:sp>
        <p:nvSpPr>
          <p:cNvPr id="21" name="icon-bg-585"/>
          <p:cNvSpPr/>
          <p:nvPr/>
        </p:nvSpPr>
        <p:spPr>
          <a:xfrm>
            <a:off x="6629400" y="5605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586" descr="FaIndust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5705856"/>
            <a:ext cx="201168" cy="201168"/>
          </a:xfrm>
          <a:prstGeom prst="rect">
            <a:avLst/>
          </a:prstGeom>
        </p:spPr>
      </p:pic>
      <p:sp>
        <p:nvSpPr>
          <p:cNvPr id="23" name="text-587"/>
          <p:cNvSpPr txBox="1"/>
          <p:nvPr/>
        </p:nvSpPr>
        <p:spPr>
          <a:xfrm>
            <a:off x="7178040" y="5550408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工业复用：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同一引擎按节拍、班次或批次触发采集任务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实时监控墙：像车辆监控一样一屏看全病区</a:t>
            </a:r>
            <a:endParaRPr lang="en-US" sz="3200" dirty="0"/>
          </a:p>
        </p:txBody>
      </p:sp>
      <p:sp>
        <p:nvSpPr>
          <p:cNvPr id="4" name="wall-588"/>
          <p:cNvSpPr/>
          <p:nvPr/>
        </p:nvSpPr>
        <p:spPr>
          <a:xfrm>
            <a:off x="548640" y="1508760"/>
            <a:ext cx="685800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5" name="text-589"/>
          <p:cNvSpPr txBox="1"/>
          <p:nvPr/>
        </p:nvSpPr>
        <p:spPr>
          <a:xfrm>
            <a:off x="77724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骨科二病区 · 监控墙</a:t>
            </a:r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在监 12 人</a:t>
            </a:r>
            <a:endParaRPr lang="en-US" sz="1200" dirty="0"/>
          </a:p>
        </p:txBody>
      </p:sp>
      <p:sp>
        <p:nvSpPr>
          <p:cNvPr id="6" name="text-590"/>
          <p:cNvSpPr txBox="1"/>
          <p:nvPr/>
        </p:nvSpPr>
        <p:spPr>
          <a:xfrm>
            <a:off x="3246120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● </a:t>
            </a:r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正常 8   </a:t>
            </a:r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● </a:t>
            </a:r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临近 2   </a:t>
            </a:r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● </a:t>
            </a:r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超时 1   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● </a:t>
            </a:r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AI 预警 1</a:t>
            </a:r>
            <a:endParaRPr lang="en-US" sz="1200" dirty="0"/>
          </a:p>
        </p:txBody>
      </p:sp>
      <p:sp>
        <p:nvSpPr>
          <p:cNvPr id="7" name="tile-591"/>
          <p:cNvSpPr/>
          <p:nvPr/>
        </p:nvSpPr>
        <p:spPr>
          <a:xfrm>
            <a:off x="777240" y="21031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8" name="thumb-592"/>
          <p:cNvSpPr/>
          <p:nvPr/>
        </p:nvSpPr>
        <p:spPr>
          <a:xfrm>
            <a:off x="850392" y="21762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9" name="thumb-icon-593" descr="图片缩略图占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745" y="2395728"/>
            <a:ext cx="274320" cy="274320"/>
          </a:xfrm>
          <a:prstGeom prst="rect">
            <a:avLst/>
          </a:prstGeom>
        </p:spPr>
      </p:pic>
      <p:sp>
        <p:nvSpPr>
          <p:cNvPr id="10" name="status-dot-594"/>
          <p:cNvSpPr/>
          <p:nvPr/>
        </p:nvSpPr>
        <p:spPr>
          <a:xfrm>
            <a:off x="2000250" y="2231136"/>
            <a:ext cx="137160" cy="1371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-595"/>
          <p:cNvSpPr txBox="1"/>
          <p:nvPr/>
        </p:nvSpPr>
        <p:spPr>
          <a:xfrm>
            <a:off x="868680" y="29260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12床 张*</a:t>
            </a:r>
            <a:endParaRPr lang="en-US" sz="1100" dirty="0"/>
          </a:p>
        </p:txBody>
      </p:sp>
      <p:sp>
        <p:nvSpPr>
          <p:cNvPr id="12" name="text-596"/>
          <p:cNvSpPr txBox="1"/>
          <p:nvPr/>
        </p:nvSpPr>
        <p:spPr>
          <a:xfrm>
            <a:off x="868680" y="31089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AI：疑似静脉危象</a:t>
            </a:r>
            <a:endParaRPr lang="en-US" sz="1000" dirty="0"/>
          </a:p>
        </p:txBody>
      </p:sp>
      <p:sp>
        <p:nvSpPr>
          <p:cNvPr id="13" name="tile-597"/>
          <p:cNvSpPr/>
          <p:nvPr/>
        </p:nvSpPr>
        <p:spPr>
          <a:xfrm>
            <a:off x="2411730" y="21031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thumb-598"/>
          <p:cNvSpPr/>
          <p:nvPr/>
        </p:nvSpPr>
        <p:spPr>
          <a:xfrm>
            <a:off x="2484882" y="21762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15" name="thumb-icon-599" descr="图片缩略图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235" y="2395728"/>
            <a:ext cx="274320" cy="274320"/>
          </a:xfrm>
          <a:prstGeom prst="rect">
            <a:avLst/>
          </a:prstGeom>
        </p:spPr>
      </p:pic>
      <p:sp>
        <p:nvSpPr>
          <p:cNvPr id="16" name="status-dot-600"/>
          <p:cNvSpPr/>
          <p:nvPr/>
        </p:nvSpPr>
        <p:spPr>
          <a:xfrm>
            <a:off x="3634740" y="22311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-601"/>
          <p:cNvSpPr txBox="1"/>
          <p:nvPr/>
        </p:nvSpPr>
        <p:spPr>
          <a:xfrm>
            <a:off x="2503170" y="29260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7床 李*</a:t>
            </a:r>
            <a:endParaRPr lang="en-US" sz="1100" dirty="0"/>
          </a:p>
        </p:txBody>
      </p:sp>
      <p:sp>
        <p:nvSpPr>
          <p:cNvPr id="18" name="text-602"/>
          <p:cNvSpPr txBox="1"/>
          <p:nvPr/>
        </p:nvSpPr>
        <p:spPr>
          <a:xfrm>
            <a:off x="2503170" y="31089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已超时 18 分钟</a:t>
            </a:r>
            <a:endParaRPr lang="en-US" sz="1000" dirty="0"/>
          </a:p>
        </p:txBody>
      </p:sp>
      <p:sp>
        <p:nvSpPr>
          <p:cNvPr id="19" name="tile-603"/>
          <p:cNvSpPr/>
          <p:nvPr/>
        </p:nvSpPr>
        <p:spPr>
          <a:xfrm>
            <a:off x="4046220" y="21031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0" name="thumb-604"/>
          <p:cNvSpPr/>
          <p:nvPr/>
        </p:nvSpPr>
        <p:spPr>
          <a:xfrm>
            <a:off x="4119372" y="21762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21" name="thumb-icon-605" descr="图片缩略图占位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395728"/>
            <a:ext cx="274320" cy="274320"/>
          </a:xfrm>
          <a:prstGeom prst="rect">
            <a:avLst/>
          </a:prstGeom>
        </p:spPr>
      </p:pic>
      <p:sp>
        <p:nvSpPr>
          <p:cNvPr id="22" name="status-dot-606"/>
          <p:cNvSpPr/>
          <p:nvPr/>
        </p:nvSpPr>
        <p:spPr>
          <a:xfrm>
            <a:off x="5269230" y="22311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-607"/>
          <p:cNvSpPr txBox="1"/>
          <p:nvPr/>
        </p:nvSpPr>
        <p:spPr>
          <a:xfrm>
            <a:off x="4137660" y="29260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3床 王*</a:t>
            </a:r>
            <a:endParaRPr lang="en-US" sz="1100" dirty="0"/>
          </a:p>
        </p:txBody>
      </p:sp>
      <p:sp>
        <p:nvSpPr>
          <p:cNvPr id="24" name="text-608"/>
          <p:cNvSpPr txBox="1"/>
          <p:nvPr/>
        </p:nvSpPr>
        <p:spPr>
          <a:xfrm>
            <a:off x="4137660" y="31089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3 分钟后到期</a:t>
            </a:r>
            <a:endParaRPr lang="en-US" sz="1000" dirty="0"/>
          </a:p>
        </p:txBody>
      </p:sp>
      <p:sp>
        <p:nvSpPr>
          <p:cNvPr id="25" name="tile-609"/>
          <p:cNvSpPr/>
          <p:nvPr/>
        </p:nvSpPr>
        <p:spPr>
          <a:xfrm>
            <a:off x="5680710" y="21031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6" name="thumb-610"/>
          <p:cNvSpPr/>
          <p:nvPr/>
        </p:nvSpPr>
        <p:spPr>
          <a:xfrm>
            <a:off x="5753862" y="21762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27" name="thumb-icon-611" descr="图片缩略图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215" y="2395728"/>
            <a:ext cx="274320" cy="274320"/>
          </a:xfrm>
          <a:prstGeom prst="rect">
            <a:avLst/>
          </a:prstGeom>
        </p:spPr>
      </p:pic>
      <p:sp>
        <p:nvSpPr>
          <p:cNvPr id="28" name="status-dot-612"/>
          <p:cNvSpPr/>
          <p:nvPr/>
        </p:nvSpPr>
        <p:spPr>
          <a:xfrm>
            <a:off x="6903720" y="22311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text-613"/>
          <p:cNvSpPr txBox="1"/>
          <p:nvPr/>
        </p:nvSpPr>
        <p:spPr>
          <a:xfrm>
            <a:off x="5772150" y="29260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15床 赵*</a:t>
            </a:r>
            <a:endParaRPr lang="en-US" sz="1100" dirty="0"/>
          </a:p>
        </p:txBody>
      </p:sp>
      <p:sp>
        <p:nvSpPr>
          <p:cNvPr id="30" name="text-614"/>
          <p:cNvSpPr txBox="1"/>
          <p:nvPr/>
        </p:nvSpPr>
        <p:spPr>
          <a:xfrm>
            <a:off x="5772150" y="31089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6 分钟后到期</a:t>
            </a:r>
            <a:endParaRPr lang="en-US" sz="1000" dirty="0"/>
          </a:p>
        </p:txBody>
      </p:sp>
      <p:sp>
        <p:nvSpPr>
          <p:cNvPr id="31" name="tile-615"/>
          <p:cNvSpPr/>
          <p:nvPr/>
        </p:nvSpPr>
        <p:spPr>
          <a:xfrm>
            <a:off x="777240" y="34747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humb-616"/>
          <p:cNvSpPr/>
          <p:nvPr/>
        </p:nvSpPr>
        <p:spPr>
          <a:xfrm>
            <a:off x="850392" y="35478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33" name="thumb-icon-617" descr="图片缩略图占位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745" y="3767328"/>
            <a:ext cx="274320" cy="274320"/>
          </a:xfrm>
          <a:prstGeom prst="rect">
            <a:avLst/>
          </a:prstGeom>
        </p:spPr>
      </p:pic>
      <p:sp>
        <p:nvSpPr>
          <p:cNvPr id="34" name="status-dot-618"/>
          <p:cNvSpPr/>
          <p:nvPr/>
        </p:nvSpPr>
        <p:spPr>
          <a:xfrm>
            <a:off x="2000250" y="36027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text-619"/>
          <p:cNvSpPr txBox="1"/>
          <p:nvPr/>
        </p:nvSpPr>
        <p:spPr>
          <a:xfrm>
            <a:off x="868680" y="42976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1床 陈*</a:t>
            </a:r>
            <a:endParaRPr lang="en-US" sz="1100" dirty="0"/>
          </a:p>
        </p:txBody>
      </p:sp>
      <p:sp>
        <p:nvSpPr>
          <p:cNvPr id="36" name="text-620"/>
          <p:cNvSpPr txBox="1"/>
          <p:nvPr/>
        </p:nvSpPr>
        <p:spPr>
          <a:xfrm>
            <a:off x="868680" y="44805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23 分钟后</a:t>
            </a:r>
            <a:endParaRPr lang="en-US" sz="1000" dirty="0"/>
          </a:p>
        </p:txBody>
      </p:sp>
      <p:sp>
        <p:nvSpPr>
          <p:cNvPr id="37" name="tile-621"/>
          <p:cNvSpPr/>
          <p:nvPr/>
        </p:nvSpPr>
        <p:spPr>
          <a:xfrm>
            <a:off x="2411730" y="34747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humb-622"/>
          <p:cNvSpPr/>
          <p:nvPr/>
        </p:nvSpPr>
        <p:spPr>
          <a:xfrm>
            <a:off x="2484882" y="35478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39" name="thumb-icon-623" descr="图片缩略图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3235" y="3767328"/>
            <a:ext cx="274320" cy="274320"/>
          </a:xfrm>
          <a:prstGeom prst="rect">
            <a:avLst/>
          </a:prstGeom>
        </p:spPr>
      </p:pic>
      <p:sp>
        <p:nvSpPr>
          <p:cNvPr id="40" name="status-dot-624"/>
          <p:cNvSpPr/>
          <p:nvPr/>
        </p:nvSpPr>
        <p:spPr>
          <a:xfrm>
            <a:off x="3634740" y="36027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1" name="text-625"/>
          <p:cNvSpPr txBox="1"/>
          <p:nvPr/>
        </p:nvSpPr>
        <p:spPr>
          <a:xfrm>
            <a:off x="2503170" y="42976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2床 刘*</a:t>
            </a:r>
            <a:endParaRPr lang="en-US" sz="1100" dirty="0"/>
          </a:p>
        </p:txBody>
      </p:sp>
      <p:sp>
        <p:nvSpPr>
          <p:cNvPr id="42" name="text-626"/>
          <p:cNvSpPr txBox="1"/>
          <p:nvPr/>
        </p:nvSpPr>
        <p:spPr>
          <a:xfrm>
            <a:off x="2503170" y="44805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31 分钟后</a:t>
            </a:r>
            <a:endParaRPr lang="en-US" sz="1000" dirty="0"/>
          </a:p>
        </p:txBody>
      </p:sp>
      <p:sp>
        <p:nvSpPr>
          <p:cNvPr id="43" name="tile-627"/>
          <p:cNvSpPr/>
          <p:nvPr/>
        </p:nvSpPr>
        <p:spPr>
          <a:xfrm>
            <a:off x="4046220" y="34747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humb-628"/>
          <p:cNvSpPr/>
          <p:nvPr/>
        </p:nvSpPr>
        <p:spPr>
          <a:xfrm>
            <a:off x="4119372" y="35478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45" name="thumb-icon-629" descr="图片缩略图占位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725" y="3767328"/>
            <a:ext cx="274320" cy="274320"/>
          </a:xfrm>
          <a:prstGeom prst="rect">
            <a:avLst/>
          </a:prstGeom>
        </p:spPr>
      </p:pic>
      <p:sp>
        <p:nvSpPr>
          <p:cNvPr id="46" name="status-dot-630"/>
          <p:cNvSpPr/>
          <p:nvPr/>
        </p:nvSpPr>
        <p:spPr>
          <a:xfrm>
            <a:off x="5269230" y="36027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7" name="text-631"/>
          <p:cNvSpPr txBox="1"/>
          <p:nvPr/>
        </p:nvSpPr>
        <p:spPr>
          <a:xfrm>
            <a:off x="4137660" y="42976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5床 杨*</a:t>
            </a:r>
            <a:endParaRPr lang="en-US" sz="1100" dirty="0"/>
          </a:p>
        </p:txBody>
      </p:sp>
      <p:sp>
        <p:nvSpPr>
          <p:cNvPr id="48" name="text-632"/>
          <p:cNvSpPr txBox="1"/>
          <p:nvPr/>
        </p:nvSpPr>
        <p:spPr>
          <a:xfrm>
            <a:off x="4137660" y="44805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40 分钟后</a:t>
            </a:r>
            <a:endParaRPr lang="en-US" sz="1000" dirty="0"/>
          </a:p>
        </p:txBody>
      </p:sp>
      <p:sp>
        <p:nvSpPr>
          <p:cNvPr id="49" name="tile-633"/>
          <p:cNvSpPr/>
          <p:nvPr/>
        </p:nvSpPr>
        <p:spPr>
          <a:xfrm>
            <a:off x="5680710" y="34747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0" name="thumb-634"/>
          <p:cNvSpPr/>
          <p:nvPr/>
        </p:nvSpPr>
        <p:spPr>
          <a:xfrm>
            <a:off x="5753862" y="35478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51" name="thumb-icon-635" descr="图片缩略图占位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2215" y="3767328"/>
            <a:ext cx="274320" cy="274320"/>
          </a:xfrm>
          <a:prstGeom prst="rect">
            <a:avLst/>
          </a:prstGeom>
        </p:spPr>
      </p:pic>
      <p:sp>
        <p:nvSpPr>
          <p:cNvPr id="52" name="status-dot-636"/>
          <p:cNvSpPr/>
          <p:nvPr/>
        </p:nvSpPr>
        <p:spPr>
          <a:xfrm>
            <a:off x="6903720" y="36027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3" name="text-637"/>
          <p:cNvSpPr txBox="1"/>
          <p:nvPr/>
        </p:nvSpPr>
        <p:spPr>
          <a:xfrm>
            <a:off x="5772150" y="42976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8床 黄*</a:t>
            </a:r>
            <a:endParaRPr lang="en-US" sz="1100" dirty="0"/>
          </a:p>
        </p:txBody>
      </p:sp>
      <p:sp>
        <p:nvSpPr>
          <p:cNvPr id="54" name="text-638"/>
          <p:cNvSpPr txBox="1"/>
          <p:nvPr/>
        </p:nvSpPr>
        <p:spPr>
          <a:xfrm>
            <a:off x="5772150" y="44805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46 分钟后</a:t>
            </a:r>
            <a:endParaRPr lang="en-US" sz="1000" dirty="0"/>
          </a:p>
        </p:txBody>
      </p:sp>
      <p:sp>
        <p:nvSpPr>
          <p:cNvPr id="55" name="tile-639"/>
          <p:cNvSpPr/>
          <p:nvPr/>
        </p:nvSpPr>
        <p:spPr>
          <a:xfrm>
            <a:off x="777240" y="48463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6" name="thumb-640"/>
          <p:cNvSpPr/>
          <p:nvPr/>
        </p:nvSpPr>
        <p:spPr>
          <a:xfrm>
            <a:off x="850392" y="49194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57" name="thumb-icon-641" descr="图片缩略图占位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8745" y="5138928"/>
            <a:ext cx="274320" cy="274320"/>
          </a:xfrm>
          <a:prstGeom prst="rect">
            <a:avLst/>
          </a:prstGeom>
        </p:spPr>
      </p:pic>
      <p:sp>
        <p:nvSpPr>
          <p:cNvPr id="58" name="status-dot-642"/>
          <p:cNvSpPr/>
          <p:nvPr/>
        </p:nvSpPr>
        <p:spPr>
          <a:xfrm>
            <a:off x="2000250" y="49743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9" name="text-643"/>
          <p:cNvSpPr txBox="1"/>
          <p:nvPr/>
        </p:nvSpPr>
        <p:spPr>
          <a:xfrm>
            <a:off x="868680" y="56692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9床 周*</a:t>
            </a:r>
            <a:endParaRPr lang="en-US" sz="1100" dirty="0"/>
          </a:p>
        </p:txBody>
      </p:sp>
      <p:sp>
        <p:nvSpPr>
          <p:cNvPr id="60" name="text-644"/>
          <p:cNvSpPr txBox="1"/>
          <p:nvPr/>
        </p:nvSpPr>
        <p:spPr>
          <a:xfrm>
            <a:off x="868680" y="58521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1 小时后</a:t>
            </a:r>
            <a:endParaRPr lang="en-US" sz="1000" dirty="0"/>
          </a:p>
        </p:txBody>
      </p:sp>
      <p:sp>
        <p:nvSpPr>
          <p:cNvPr id="61" name="tile-645"/>
          <p:cNvSpPr/>
          <p:nvPr/>
        </p:nvSpPr>
        <p:spPr>
          <a:xfrm>
            <a:off x="2411730" y="48463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2" name="thumb-646"/>
          <p:cNvSpPr/>
          <p:nvPr/>
        </p:nvSpPr>
        <p:spPr>
          <a:xfrm>
            <a:off x="2484882" y="49194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63" name="thumb-icon-647" descr="图片缩略图占位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3235" y="5138928"/>
            <a:ext cx="274320" cy="274320"/>
          </a:xfrm>
          <a:prstGeom prst="rect">
            <a:avLst/>
          </a:prstGeom>
        </p:spPr>
      </p:pic>
      <p:sp>
        <p:nvSpPr>
          <p:cNvPr id="64" name="status-dot-648"/>
          <p:cNvSpPr/>
          <p:nvPr/>
        </p:nvSpPr>
        <p:spPr>
          <a:xfrm>
            <a:off x="3634740" y="49743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5" name="text-649"/>
          <p:cNvSpPr txBox="1"/>
          <p:nvPr/>
        </p:nvSpPr>
        <p:spPr>
          <a:xfrm>
            <a:off x="2503170" y="56692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10床 吴*</a:t>
            </a:r>
            <a:endParaRPr lang="en-US" sz="1100" dirty="0"/>
          </a:p>
        </p:txBody>
      </p:sp>
      <p:sp>
        <p:nvSpPr>
          <p:cNvPr id="66" name="text-650"/>
          <p:cNvSpPr txBox="1"/>
          <p:nvPr/>
        </p:nvSpPr>
        <p:spPr>
          <a:xfrm>
            <a:off x="2503170" y="58521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2 小时后</a:t>
            </a:r>
            <a:endParaRPr lang="en-US" sz="1000" dirty="0"/>
          </a:p>
        </p:txBody>
      </p:sp>
      <p:sp>
        <p:nvSpPr>
          <p:cNvPr id="67" name="tile-651"/>
          <p:cNvSpPr/>
          <p:nvPr/>
        </p:nvSpPr>
        <p:spPr>
          <a:xfrm>
            <a:off x="4046220" y="48463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8" name="thumb-652"/>
          <p:cNvSpPr/>
          <p:nvPr/>
        </p:nvSpPr>
        <p:spPr>
          <a:xfrm>
            <a:off x="4119372" y="49194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69" name="thumb-icon-653" descr="图片缩略图占位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7725" y="5138928"/>
            <a:ext cx="274320" cy="274320"/>
          </a:xfrm>
          <a:prstGeom prst="rect">
            <a:avLst/>
          </a:prstGeom>
        </p:spPr>
      </p:pic>
      <p:sp>
        <p:nvSpPr>
          <p:cNvPr id="70" name="status-dot-654"/>
          <p:cNvSpPr/>
          <p:nvPr/>
        </p:nvSpPr>
        <p:spPr>
          <a:xfrm>
            <a:off x="5269230" y="49743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1" name="text-655"/>
          <p:cNvSpPr txBox="1"/>
          <p:nvPr/>
        </p:nvSpPr>
        <p:spPr>
          <a:xfrm>
            <a:off x="4137660" y="56692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11床 徐*</a:t>
            </a:r>
            <a:endParaRPr lang="en-US" sz="1100" dirty="0"/>
          </a:p>
        </p:txBody>
      </p:sp>
      <p:sp>
        <p:nvSpPr>
          <p:cNvPr id="72" name="text-656"/>
          <p:cNvSpPr txBox="1"/>
          <p:nvPr/>
        </p:nvSpPr>
        <p:spPr>
          <a:xfrm>
            <a:off x="4137660" y="58521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3 小时后</a:t>
            </a:r>
            <a:endParaRPr lang="en-US" sz="1000" dirty="0"/>
          </a:p>
        </p:txBody>
      </p:sp>
      <p:sp>
        <p:nvSpPr>
          <p:cNvPr id="73" name="tile-657"/>
          <p:cNvSpPr/>
          <p:nvPr/>
        </p:nvSpPr>
        <p:spPr>
          <a:xfrm>
            <a:off x="5680710" y="4846320"/>
            <a:ext cx="1497330" cy="123444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4" name="thumb-658"/>
          <p:cNvSpPr/>
          <p:nvPr/>
        </p:nvSpPr>
        <p:spPr>
          <a:xfrm>
            <a:off x="5753862" y="4919472"/>
            <a:ext cx="1351026" cy="713232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pic>
        <p:nvPicPr>
          <p:cNvPr id="75" name="thumb-icon-659" descr="图片缩略图占位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2215" y="5138928"/>
            <a:ext cx="274320" cy="274320"/>
          </a:xfrm>
          <a:prstGeom prst="rect">
            <a:avLst/>
          </a:prstGeom>
        </p:spPr>
      </p:pic>
      <p:sp>
        <p:nvSpPr>
          <p:cNvPr id="76" name="status-dot-660"/>
          <p:cNvSpPr/>
          <p:nvPr/>
        </p:nvSpPr>
        <p:spPr>
          <a:xfrm>
            <a:off x="6903720" y="497433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7" name="text-661"/>
          <p:cNvSpPr txBox="1"/>
          <p:nvPr/>
        </p:nvSpPr>
        <p:spPr>
          <a:xfrm>
            <a:off x="5772150" y="5669280"/>
            <a:ext cx="1314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16床 孙*</a:t>
            </a:r>
            <a:endParaRPr lang="en-US" sz="1100" dirty="0"/>
          </a:p>
        </p:txBody>
      </p:sp>
      <p:sp>
        <p:nvSpPr>
          <p:cNvPr id="78" name="text-662"/>
          <p:cNvSpPr txBox="1"/>
          <p:nvPr/>
        </p:nvSpPr>
        <p:spPr>
          <a:xfrm>
            <a:off x="5772150" y="5852160"/>
            <a:ext cx="1314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下次 · 3 小时后</a:t>
            </a:r>
            <a:endParaRPr lang="en-US" sz="1000" dirty="0"/>
          </a:p>
        </p:txBody>
      </p:sp>
      <p:sp>
        <p:nvSpPr>
          <p:cNvPr id="79" name="icon-bg-663"/>
          <p:cNvSpPr/>
          <p:nvPr/>
        </p:nvSpPr>
        <p:spPr>
          <a:xfrm>
            <a:off x="7726680" y="1527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0" name="icon-664" descr="FaLayerGroup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0980" y="1641348"/>
            <a:ext cx="228600" cy="228600"/>
          </a:xfrm>
          <a:prstGeom prst="rect">
            <a:avLst/>
          </a:prstGeom>
        </p:spPr>
      </p:pic>
      <p:sp>
        <p:nvSpPr>
          <p:cNvPr id="81" name="text-665"/>
          <p:cNvSpPr txBox="1"/>
          <p:nvPr/>
        </p:nvSpPr>
        <p:spPr>
          <a:xfrm>
            <a:off x="836676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宫格布局</a:t>
            </a:r>
            <a:endParaRPr lang="en-US" sz="1600" dirty="0"/>
          </a:p>
        </p:txBody>
      </p:sp>
      <p:sp>
        <p:nvSpPr>
          <p:cNvPr id="82" name="text-666"/>
          <p:cNvSpPr txBox="1"/>
          <p:nvPr/>
        </p:nvSpPr>
        <p:spPr>
          <a:xfrm>
            <a:off x="8366760" y="189280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/ 9 / 16 宫格切换；异常患者自动置顶并高亮</a:t>
            </a:r>
            <a:endParaRPr lang="en-US" sz="1400" dirty="0"/>
          </a:p>
        </p:txBody>
      </p:sp>
      <p:sp>
        <p:nvSpPr>
          <p:cNvPr id="83" name="icon-bg-667"/>
          <p:cNvSpPr/>
          <p:nvPr/>
        </p:nvSpPr>
        <p:spPr>
          <a:xfrm>
            <a:off x="7726680" y="2642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4" name="icon-668" descr="FaBol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0980" y="2756916"/>
            <a:ext cx="228600" cy="228600"/>
          </a:xfrm>
          <a:prstGeom prst="rect">
            <a:avLst/>
          </a:prstGeom>
        </p:spPr>
      </p:pic>
      <p:sp>
        <p:nvSpPr>
          <p:cNvPr id="85" name="text-669"/>
          <p:cNvSpPr txBox="1"/>
          <p:nvPr/>
        </p:nvSpPr>
        <p:spPr>
          <a:xfrm>
            <a:off x="8366760" y="2624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实时推送</a:t>
            </a:r>
            <a:endParaRPr lang="en-US" sz="1600" dirty="0"/>
          </a:p>
        </p:txBody>
      </p:sp>
      <p:sp>
        <p:nvSpPr>
          <p:cNvPr id="86" name="text-670"/>
          <p:cNvSpPr txBox="1"/>
          <p:nvPr/>
        </p:nvSpPr>
        <p:spPr>
          <a:xfrm>
            <a:off x="8366760" y="3008376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WebSocket 推送新图片与状态变化，秒级刷新</a:t>
            </a:r>
            <a:endParaRPr lang="en-US" sz="1400" dirty="0"/>
          </a:p>
        </p:txBody>
      </p:sp>
      <p:sp>
        <p:nvSpPr>
          <p:cNvPr id="87" name="icon-bg-671"/>
          <p:cNvSpPr/>
          <p:nvPr/>
        </p:nvSpPr>
        <p:spPr>
          <a:xfrm>
            <a:off x="7726680" y="3758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8" name="icon-672" descr="FaHistory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0980" y="3872484"/>
            <a:ext cx="228600" cy="228600"/>
          </a:xfrm>
          <a:prstGeom prst="rect">
            <a:avLst/>
          </a:prstGeom>
        </p:spPr>
      </p:pic>
      <p:sp>
        <p:nvSpPr>
          <p:cNvPr id="89" name="text-673"/>
          <p:cNvSpPr txBox="1"/>
          <p:nvPr/>
        </p:nvSpPr>
        <p:spPr>
          <a:xfrm>
            <a:off x="8366760" y="37398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一键下钻</a:t>
            </a:r>
            <a:endParaRPr lang="en-US" sz="1600" dirty="0"/>
          </a:p>
        </p:txBody>
      </p:sp>
      <p:sp>
        <p:nvSpPr>
          <p:cNvPr id="90" name="text-674"/>
          <p:cNvSpPr txBox="1"/>
          <p:nvPr/>
        </p:nvSpPr>
        <p:spPr>
          <a:xfrm>
            <a:off x="8366760" y="4123944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点击宫格进入患者详情：时间轴、前后对比、评估</a:t>
            </a:r>
            <a:endParaRPr lang="en-US" sz="1400" dirty="0"/>
          </a:p>
        </p:txBody>
      </p:sp>
      <p:sp>
        <p:nvSpPr>
          <p:cNvPr id="91" name="icon-bg-675"/>
          <p:cNvSpPr/>
          <p:nvPr/>
        </p:nvSpPr>
        <p:spPr>
          <a:xfrm>
            <a:off x="7726680" y="487375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2" name="icon-676" descr="FaVide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40980" y="4988052"/>
            <a:ext cx="228600" cy="228600"/>
          </a:xfrm>
          <a:prstGeom prst="rect">
            <a:avLst/>
          </a:prstGeom>
        </p:spPr>
      </p:pic>
      <p:sp>
        <p:nvSpPr>
          <p:cNvPr id="93" name="text-677"/>
          <p:cNvSpPr txBox="1"/>
          <p:nvPr/>
        </p:nvSpPr>
        <p:spPr>
          <a:xfrm>
            <a:off x="8366760" y="48554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演进路线</a:t>
            </a:r>
            <a:endParaRPr lang="en-US" sz="1600" dirty="0"/>
          </a:p>
        </p:txBody>
      </p:sp>
      <p:sp>
        <p:nvSpPr>
          <p:cNvPr id="94" name="text-678"/>
          <p:cNvSpPr txBox="1"/>
          <p:nvPr/>
        </p:nvSpPr>
        <p:spPr>
          <a:xfrm>
            <a:off x="8366760" y="5239512"/>
            <a:ext cx="3273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一期：准实时快照墙；二期：接入床旁摄像头实时视频（RTSP / GB28181 → WebRTC），与工业视频监控共用流媒体服务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数采端（边缘代理）：Windows / Linux 通用</a:t>
            </a:r>
            <a:endParaRPr lang="en-US" sz="3200" dirty="0"/>
          </a:p>
        </p:txBody>
      </p:sp>
      <p:sp>
        <p:nvSpPr>
          <p:cNvPr id="4" name="stage-679"/>
          <p:cNvSpPr/>
          <p:nvPr/>
        </p:nvSpPr>
        <p:spPr>
          <a:xfrm>
            <a:off x="548640" y="1508760"/>
            <a:ext cx="1962302" cy="242316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/>
        </p:spPr>
      </p:sp>
      <p:sp>
        <p:nvSpPr>
          <p:cNvPr id="5" name="icon-bg-680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681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251460" cy="251460"/>
          </a:xfrm>
          <a:prstGeom prst="rect">
            <a:avLst/>
          </a:prstGeom>
        </p:spPr>
      </p:pic>
      <p:sp>
        <p:nvSpPr>
          <p:cNvPr id="7" name="text-682"/>
          <p:cNvSpPr txBox="1"/>
          <p:nvPr/>
        </p:nvSpPr>
        <p:spPr>
          <a:xfrm>
            <a:off x="731520" y="22860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采集驱动</a:t>
            </a:r>
            <a:endParaRPr lang="en-US" sz="1600" dirty="0"/>
          </a:p>
        </p:txBody>
      </p:sp>
      <p:sp>
        <p:nvSpPr>
          <p:cNvPr id="8" name="text-683"/>
          <p:cNvSpPr txBox="1"/>
          <p:nvPr/>
        </p:nvSpPr>
        <p:spPr>
          <a:xfrm>
            <a:off x="731520" y="2697480"/>
            <a:ext cx="16879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USB 摄像头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网络摄像头 RTSP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工业相机 SDK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文件夹监听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PLC · 传感器</a:t>
            </a:r>
            <a:endParaRPr lang="en-US" sz="1300" dirty="0"/>
          </a:p>
        </p:txBody>
      </p:sp>
      <p:sp>
        <p:nvSpPr>
          <p:cNvPr id="9" name="connector-684"/>
          <p:cNvSpPr/>
          <p:nvPr/>
        </p:nvSpPr>
        <p:spPr>
          <a:xfrm>
            <a:off x="2547518" y="272034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tage-685"/>
          <p:cNvSpPr/>
          <p:nvPr/>
        </p:nvSpPr>
        <p:spPr>
          <a:xfrm>
            <a:off x="2830982" y="1508760"/>
            <a:ext cx="1962302" cy="242316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/>
        </p:spPr>
      </p:sp>
      <p:sp>
        <p:nvSpPr>
          <p:cNvPr id="11" name="icon-bg-686"/>
          <p:cNvSpPr/>
          <p:nvPr/>
        </p:nvSpPr>
        <p:spPr>
          <a:xfrm>
            <a:off x="3013862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687" descr="Fa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592" y="1817370"/>
            <a:ext cx="251460" cy="251460"/>
          </a:xfrm>
          <a:prstGeom prst="rect">
            <a:avLst/>
          </a:prstGeom>
        </p:spPr>
      </p:pic>
      <p:sp>
        <p:nvSpPr>
          <p:cNvPr id="13" name="text-688"/>
          <p:cNvSpPr txBox="1"/>
          <p:nvPr/>
        </p:nvSpPr>
        <p:spPr>
          <a:xfrm>
            <a:off x="3013862" y="22860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预处理</a:t>
            </a:r>
            <a:endParaRPr lang="en-US" sz="1600" dirty="0"/>
          </a:p>
        </p:txBody>
      </p:sp>
      <p:sp>
        <p:nvSpPr>
          <p:cNvPr id="14" name="text-689"/>
          <p:cNvSpPr txBox="1"/>
          <p:nvPr/>
        </p:nvSpPr>
        <p:spPr>
          <a:xfrm>
            <a:off x="3013862" y="2697480"/>
            <a:ext cx="16879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模糊 / 曝光检测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重复帧去重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压缩 · 缩略图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时间戳水印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隐私区域遮挡</a:t>
            </a:r>
            <a:endParaRPr lang="en-US" sz="1300" dirty="0"/>
          </a:p>
        </p:txBody>
      </p:sp>
      <p:sp>
        <p:nvSpPr>
          <p:cNvPr id="15" name="connector-690"/>
          <p:cNvSpPr/>
          <p:nvPr/>
        </p:nvSpPr>
        <p:spPr>
          <a:xfrm>
            <a:off x="4829861" y="272034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tage-691"/>
          <p:cNvSpPr/>
          <p:nvPr/>
        </p:nvSpPr>
        <p:spPr>
          <a:xfrm>
            <a:off x="5113325" y="1508760"/>
            <a:ext cx="1962302" cy="242316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/>
        </p:spPr>
      </p:sp>
      <p:sp>
        <p:nvSpPr>
          <p:cNvPr id="17" name="icon-bg-692"/>
          <p:cNvSpPr/>
          <p:nvPr/>
        </p:nvSpPr>
        <p:spPr>
          <a:xfrm>
            <a:off x="5296205" y="169164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n-693" descr="Fa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935" y="1817370"/>
            <a:ext cx="251460" cy="251460"/>
          </a:xfrm>
          <a:prstGeom prst="rect">
            <a:avLst/>
          </a:prstGeom>
        </p:spPr>
      </p:pic>
      <p:sp>
        <p:nvSpPr>
          <p:cNvPr id="19" name="text-694"/>
          <p:cNvSpPr txBox="1"/>
          <p:nvPr/>
        </p:nvSpPr>
        <p:spPr>
          <a:xfrm>
            <a:off x="5296205" y="22860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本地推理</a:t>
            </a:r>
            <a:endParaRPr lang="en-US" sz="1600" dirty="0"/>
          </a:p>
        </p:txBody>
      </p:sp>
      <p:sp>
        <p:nvSpPr>
          <p:cNvPr id="20" name="text-695"/>
          <p:cNvSpPr txBox="1"/>
          <p:nvPr/>
        </p:nvSpPr>
        <p:spPr>
          <a:xfrm>
            <a:off x="5296205" y="2697480"/>
            <a:ext cx="16879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可选模块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ONNX Runtime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OpenVINO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弱网就地预警</a:t>
            </a:r>
            <a:endParaRPr lang="en-US" sz="1300" dirty="0"/>
          </a:p>
        </p:txBody>
      </p:sp>
      <p:sp>
        <p:nvSpPr>
          <p:cNvPr id="21" name="connector-696"/>
          <p:cNvSpPr/>
          <p:nvPr/>
        </p:nvSpPr>
        <p:spPr>
          <a:xfrm>
            <a:off x="7112203" y="272034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tage-697"/>
          <p:cNvSpPr/>
          <p:nvPr/>
        </p:nvSpPr>
        <p:spPr>
          <a:xfrm>
            <a:off x="7395667" y="1508760"/>
            <a:ext cx="1962302" cy="242316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/>
        </p:spPr>
      </p:sp>
      <p:sp>
        <p:nvSpPr>
          <p:cNvPr id="23" name="icon-bg-698"/>
          <p:cNvSpPr/>
          <p:nvPr/>
        </p:nvSpPr>
        <p:spPr>
          <a:xfrm>
            <a:off x="7578547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con-699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277" y="1817370"/>
            <a:ext cx="251460" cy="251460"/>
          </a:xfrm>
          <a:prstGeom prst="rect">
            <a:avLst/>
          </a:prstGeom>
        </p:spPr>
      </p:pic>
      <p:sp>
        <p:nvSpPr>
          <p:cNvPr id="25" name="text-700"/>
          <p:cNvSpPr txBox="1"/>
          <p:nvPr/>
        </p:nvSpPr>
        <p:spPr>
          <a:xfrm>
            <a:off x="7578547" y="22860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本地缓存</a:t>
            </a:r>
            <a:endParaRPr lang="en-US" sz="1600" dirty="0"/>
          </a:p>
        </p:txBody>
      </p:sp>
      <p:sp>
        <p:nvSpPr>
          <p:cNvPr id="26" name="text-701"/>
          <p:cNvSpPr txBox="1"/>
          <p:nvPr/>
        </p:nvSpPr>
        <p:spPr>
          <a:xfrm>
            <a:off x="7578547" y="2697480"/>
            <a:ext cx="16879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SQLite 任务队列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本地文件暂存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断网自动续传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容量滚动清理</a:t>
            </a:r>
            <a:endParaRPr lang="en-US" sz="1300" dirty="0"/>
          </a:p>
        </p:txBody>
      </p:sp>
      <p:sp>
        <p:nvSpPr>
          <p:cNvPr id="27" name="connector-702"/>
          <p:cNvSpPr/>
          <p:nvPr/>
        </p:nvSpPr>
        <p:spPr>
          <a:xfrm>
            <a:off x="9394546" y="2720340"/>
            <a:ext cx="2468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tage-703"/>
          <p:cNvSpPr/>
          <p:nvPr/>
        </p:nvSpPr>
        <p:spPr>
          <a:xfrm>
            <a:off x="9678010" y="1508760"/>
            <a:ext cx="1962302" cy="242316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/>
        </p:spPr>
      </p:sp>
      <p:sp>
        <p:nvSpPr>
          <p:cNvPr id="29" name="icon-bg-704"/>
          <p:cNvSpPr/>
          <p:nvPr/>
        </p:nvSpPr>
        <p:spPr>
          <a:xfrm>
            <a:off x="9860890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-705" descr="Fa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620" y="1817370"/>
            <a:ext cx="251460" cy="251460"/>
          </a:xfrm>
          <a:prstGeom prst="rect">
            <a:avLst/>
          </a:prstGeom>
        </p:spPr>
      </p:pic>
      <p:sp>
        <p:nvSpPr>
          <p:cNvPr id="31" name="text-706"/>
          <p:cNvSpPr txBox="1"/>
          <p:nvPr/>
        </p:nvSpPr>
        <p:spPr>
          <a:xfrm>
            <a:off x="9860890" y="22860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上行通道</a:t>
            </a:r>
            <a:endParaRPr lang="en-US" sz="1600" dirty="0"/>
          </a:p>
        </p:txBody>
      </p:sp>
      <p:sp>
        <p:nvSpPr>
          <p:cNvPr id="32" name="text-707"/>
          <p:cNvSpPr txBox="1"/>
          <p:nvPr/>
        </p:nvSpPr>
        <p:spPr>
          <a:xfrm>
            <a:off x="9860890" y="2697480"/>
            <a:ext cx="16879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HTTPS 批量上传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MQTT 消息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请求签名鉴权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失败重试退避</a:t>
            </a:r>
            <a:endParaRPr lang="en-US" sz="1300" dirty="0"/>
          </a:p>
        </p:txBody>
      </p:sp>
      <p:sp>
        <p:nvSpPr>
          <p:cNvPr id="33" name="text-708"/>
          <p:cNvSpPr txBox="1"/>
          <p:nvPr/>
        </p:nvSpPr>
        <p:spPr>
          <a:xfrm>
            <a:off x="548640" y="40233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实现：Node.js 主程序 + 驱动插件（厂商 SDK 以子进程 / gRPC 封装）；部署为 Windows 服务、Linux systemd 或 Docker</a:t>
            </a:r>
            <a:endParaRPr lang="en-US" sz="1200" dirty="0"/>
          </a:p>
        </p:txBody>
      </p:sp>
      <p:sp>
        <p:nvSpPr>
          <p:cNvPr id="34" name="mgmt-band-709"/>
          <p:cNvSpPr/>
          <p:nvPr/>
        </p:nvSpPr>
        <p:spPr>
          <a:xfrm>
            <a:off x="548640" y="4434840"/>
            <a:ext cx="11091672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5" name="icon-bg-710"/>
          <p:cNvSpPr/>
          <p:nvPr/>
        </p:nvSpPr>
        <p:spPr>
          <a:xfrm>
            <a:off x="713232" y="4517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711" descr="FaSync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4613148"/>
            <a:ext cx="192024" cy="192024"/>
          </a:xfrm>
          <a:prstGeom prst="rect">
            <a:avLst/>
          </a:prstGeom>
        </p:spPr>
      </p:pic>
      <p:sp>
        <p:nvSpPr>
          <p:cNvPr id="37" name="text-712"/>
          <p:cNvSpPr txBox="1"/>
          <p:nvPr/>
        </p:nvSpPr>
        <p:spPr>
          <a:xfrm>
            <a:off x="1234440" y="4434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远程管理（下行）：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设备注册 · 心跳上报 · 配置下发 · 远程升级（OTA）· 日志回传</a:t>
            </a:r>
            <a:endParaRPr lang="en-US" sz="1400" dirty="0"/>
          </a:p>
        </p:txBody>
      </p:sp>
      <p:sp>
        <p:nvSpPr>
          <p:cNvPr id="38" name="scenario-713"/>
          <p:cNvSpPr/>
          <p:nvPr/>
        </p:nvSpPr>
        <p:spPr>
          <a:xfrm>
            <a:off x="548640" y="5166360"/>
            <a:ext cx="540867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9" name="icon-bg-714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-715" descr="FaHospit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" y="5474970"/>
            <a:ext cx="251460" cy="251460"/>
          </a:xfrm>
          <a:prstGeom prst="rect">
            <a:avLst/>
          </a:prstGeom>
        </p:spPr>
      </p:pic>
      <p:sp>
        <p:nvSpPr>
          <p:cNvPr id="41" name="text-716"/>
          <p:cNvSpPr txBox="1"/>
          <p:nvPr/>
        </p:nvSpPr>
        <p:spPr>
          <a:xfrm>
            <a:off x="1463040" y="52578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医疗场景</a:t>
            </a:r>
            <a:endParaRPr lang="en-US" sz="1600" dirty="0"/>
          </a:p>
        </p:txBody>
      </p:sp>
      <p:sp>
        <p:nvSpPr>
          <p:cNvPr id="42" name="text-717"/>
          <p:cNvSpPr txBox="1"/>
          <p:nvPr/>
        </p:nvSpPr>
        <p:spPr>
          <a:xfrm>
            <a:off x="1463040" y="5596128"/>
            <a:ext cx="4311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病区护士站电脑 + 床旁摄像头，服务 ICU 或行动不便的患者；与手机上传共用同一接口</a:t>
            </a:r>
            <a:endParaRPr lang="en-US" sz="1400" dirty="0"/>
          </a:p>
        </p:txBody>
      </p:sp>
      <p:sp>
        <p:nvSpPr>
          <p:cNvPr id="43" name="scenario-718"/>
          <p:cNvSpPr/>
          <p:nvPr/>
        </p:nvSpPr>
        <p:spPr>
          <a:xfrm>
            <a:off x="6231636" y="5166360"/>
            <a:ext cx="540867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4" name="icon-bg-719"/>
          <p:cNvSpPr/>
          <p:nvPr/>
        </p:nvSpPr>
        <p:spPr>
          <a:xfrm>
            <a:off x="6460236" y="53492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5" name="icon-720" descr="FaIndust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966" y="5474970"/>
            <a:ext cx="251460" cy="251460"/>
          </a:xfrm>
          <a:prstGeom prst="rect">
            <a:avLst/>
          </a:prstGeom>
        </p:spPr>
      </p:pic>
      <p:sp>
        <p:nvSpPr>
          <p:cNvPr id="46" name="text-721"/>
          <p:cNvSpPr txBox="1"/>
          <p:nvPr/>
        </p:nvSpPr>
        <p:spPr>
          <a:xfrm>
            <a:off x="7146036" y="52578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工业场景</a:t>
            </a:r>
            <a:endParaRPr lang="en-US" sz="1600" dirty="0"/>
          </a:p>
        </p:txBody>
      </p:sp>
      <p:sp>
        <p:nvSpPr>
          <p:cNvPr id="47" name="text-722"/>
          <p:cNvSpPr txBox="1"/>
          <p:nvPr/>
        </p:nvSpPr>
        <p:spPr>
          <a:xfrm>
            <a:off x="7146036" y="5596128"/>
            <a:ext cx="4311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产线工控机 + 工业相机 / 传感器，断网自治、本地推理，结果汇聚到中心云平台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关键模块设计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预留接口：分析器插件化，模型可热插拔</a:t>
            </a:r>
            <a:endParaRPr lang="en-US" sz="3200" dirty="0"/>
          </a:p>
        </p:txBody>
      </p:sp>
      <p:sp>
        <p:nvSpPr>
          <p:cNvPr id="4" name="ai-flow-723"/>
          <p:cNvSpPr/>
          <p:nvPr/>
        </p:nvSpPr>
        <p:spPr>
          <a:xfrm>
            <a:off x="548640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5" name="text-724"/>
          <p:cNvSpPr txBox="1"/>
          <p:nvPr/>
        </p:nvSpPr>
        <p:spPr>
          <a:xfrm>
            <a:off x="594360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采样入库</a:t>
            </a:r>
            <a:endParaRPr lang="en-US" sz="1400" dirty="0"/>
          </a:p>
        </p:txBody>
      </p:sp>
      <p:sp>
        <p:nvSpPr>
          <p:cNvPr id="6" name="text-725"/>
          <p:cNvSpPr txBox="1"/>
          <p:nvPr/>
        </p:nvSpPr>
        <p:spPr>
          <a:xfrm>
            <a:off x="594360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图片 + 元数据</a:t>
            </a:r>
            <a:endParaRPr lang="en-US" sz="1100" dirty="0"/>
          </a:p>
        </p:txBody>
      </p:sp>
      <p:sp>
        <p:nvSpPr>
          <p:cNvPr id="7" name="connector-726"/>
          <p:cNvSpPr/>
          <p:nvPr/>
        </p:nvSpPr>
        <p:spPr>
          <a:xfrm>
            <a:off x="2205228" y="1883664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ai-flow-727"/>
          <p:cNvSpPr/>
          <p:nvPr/>
        </p:nvSpPr>
        <p:spPr>
          <a:xfrm>
            <a:off x="2442972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9" name="text-728"/>
          <p:cNvSpPr txBox="1"/>
          <p:nvPr/>
        </p:nvSpPr>
        <p:spPr>
          <a:xfrm>
            <a:off x="2488692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发布事件</a:t>
            </a:r>
            <a:endParaRPr lang="en-US" sz="1400" dirty="0"/>
          </a:p>
        </p:txBody>
      </p:sp>
      <p:sp>
        <p:nvSpPr>
          <p:cNvPr id="10" name="text-729"/>
          <p:cNvSpPr txBox="1"/>
          <p:nvPr/>
        </p:nvSpPr>
        <p:spPr>
          <a:xfrm>
            <a:off x="2488692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sample.created</a:t>
            </a:r>
            <a:endParaRPr lang="en-US" sz="1100" dirty="0"/>
          </a:p>
        </p:txBody>
      </p:sp>
      <p:sp>
        <p:nvSpPr>
          <p:cNvPr id="11" name="connector-730"/>
          <p:cNvSpPr/>
          <p:nvPr/>
        </p:nvSpPr>
        <p:spPr>
          <a:xfrm>
            <a:off x="4099560" y="1883664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ai-flow-731"/>
          <p:cNvSpPr/>
          <p:nvPr/>
        </p:nvSpPr>
        <p:spPr>
          <a:xfrm>
            <a:off x="4337304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13" name="text-732"/>
          <p:cNvSpPr txBox="1"/>
          <p:nvPr/>
        </p:nvSpPr>
        <p:spPr>
          <a:xfrm>
            <a:off x="4383024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AI 网关</a:t>
            </a:r>
            <a:endParaRPr lang="en-US" sz="1400" dirty="0"/>
          </a:p>
        </p:txBody>
      </p:sp>
      <p:sp>
        <p:nvSpPr>
          <p:cNvPr id="14" name="text-733"/>
          <p:cNvSpPr txBox="1"/>
          <p:nvPr/>
        </p:nvSpPr>
        <p:spPr>
          <a:xfrm>
            <a:off x="4383024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按领域 / 模型路由</a:t>
            </a:r>
            <a:endParaRPr lang="en-US" sz="1100" dirty="0"/>
          </a:p>
        </p:txBody>
      </p:sp>
      <p:sp>
        <p:nvSpPr>
          <p:cNvPr id="15" name="connector-734"/>
          <p:cNvSpPr/>
          <p:nvPr/>
        </p:nvSpPr>
        <p:spPr>
          <a:xfrm>
            <a:off x="5993892" y="1883664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i-flow-735"/>
          <p:cNvSpPr/>
          <p:nvPr/>
        </p:nvSpPr>
        <p:spPr>
          <a:xfrm>
            <a:off x="6231636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17" name="text-736"/>
          <p:cNvSpPr txBox="1"/>
          <p:nvPr/>
        </p:nvSpPr>
        <p:spPr>
          <a:xfrm>
            <a:off x="6277356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模型服务</a:t>
            </a:r>
            <a:endParaRPr lang="en-US" sz="1400" dirty="0"/>
          </a:p>
        </p:txBody>
      </p:sp>
      <p:sp>
        <p:nvSpPr>
          <p:cNvPr id="18" name="text-737"/>
          <p:cNvSpPr txBox="1"/>
          <p:nvPr/>
        </p:nvSpPr>
        <p:spPr>
          <a:xfrm>
            <a:off x="6277356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HTTP / gRPC</a:t>
            </a:r>
            <a:endParaRPr lang="en-US" sz="1100" dirty="0"/>
          </a:p>
        </p:txBody>
      </p:sp>
      <p:sp>
        <p:nvSpPr>
          <p:cNvPr id="19" name="connector-738"/>
          <p:cNvSpPr/>
          <p:nvPr/>
        </p:nvSpPr>
        <p:spPr>
          <a:xfrm>
            <a:off x="7888224" y="1883664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i-flow-739"/>
          <p:cNvSpPr/>
          <p:nvPr/>
        </p:nvSpPr>
        <p:spPr>
          <a:xfrm>
            <a:off x="8125968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1" name="text-740"/>
          <p:cNvSpPr txBox="1"/>
          <p:nvPr/>
        </p:nvSpPr>
        <p:spPr>
          <a:xfrm>
            <a:off x="8171688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结果回写</a:t>
            </a:r>
            <a:endParaRPr lang="en-US" sz="1400" dirty="0"/>
          </a:p>
        </p:txBody>
      </p:sp>
      <p:sp>
        <p:nvSpPr>
          <p:cNvPr id="22" name="text-741"/>
          <p:cNvSpPr txBox="1"/>
          <p:nvPr/>
        </p:nvSpPr>
        <p:spPr>
          <a:xfrm>
            <a:off x="8171688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inference 记录</a:t>
            </a:r>
            <a:endParaRPr lang="en-US" sz="1100" dirty="0"/>
          </a:p>
        </p:txBody>
      </p:sp>
      <p:sp>
        <p:nvSpPr>
          <p:cNvPr id="23" name="connector-742"/>
          <p:cNvSpPr/>
          <p:nvPr/>
        </p:nvSpPr>
        <p:spPr>
          <a:xfrm>
            <a:off x="9782556" y="1883664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i-flow-743"/>
          <p:cNvSpPr/>
          <p:nvPr/>
        </p:nvSpPr>
        <p:spPr>
          <a:xfrm>
            <a:off x="10020300" y="1508760"/>
            <a:ext cx="162001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text-744"/>
          <p:cNvSpPr txBox="1"/>
          <p:nvPr/>
        </p:nvSpPr>
        <p:spPr>
          <a:xfrm>
            <a:off x="10066020" y="1572768"/>
            <a:ext cx="15285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规则引擎</a:t>
            </a:r>
            <a:endParaRPr lang="en-US" sz="1400" dirty="0"/>
          </a:p>
        </p:txBody>
      </p:sp>
      <p:sp>
        <p:nvSpPr>
          <p:cNvPr id="26" name="text-745"/>
          <p:cNvSpPr txBox="1"/>
          <p:nvPr/>
        </p:nvSpPr>
        <p:spPr>
          <a:xfrm>
            <a:off x="10066020" y="1901952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告警 · 监控墙</a:t>
            </a:r>
            <a:endParaRPr lang="en-US" sz="1100" dirty="0"/>
          </a:p>
        </p:txBody>
      </p:sp>
      <p:sp>
        <p:nvSpPr>
          <p:cNvPr id="27" name="code-746"/>
          <p:cNvSpPr/>
          <p:nvPr/>
        </p:nvSpPr>
        <p:spPr>
          <a:xfrm>
            <a:off x="548640" y="2514600"/>
            <a:ext cx="598932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/>
        </p:spPr>
      </p:sp>
      <p:sp>
        <p:nvSpPr>
          <p:cNvPr id="28" name="text-747"/>
          <p:cNvSpPr txBox="1"/>
          <p:nvPr/>
        </p:nvSpPr>
        <p:spPr>
          <a:xfrm>
            <a:off x="731520" y="2633472"/>
            <a:ext cx="5669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分析请求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/ai/v1/analyze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"sampleId": "S20261028-0012",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"domain":   "medical.flap",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   "flap-risk@1.0",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"media":    { "type": "image", "url": "&lt;签名URL&gt;" },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"context":  { "hoursAfterSurgery": 26 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响应（同步返回，或异步回调 /api/v1/inferences）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"riskScore": 0.82, "level": "high",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"labels":  [{ "code": "VENOUS_CONGESTION", "conf": 0.79 }],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"metrics": { "color": 0.71, "texture": 0.40, "swelling": 0.66 },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"modelVersion": "1.0.3"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-748"/>
          <p:cNvSpPr txBox="1"/>
          <p:nvPr/>
        </p:nvSpPr>
        <p:spPr>
          <a:xfrm>
            <a:off x="548640" y="59436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AI 仅提供辅助提示，诊疗决策始终由医生作出</a:t>
            </a:r>
            <a:endParaRPr lang="en-US" sz="1200" dirty="0"/>
          </a:p>
        </p:txBody>
      </p:sp>
      <p:sp>
        <p:nvSpPr>
          <p:cNvPr id="30" name="ai-card-749"/>
          <p:cNvSpPr/>
          <p:nvPr/>
        </p:nvSpPr>
        <p:spPr>
          <a:xfrm>
            <a:off x="6812280" y="2514600"/>
            <a:ext cx="4828032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31" name="icon-bg-750"/>
          <p:cNvSpPr/>
          <p:nvPr/>
        </p:nvSpPr>
        <p:spPr>
          <a:xfrm>
            <a:off x="6995160" y="26974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2" name="icon-751" descr="FaPuzzle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2811780"/>
            <a:ext cx="228600" cy="228600"/>
          </a:xfrm>
          <a:prstGeom prst="rect">
            <a:avLst/>
          </a:prstGeom>
        </p:spPr>
      </p:pic>
      <p:sp>
        <p:nvSpPr>
          <p:cNvPr id="33" name="text-752"/>
          <p:cNvSpPr txBox="1"/>
          <p:nvPr/>
        </p:nvSpPr>
        <p:spPr>
          <a:xfrm>
            <a:off x="7589520" y="264261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统一分析器契约</a:t>
            </a:r>
            <a:endParaRPr lang="en-US" sz="1500" dirty="0"/>
          </a:p>
        </p:txBody>
      </p:sp>
      <p:sp>
        <p:nvSpPr>
          <p:cNvPr id="34" name="text-753"/>
          <p:cNvSpPr txBox="1"/>
          <p:nvPr/>
        </p:nvSpPr>
        <p:spPr>
          <a:xfrm>
            <a:off x="7589520" y="299008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输入采样与上下文，输出风险分、标签、指标、区域与模型版本；皮瓣与烟草共用</a:t>
            </a:r>
            <a:endParaRPr lang="en-US" sz="1400" dirty="0"/>
          </a:p>
        </p:txBody>
      </p:sp>
      <p:sp>
        <p:nvSpPr>
          <p:cNvPr id="35" name="ai-card-754"/>
          <p:cNvSpPr/>
          <p:nvPr/>
        </p:nvSpPr>
        <p:spPr>
          <a:xfrm>
            <a:off x="6812280" y="3675888"/>
            <a:ext cx="4828032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36" name="icon-bg-755"/>
          <p:cNvSpPr/>
          <p:nvPr/>
        </p:nvSpPr>
        <p:spPr>
          <a:xfrm>
            <a:off x="6995160" y="3858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7" name="icon-756" descr="FaProject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3973068"/>
            <a:ext cx="228600" cy="228600"/>
          </a:xfrm>
          <a:prstGeom prst="rect">
            <a:avLst/>
          </a:prstGeom>
        </p:spPr>
      </p:pic>
      <p:sp>
        <p:nvSpPr>
          <p:cNvPr id="38" name="text-757"/>
          <p:cNvSpPr txBox="1"/>
          <p:nvPr/>
        </p:nvSpPr>
        <p:spPr>
          <a:xfrm>
            <a:off x="7589520" y="380390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同步 / 异步两种模式</a:t>
            </a:r>
            <a:endParaRPr lang="en-US" sz="1500" dirty="0"/>
          </a:p>
        </p:txBody>
      </p:sp>
      <p:sp>
        <p:nvSpPr>
          <p:cNvPr id="39" name="text-758"/>
          <p:cNvSpPr txBox="1"/>
          <p:nvPr/>
        </p:nvSpPr>
        <p:spPr>
          <a:xfrm>
            <a:off x="7589520" y="4151376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轻量模型同步返回；重模型经队列异步回调；边缘端可运行同一 ONNX 模型</a:t>
            </a:r>
            <a:endParaRPr lang="en-US" sz="1400" dirty="0"/>
          </a:p>
        </p:txBody>
      </p:sp>
      <p:sp>
        <p:nvSpPr>
          <p:cNvPr id="40" name="ai-card-759"/>
          <p:cNvSpPr/>
          <p:nvPr/>
        </p:nvSpPr>
        <p:spPr>
          <a:xfrm>
            <a:off x="6812280" y="4837176"/>
            <a:ext cx="4828032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1" name="icon-bg-760"/>
          <p:cNvSpPr/>
          <p:nvPr/>
        </p:nvSpPr>
        <p:spPr>
          <a:xfrm>
            <a:off x="6995160" y="5020056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2" name="icon-761" descr="Fa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5134356"/>
            <a:ext cx="228600" cy="228600"/>
          </a:xfrm>
          <a:prstGeom prst="rect">
            <a:avLst/>
          </a:prstGeom>
        </p:spPr>
      </p:pic>
      <p:sp>
        <p:nvSpPr>
          <p:cNvPr id="43" name="text-762"/>
          <p:cNvSpPr txBox="1"/>
          <p:nvPr/>
        </p:nvSpPr>
        <p:spPr>
          <a:xfrm>
            <a:off x="7589520" y="49651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拍摄规范决定上限</a:t>
            </a:r>
            <a:endParaRPr lang="en-US" sz="1500" dirty="0"/>
          </a:p>
        </p:txBody>
      </p:sp>
      <p:sp>
        <p:nvSpPr>
          <p:cNvPr id="44" name="text-763"/>
          <p:cNvSpPr txBox="1"/>
          <p:nvPr/>
        </p:nvSpPr>
        <p:spPr>
          <a:xfrm>
            <a:off x="7589520" y="531266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固定距离与角度、引导框、标准色卡做颜色校正——一期就开始规范采集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技术与工程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技术选型：JavaScript 为主线，全栈统一</a:t>
            </a:r>
            <a:endParaRPr lang="en-US" sz="3200" dirty="0"/>
          </a:p>
        </p:txBody>
      </p:sp>
      <p:graphicFrame>
        <p:nvGraphicFramePr>
          <p:cNvPr id="18" name="table-7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551383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层次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选型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用户端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uni-app（Vue 3）+ uni-ui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JavaScript 技术栈；一套代码编译微信小程序 + H5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后台 / 大屏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Vue 3 + Vite + Element Plus + ECharts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与小程序同属 Vue 生态，组件与经验复用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业务后端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Node.js 20 LTS + NestJS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模块化 + 依赖注入；守卫实现 RBAC，便于插件化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数采端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Node.js + 驱动插件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Windows / Linux 同一份代码，可注册为系统服务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数据库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PostgreSQL 16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JSONB 存领域扩展字段；可加 TimescaleDB 存工业时序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缓存 / 队列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Redis + BullMQ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定时提醒、超时检测、异步任务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对象存储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MinIO / 腾讯云 COS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S3 兼容，私有化与公有云切换不改代码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物联 / 流媒体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EMQX（MQTT）· ZLMediaKit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预留：设备消息；RTSP / GB28181 转 WebRTC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AI 服务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+ FastAPI + ONNX Runtime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预留：模型生态在 Python，经 HTTP 与主体解耦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工程化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Compose · GitHub Actions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单机一键部署起步，CI 自动检查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-765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原则：主体 JavaScript（可渐进引入 TypeScript）；只有 AI 模型服务使用 Python，并通过 HTTP 接口与主体隔离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技术与工程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代码仓库：Monorepo 统一管理，模块边界清晰</a:t>
            </a:r>
            <a:endParaRPr lang="en-US" sz="3200" dirty="0"/>
          </a:p>
        </p:txBody>
      </p:sp>
      <p:sp>
        <p:nvSpPr>
          <p:cNvPr id="4" name="tree-card-766"/>
          <p:cNvSpPr/>
          <p:nvPr/>
        </p:nvSpPr>
        <p:spPr>
          <a:xfrm>
            <a:off x="548640" y="1508760"/>
            <a:ext cx="5806440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/>
        </p:spPr>
      </p:sp>
      <p:sp>
        <p:nvSpPr>
          <p:cNvPr id="5" name="tree-767"/>
          <p:cNvSpPr txBox="1"/>
          <p:nvPr/>
        </p:nvSpPr>
        <p:spPr>
          <a:xfrm>
            <a:off x="822960" y="1691640"/>
            <a:ext cx="53949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QingSi/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apps/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miniapp/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微信小程序（三角色）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console-web/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管理后台 + 监控大屏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edge-agent/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数采端（Win / Linux）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services/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api-server/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核心业务服务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ai-gateway/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AI 网关（预留）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ai-models/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Python 模型服务（二期）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packages/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shared/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常量 · 角色 · 错误码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sdk-js/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统一 API SDK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domain-packs/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medical-flap/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皮瓣监测领域包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tobacco-online/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烟草在线监测（三期）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deploy/   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Docker Compose · Nginx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docs/             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架构 · 接口 · PPT</a:t>
            </a:r>
            <a:endParaRPr lang="en-US" sz="1400" dirty="0"/>
          </a:p>
        </p:txBody>
      </p:sp>
      <p:sp>
        <p:nvSpPr>
          <p:cNvPr id="6" name="text-768"/>
          <p:cNvSpPr txBox="1"/>
          <p:nvPr/>
        </p:nvSpPr>
        <p:spPr>
          <a:xfrm>
            <a:off x="6720840" y="15087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api-server 模块划分（NestJS Module）</a:t>
            </a:r>
            <a:endParaRPr lang="en-US" sz="1600" dirty="0"/>
          </a:p>
        </p:txBody>
      </p:sp>
      <p:sp>
        <p:nvSpPr>
          <p:cNvPr id="7" name="module-769"/>
          <p:cNvSpPr/>
          <p:nvPr/>
        </p:nvSpPr>
        <p:spPr>
          <a:xfrm>
            <a:off x="6720840" y="196596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text-770"/>
          <p:cNvSpPr txBox="1"/>
          <p:nvPr/>
        </p:nvSpPr>
        <p:spPr>
          <a:xfrm>
            <a:off x="6766560" y="198424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认证</a:t>
            </a:r>
            <a:endParaRPr lang="en-US" sz="1200" dirty="0"/>
          </a:p>
        </p:txBody>
      </p:sp>
      <p:sp>
        <p:nvSpPr>
          <p:cNvPr id="9" name="module-771"/>
          <p:cNvSpPr/>
          <p:nvPr/>
        </p:nvSpPr>
        <p:spPr>
          <a:xfrm>
            <a:off x="8406384" y="196596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text-772"/>
          <p:cNvSpPr txBox="1"/>
          <p:nvPr/>
        </p:nvSpPr>
        <p:spPr>
          <a:xfrm>
            <a:off x="8452104" y="198424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用户</a:t>
            </a:r>
            <a:endParaRPr lang="en-US" sz="1200" dirty="0"/>
          </a:p>
        </p:txBody>
      </p:sp>
      <p:sp>
        <p:nvSpPr>
          <p:cNvPr id="11" name="module-773"/>
          <p:cNvSpPr/>
          <p:nvPr/>
        </p:nvSpPr>
        <p:spPr>
          <a:xfrm>
            <a:off x="10091928" y="196596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2" name="text-774"/>
          <p:cNvSpPr txBox="1"/>
          <p:nvPr/>
        </p:nvSpPr>
        <p:spPr>
          <a:xfrm>
            <a:off x="10137648" y="198424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权限</a:t>
            </a:r>
            <a:endParaRPr lang="en-US" sz="1200" dirty="0"/>
          </a:p>
        </p:txBody>
      </p:sp>
      <p:sp>
        <p:nvSpPr>
          <p:cNvPr id="13" name="module-775"/>
          <p:cNvSpPr/>
          <p:nvPr/>
        </p:nvSpPr>
        <p:spPr>
          <a:xfrm>
            <a:off x="6720840" y="256032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text-776"/>
          <p:cNvSpPr txBox="1"/>
          <p:nvPr/>
        </p:nvSpPr>
        <p:spPr>
          <a:xfrm>
            <a:off x="6766560" y="257860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组织</a:t>
            </a:r>
            <a:endParaRPr lang="en-US" sz="1200" dirty="0"/>
          </a:p>
        </p:txBody>
      </p:sp>
      <p:sp>
        <p:nvSpPr>
          <p:cNvPr id="15" name="module-777"/>
          <p:cNvSpPr/>
          <p:nvPr/>
        </p:nvSpPr>
        <p:spPr>
          <a:xfrm>
            <a:off x="8406384" y="256032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text-778"/>
          <p:cNvSpPr txBox="1"/>
          <p:nvPr/>
        </p:nvSpPr>
        <p:spPr>
          <a:xfrm>
            <a:off x="8452104" y="257860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监测对象</a:t>
            </a:r>
            <a:endParaRPr lang="en-US" sz="1200" dirty="0"/>
          </a:p>
        </p:txBody>
      </p:sp>
      <p:sp>
        <p:nvSpPr>
          <p:cNvPr id="17" name="module-779"/>
          <p:cNvSpPr/>
          <p:nvPr/>
        </p:nvSpPr>
        <p:spPr>
          <a:xfrm>
            <a:off x="10091928" y="256032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text-780"/>
          <p:cNvSpPr txBox="1"/>
          <p:nvPr/>
        </p:nvSpPr>
        <p:spPr>
          <a:xfrm>
            <a:off x="10137648" y="257860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监测任务</a:t>
            </a:r>
            <a:endParaRPr lang="en-US" sz="1200" dirty="0"/>
          </a:p>
        </p:txBody>
      </p:sp>
      <p:sp>
        <p:nvSpPr>
          <p:cNvPr id="19" name="module-781"/>
          <p:cNvSpPr/>
          <p:nvPr/>
        </p:nvSpPr>
        <p:spPr>
          <a:xfrm>
            <a:off x="6720840" y="315468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0" name="text-782"/>
          <p:cNvSpPr txBox="1"/>
          <p:nvPr/>
        </p:nvSpPr>
        <p:spPr>
          <a:xfrm>
            <a:off x="6766560" y="317296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采样排程</a:t>
            </a:r>
            <a:endParaRPr lang="en-US" sz="1200" dirty="0"/>
          </a:p>
        </p:txBody>
      </p:sp>
      <p:sp>
        <p:nvSpPr>
          <p:cNvPr id="21" name="module-783"/>
          <p:cNvSpPr/>
          <p:nvPr/>
        </p:nvSpPr>
        <p:spPr>
          <a:xfrm>
            <a:off x="8406384" y="315468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2" name="text-784"/>
          <p:cNvSpPr txBox="1"/>
          <p:nvPr/>
        </p:nvSpPr>
        <p:spPr>
          <a:xfrm>
            <a:off x="8452104" y="317296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媒体</a:t>
            </a:r>
            <a:endParaRPr lang="en-US" sz="1200" dirty="0"/>
          </a:p>
        </p:txBody>
      </p:sp>
      <p:sp>
        <p:nvSpPr>
          <p:cNvPr id="23" name="module-785"/>
          <p:cNvSpPr/>
          <p:nvPr/>
        </p:nvSpPr>
        <p:spPr>
          <a:xfrm>
            <a:off x="10091928" y="315468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4" name="text-786"/>
          <p:cNvSpPr txBox="1"/>
          <p:nvPr/>
        </p:nvSpPr>
        <p:spPr>
          <a:xfrm>
            <a:off x="10137648" y="317296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采样</a:t>
            </a:r>
            <a:endParaRPr lang="en-US" sz="1200" dirty="0"/>
          </a:p>
        </p:txBody>
      </p:sp>
      <p:sp>
        <p:nvSpPr>
          <p:cNvPr id="25" name="module-787"/>
          <p:cNvSpPr/>
          <p:nvPr/>
        </p:nvSpPr>
        <p:spPr>
          <a:xfrm>
            <a:off x="6720840" y="374904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6" name="text-788"/>
          <p:cNvSpPr txBox="1"/>
          <p:nvPr/>
        </p:nvSpPr>
        <p:spPr>
          <a:xfrm>
            <a:off x="6766560" y="376732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监控墙</a:t>
            </a:r>
            <a:endParaRPr lang="en-US" sz="1200" dirty="0"/>
          </a:p>
        </p:txBody>
      </p:sp>
      <p:sp>
        <p:nvSpPr>
          <p:cNvPr id="27" name="module-789"/>
          <p:cNvSpPr/>
          <p:nvPr/>
        </p:nvSpPr>
        <p:spPr>
          <a:xfrm>
            <a:off x="8406384" y="374904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8" name="text-790"/>
          <p:cNvSpPr txBox="1"/>
          <p:nvPr/>
        </p:nvSpPr>
        <p:spPr>
          <a:xfrm>
            <a:off x="8452104" y="376732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告警</a:t>
            </a:r>
            <a:endParaRPr lang="en-US" sz="1200" dirty="0"/>
          </a:p>
        </p:txBody>
      </p:sp>
      <p:sp>
        <p:nvSpPr>
          <p:cNvPr id="29" name="module-791"/>
          <p:cNvSpPr/>
          <p:nvPr/>
        </p:nvSpPr>
        <p:spPr>
          <a:xfrm>
            <a:off x="10091928" y="374904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0" name="text-792"/>
          <p:cNvSpPr txBox="1"/>
          <p:nvPr/>
        </p:nvSpPr>
        <p:spPr>
          <a:xfrm>
            <a:off x="10137648" y="376732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ai-adapter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AI 适配</a:t>
            </a:r>
            <a:endParaRPr lang="en-US" sz="1200" dirty="0"/>
          </a:p>
        </p:txBody>
      </p:sp>
      <p:sp>
        <p:nvSpPr>
          <p:cNvPr id="31" name="module-793"/>
          <p:cNvSpPr/>
          <p:nvPr/>
        </p:nvSpPr>
        <p:spPr>
          <a:xfrm>
            <a:off x="6720840" y="434340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2" name="text-794"/>
          <p:cNvSpPr txBox="1"/>
          <p:nvPr/>
        </p:nvSpPr>
        <p:spPr>
          <a:xfrm>
            <a:off x="6766560" y="436168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设备</a:t>
            </a:r>
            <a:endParaRPr lang="en-US" sz="1200" dirty="0"/>
          </a:p>
        </p:txBody>
      </p:sp>
      <p:sp>
        <p:nvSpPr>
          <p:cNvPr id="33" name="module-795"/>
          <p:cNvSpPr/>
          <p:nvPr/>
        </p:nvSpPr>
        <p:spPr>
          <a:xfrm>
            <a:off x="8406384" y="434340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4" name="text-796"/>
          <p:cNvSpPr txBox="1"/>
          <p:nvPr/>
        </p:nvSpPr>
        <p:spPr>
          <a:xfrm>
            <a:off x="8452104" y="436168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审计</a:t>
            </a:r>
            <a:endParaRPr lang="en-US" sz="1200" dirty="0"/>
          </a:p>
        </p:txBody>
      </p:sp>
      <p:sp>
        <p:nvSpPr>
          <p:cNvPr id="35" name="module-797"/>
          <p:cNvSpPr/>
          <p:nvPr/>
        </p:nvSpPr>
        <p:spPr>
          <a:xfrm>
            <a:off x="10091928" y="4343400"/>
            <a:ext cx="1548384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36" name="text-798"/>
          <p:cNvSpPr txBox="1"/>
          <p:nvPr/>
        </p:nvSpPr>
        <p:spPr>
          <a:xfrm>
            <a:off x="10137648" y="4361688"/>
            <a:ext cx="14569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domain-pack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领域包</a:t>
            </a:r>
            <a:endParaRPr lang="en-US" sz="1200" dirty="0"/>
          </a:p>
        </p:txBody>
      </p:sp>
      <p:sp>
        <p:nvSpPr>
          <p:cNvPr id="37" name="text-799"/>
          <p:cNvSpPr txBox="1"/>
          <p:nvPr/>
        </p:nvSpPr>
        <p:spPr>
          <a:xfrm>
            <a:off x="6720840" y="4983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领域包 = 场景差异的全部</a:t>
            </a:r>
            <a:endParaRPr lang="en-US" sz="1600" dirty="0"/>
          </a:p>
        </p:txBody>
      </p:sp>
      <p:sp>
        <p:nvSpPr>
          <p:cNvPr id="38" name="pack-tag-800"/>
          <p:cNvSpPr/>
          <p:nvPr/>
        </p:nvSpPr>
        <p:spPr>
          <a:xfrm>
            <a:off x="6720840" y="5440680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9" name="text-801"/>
          <p:cNvSpPr txBox="1"/>
          <p:nvPr/>
        </p:nvSpPr>
        <p:spPr>
          <a:xfrm>
            <a:off x="6720840" y="5440680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术语字典</a:t>
            </a:r>
            <a:endParaRPr lang="en-US" sz="1200" dirty="0"/>
          </a:p>
        </p:txBody>
      </p:sp>
      <p:sp>
        <p:nvSpPr>
          <p:cNvPr id="40" name="pack-tag-802"/>
          <p:cNvSpPr/>
          <p:nvPr/>
        </p:nvSpPr>
        <p:spPr>
          <a:xfrm>
            <a:off x="8406384" y="5440680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1" name="text-803"/>
          <p:cNvSpPr txBox="1"/>
          <p:nvPr/>
        </p:nvSpPr>
        <p:spPr>
          <a:xfrm>
            <a:off x="8406384" y="5440680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表单 Schema</a:t>
            </a:r>
            <a:endParaRPr lang="en-US" sz="1200" dirty="0"/>
          </a:p>
        </p:txBody>
      </p:sp>
      <p:sp>
        <p:nvSpPr>
          <p:cNvPr id="42" name="pack-tag-804"/>
          <p:cNvSpPr/>
          <p:nvPr/>
        </p:nvSpPr>
        <p:spPr>
          <a:xfrm>
            <a:off x="10091928" y="5440680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3" name="text-805"/>
          <p:cNvSpPr txBox="1"/>
          <p:nvPr/>
        </p:nvSpPr>
        <p:spPr>
          <a:xfrm>
            <a:off x="10091928" y="5440680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采样策略</a:t>
            </a:r>
            <a:endParaRPr lang="en-US" sz="1200" dirty="0"/>
          </a:p>
        </p:txBody>
      </p:sp>
      <p:sp>
        <p:nvSpPr>
          <p:cNvPr id="44" name="pack-tag-806"/>
          <p:cNvSpPr/>
          <p:nvPr/>
        </p:nvSpPr>
        <p:spPr>
          <a:xfrm>
            <a:off x="6720840" y="5870448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5" name="text-807"/>
          <p:cNvSpPr txBox="1"/>
          <p:nvPr/>
        </p:nvSpPr>
        <p:spPr>
          <a:xfrm>
            <a:off x="6720840" y="5870448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告警规则</a:t>
            </a:r>
            <a:endParaRPr lang="en-US" sz="1200" dirty="0"/>
          </a:p>
        </p:txBody>
      </p:sp>
      <p:sp>
        <p:nvSpPr>
          <p:cNvPr id="46" name="pack-tag-808"/>
          <p:cNvSpPr/>
          <p:nvPr/>
        </p:nvSpPr>
        <p:spPr>
          <a:xfrm>
            <a:off x="8406384" y="5870448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7" name="text-809"/>
          <p:cNvSpPr txBox="1"/>
          <p:nvPr/>
        </p:nvSpPr>
        <p:spPr>
          <a:xfrm>
            <a:off x="8406384" y="5870448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模型绑定</a:t>
            </a:r>
            <a:endParaRPr lang="en-US" sz="1200" dirty="0"/>
          </a:p>
        </p:txBody>
      </p:sp>
      <p:sp>
        <p:nvSpPr>
          <p:cNvPr id="48" name="pack-tag-810"/>
          <p:cNvSpPr/>
          <p:nvPr/>
        </p:nvSpPr>
        <p:spPr>
          <a:xfrm>
            <a:off x="10091928" y="5870448"/>
            <a:ext cx="1548384" cy="365760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9" name="text-811"/>
          <p:cNvSpPr txBox="1"/>
          <p:nvPr/>
        </p:nvSpPr>
        <p:spPr>
          <a:xfrm>
            <a:off x="10091928" y="5870448"/>
            <a:ext cx="154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大屏模板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技术与工程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接口契约（v1 草案）：先定接口，再并行开发</a:t>
            </a:r>
            <a:endParaRPr lang="en-US" sz="3200" dirty="0"/>
          </a:p>
        </p:txBody>
      </p:sp>
      <p:graphicFrame>
        <p:nvGraphicFramePr>
          <p:cNvPr id="20" name="table-8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60520"/>
                <a:gridCol w="3730752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模块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方法与路径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调用方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认证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/api/v1/auth/wx-login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微信 code 换取访问令牌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全部角色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监测任务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/api/v1/tasks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建档，生成绑定二维码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医护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绑定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/api/v1/tasks/{id}/bind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患者扫码绑定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患者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上传凭证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/api/v1/media/upload-token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获取对象存储直传凭证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患者 / 数采端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采样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/api/v1/samples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登记一次采样记录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患者 / 数采端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历史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/api/v1/subjects/{id}/samples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按时间段查询历史图像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医护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监控墙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/api/v1/wall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+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WS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/ws/wall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快照 + 实时事件推送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医护 / 大屏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评估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/api/v1/samples/{id}/reviews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医生评估与标注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医护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用户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/api/v1/admin/users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新增用户并分配角色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管理员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设备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/api/v1/edge/heartbeat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心跳上报、拉取配置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数采端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AI 结果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/api/v1/inferences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回写 AI 分析结果（预留）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网关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-813"/>
          <p:cNvSpPr txBox="1"/>
          <p:nvPr/>
        </p:nvSpPr>
        <p:spPr>
          <a:xfrm>
            <a:off x="548640" y="60167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事件总线（预留）：</a:t>
            </a:r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sample.created · task.overdue · inference.done · alert.raised</a:t>
            </a:r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—— AI、告警、大屏按需订阅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技术与工程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数据安全与合规：医疗影像按敏感个人信息管理</a:t>
            </a:r>
            <a:endParaRPr lang="en-US" sz="3200" dirty="0"/>
          </a:p>
        </p:txBody>
      </p:sp>
      <p:sp>
        <p:nvSpPr>
          <p:cNvPr id="4" name="security-card-814"/>
          <p:cNvSpPr/>
          <p:nvPr/>
        </p:nvSpPr>
        <p:spPr>
          <a:xfrm>
            <a:off x="548640" y="1508760"/>
            <a:ext cx="5408676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5" name="icon-bg-815"/>
          <p:cNvSpPr/>
          <p:nvPr/>
        </p:nvSpPr>
        <p:spPr>
          <a:xfrm>
            <a:off x="822960" y="176479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816" descr="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274320" cy="274320"/>
          </a:xfrm>
          <a:prstGeom prst="rect">
            <a:avLst/>
          </a:prstGeom>
        </p:spPr>
      </p:pic>
      <p:sp>
        <p:nvSpPr>
          <p:cNvPr id="7" name="text-817"/>
          <p:cNvSpPr txBox="1"/>
          <p:nvPr/>
        </p:nvSpPr>
        <p:spPr>
          <a:xfrm>
            <a:off x="1554480" y="1764792"/>
            <a:ext cx="4128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合规前置</a:t>
            </a:r>
            <a:endParaRPr lang="en-US" sz="1800" dirty="0"/>
          </a:p>
        </p:txBody>
      </p:sp>
      <p:sp>
        <p:nvSpPr>
          <p:cNvPr id="8" name="list-818"/>
          <p:cNvSpPr txBox="1"/>
          <p:nvPr/>
        </p:nvSpPr>
        <p:spPr>
          <a:xfrm>
            <a:off x="868680" y="2496312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医疗健康信息属敏感个人信息，需单独同意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配置小程序《用户隐私保护指引》，数据境内存储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临床使用前完成伦理审批与知情同意</a:t>
            </a:r>
            <a:endParaRPr lang="en-US" sz="1400" dirty="0"/>
          </a:p>
        </p:txBody>
      </p:sp>
      <p:sp>
        <p:nvSpPr>
          <p:cNvPr id="9" name="security-card-819"/>
          <p:cNvSpPr/>
          <p:nvPr/>
        </p:nvSpPr>
        <p:spPr>
          <a:xfrm>
            <a:off x="6231636" y="1508760"/>
            <a:ext cx="5408676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0" name="icon-bg-820"/>
          <p:cNvSpPr/>
          <p:nvPr/>
        </p:nvSpPr>
        <p:spPr>
          <a:xfrm>
            <a:off x="6505956" y="1764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821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901952"/>
            <a:ext cx="274320" cy="274320"/>
          </a:xfrm>
          <a:prstGeom prst="rect">
            <a:avLst/>
          </a:prstGeom>
        </p:spPr>
      </p:pic>
      <p:sp>
        <p:nvSpPr>
          <p:cNvPr id="12" name="text-822"/>
          <p:cNvSpPr txBox="1"/>
          <p:nvPr/>
        </p:nvSpPr>
        <p:spPr>
          <a:xfrm>
            <a:off x="7237476" y="1764792"/>
            <a:ext cx="4128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访问控制</a:t>
            </a:r>
            <a:endParaRPr lang="en-US" sz="1800" dirty="0"/>
          </a:p>
        </p:txBody>
      </p:sp>
      <p:sp>
        <p:nvSpPr>
          <p:cNvPr id="13" name="list-823"/>
          <p:cNvSpPr txBox="1"/>
          <p:nvPr/>
        </p:nvSpPr>
        <p:spPr>
          <a:xfrm>
            <a:off x="6551676" y="2496312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最小权限 + 数据范围隔离，后端统一鉴权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图片私有读，按需签发短时效签名 URL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查看页叠加用户水印，防止截屏外传</a:t>
            </a:r>
            <a:endParaRPr lang="en-US" sz="1400" dirty="0"/>
          </a:p>
        </p:txBody>
      </p:sp>
      <p:sp>
        <p:nvSpPr>
          <p:cNvPr id="14" name="security-card-824"/>
          <p:cNvSpPr/>
          <p:nvPr/>
        </p:nvSpPr>
        <p:spPr>
          <a:xfrm>
            <a:off x="548640" y="4023360"/>
            <a:ext cx="5408676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5" name="icon-bg-825"/>
          <p:cNvSpPr/>
          <p:nvPr/>
        </p:nvSpPr>
        <p:spPr>
          <a:xfrm>
            <a:off x="822960" y="42793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826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16552"/>
            <a:ext cx="274320" cy="274320"/>
          </a:xfrm>
          <a:prstGeom prst="rect">
            <a:avLst/>
          </a:prstGeom>
        </p:spPr>
      </p:pic>
      <p:sp>
        <p:nvSpPr>
          <p:cNvPr id="17" name="text-827"/>
          <p:cNvSpPr txBox="1"/>
          <p:nvPr/>
        </p:nvSpPr>
        <p:spPr>
          <a:xfrm>
            <a:off x="1554480" y="4279392"/>
            <a:ext cx="4128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传输与存储</a:t>
            </a:r>
            <a:endParaRPr lang="en-US" sz="1800" dirty="0"/>
          </a:p>
        </p:txBody>
      </p:sp>
      <p:sp>
        <p:nvSpPr>
          <p:cNvPr id="18" name="list-828"/>
          <p:cNvSpPr txBox="1"/>
          <p:nvPr/>
        </p:nvSpPr>
        <p:spPr>
          <a:xfrm>
            <a:off x="868680" y="5010912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全链路 HTTPS；数采端上行请求签名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对象存储加密；姓名、手机号脱敏展示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拍摄引导只拍创面，避免拍到面部</a:t>
            </a:r>
            <a:endParaRPr lang="en-US" sz="1400" dirty="0"/>
          </a:p>
        </p:txBody>
      </p:sp>
      <p:sp>
        <p:nvSpPr>
          <p:cNvPr id="19" name="security-card-829"/>
          <p:cNvSpPr/>
          <p:nvPr/>
        </p:nvSpPr>
        <p:spPr>
          <a:xfrm>
            <a:off x="6231636" y="4023360"/>
            <a:ext cx="5408676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0" name="icon-bg-830"/>
          <p:cNvSpPr/>
          <p:nvPr/>
        </p:nvSpPr>
        <p:spPr>
          <a:xfrm>
            <a:off x="6505956" y="427939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-831" descr="FaClipboard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416552"/>
            <a:ext cx="274320" cy="274320"/>
          </a:xfrm>
          <a:prstGeom prst="rect">
            <a:avLst/>
          </a:prstGeom>
        </p:spPr>
      </p:pic>
      <p:sp>
        <p:nvSpPr>
          <p:cNvPr id="22" name="text-832"/>
          <p:cNvSpPr txBox="1"/>
          <p:nvPr/>
        </p:nvSpPr>
        <p:spPr>
          <a:xfrm>
            <a:off x="7237476" y="4279392"/>
            <a:ext cx="4128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审计与留存</a:t>
            </a:r>
            <a:endParaRPr lang="en-US" sz="1800" dirty="0"/>
          </a:p>
        </p:txBody>
      </p:sp>
      <p:sp>
        <p:nvSpPr>
          <p:cNvPr id="23" name="list-833"/>
          <p:cNvSpPr txBox="1"/>
          <p:nvPr/>
        </p:nvSpPr>
        <p:spPr>
          <a:xfrm>
            <a:off x="6551676" y="5010912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查看、下载、导出、权限变更全部留痕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明确数据保留期限与销毁流程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每日备份；后续对标网络安全等级保护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技术与工程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部署形态：单机起步，云边按需扩展</a:t>
            </a:r>
            <a:endParaRPr lang="en-US" sz="3200" dirty="0"/>
          </a:p>
        </p:txBody>
      </p:sp>
      <p:sp>
        <p:nvSpPr>
          <p:cNvPr id="4" name="deploy-card-834"/>
          <p:cNvSpPr/>
          <p:nvPr/>
        </p:nvSpPr>
        <p:spPr>
          <a:xfrm>
            <a:off x="548640" y="1508760"/>
            <a:ext cx="3514344" cy="4754880"/>
          </a:xfrm>
          <a:prstGeom prst="roundRect">
            <a:avLst>
              <a:gd name="adj" fmla="val 2602"/>
            </a:avLst>
          </a:prstGeom>
          <a:solidFill>
            <a:schemeClr val="bg2"/>
          </a:solidFill>
          <a:ln/>
        </p:spPr>
      </p:sp>
      <p:sp>
        <p:nvSpPr>
          <p:cNvPr id="5" name="icon-bg-835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836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74320" cy="274320"/>
          </a:xfrm>
          <a:prstGeom prst="rect">
            <a:avLst/>
          </a:prstGeom>
        </p:spPr>
      </p:pic>
      <p:sp>
        <p:nvSpPr>
          <p:cNvPr id="7" name="text-837"/>
          <p:cNvSpPr txBox="1"/>
          <p:nvPr/>
        </p:nvSpPr>
        <p:spPr>
          <a:xfrm>
            <a:off x="1536192" y="1755648"/>
            <a:ext cx="2325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云端单机</a:t>
            </a:r>
            <a:endParaRPr lang="en-US" sz="1800" dirty="0"/>
          </a:p>
        </p:txBody>
      </p:sp>
      <p:sp>
        <p:nvSpPr>
          <p:cNvPr id="8" name="text-838"/>
          <p:cNvSpPr txBox="1"/>
          <p:nvPr/>
        </p:nvSpPr>
        <p:spPr>
          <a:xfrm>
            <a:off x="1536192" y="2121408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开发 / 试点</a:t>
            </a:r>
            <a:endParaRPr lang="en-US" sz="1200" dirty="0"/>
          </a:p>
        </p:txBody>
      </p:sp>
      <p:sp>
        <p:nvSpPr>
          <p:cNvPr id="9" name="deploy-chip-839"/>
          <p:cNvSpPr/>
          <p:nvPr/>
        </p:nvSpPr>
        <p:spPr>
          <a:xfrm>
            <a:off x="822960" y="2606040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0" name="text-840"/>
          <p:cNvSpPr txBox="1"/>
          <p:nvPr/>
        </p:nvSpPr>
        <p:spPr>
          <a:xfrm>
            <a:off x="822960" y="260604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Nginx（HTTPS）</a:t>
            </a:r>
            <a:endParaRPr lang="en-US" sz="1200" dirty="0"/>
          </a:p>
        </p:txBody>
      </p:sp>
      <p:sp>
        <p:nvSpPr>
          <p:cNvPr id="11" name="deploy-chip-841"/>
          <p:cNvSpPr/>
          <p:nvPr/>
        </p:nvSpPr>
        <p:spPr>
          <a:xfrm>
            <a:off x="822960" y="2990088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2" name="text-842"/>
          <p:cNvSpPr txBox="1"/>
          <p:nvPr/>
        </p:nvSpPr>
        <p:spPr>
          <a:xfrm>
            <a:off x="822960" y="299008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api-server（Node.js）</a:t>
            </a:r>
            <a:endParaRPr lang="en-US" sz="1200" dirty="0"/>
          </a:p>
        </p:txBody>
      </p:sp>
      <p:sp>
        <p:nvSpPr>
          <p:cNvPr id="13" name="deploy-chip-843"/>
          <p:cNvSpPr/>
          <p:nvPr/>
        </p:nvSpPr>
        <p:spPr>
          <a:xfrm>
            <a:off x="822960" y="3374136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4" name="text-844"/>
          <p:cNvSpPr txBox="1"/>
          <p:nvPr/>
        </p:nvSpPr>
        <p:spPr>
          <a:xfrm>
            <a:off x="822960" y="337413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PostgreSQL · Redis</a:t>
            </a:r>
            <a:endParaRPr lang="en-US" sz="1200" dirty="0"/>
          </a:p>
        </p:txBody>
      </p:sp>
      <p:sp>
        <p:nvSpPr>
          <p:cNvPr id="15" name="deploy-chip-845"/>
          <p:cNvSpPr/>
          <p:nvPr/>
        </p:nvSpPr>
        <p:spPr>
          <a:xfrm>
            <a:off x="822960" y="3758184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6" name="text-846"/>
          <p:cNvSpPr txBox="1"/>
          <p:nvPr/>
        </p:nvSpPr>
        <p:spPr>
          <a:xfrm>
            <a:off x="822960" y="375818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MinIO 对象存储</a:t>
            </a:r>
            <a:endParaRPr lang="en-US" sz="1200" dirty="0"/>
          </a:p>
        </p:txBody>
      </p:sp>
      <p:sp>
        <p:nvSpPr>
          <p:cNvPr id="17" name="deploy-chip-847"/>
          <p:cNvSpPr/>
          <p:nvPr/>
        </p:nvSpPr>
        <p:spPr>
          <a:xfrm>
            <a:off x="822960" y="4142232"/>
            <a:ext cx="2965704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18" name="text-848"/>
          <p:cNvSpPr txBox="1"/>
          <p:nvPr/>
        </p:nvSpPr>
        <p:spPr>
          <a:xfrm>
            <a:off x="822960" y="4142232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Docker Compose 编排</a:t>
            </a:r>
            <a:endParaRPr lang="en-US" sz="1200" dirty="0"/>
          </a:p>
        </p:txBody>
      </p:sp>
      <p:sp>
        <p:nvSpPr>
          <p:cNvPr id="19" name="list-849"/>
          <p:cNvSpPr txBox="1"/>
          <p:nvPr/>
        </p:nvSpPr>
        <p:spPr>
          <a:xfrm>
            <a:off x="868680" y="466344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一台云服务器即可运行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一条命令启动全部服务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适合课题验证与小规模试点</a:t>
            </a:r>
            <a:endParaRPr lang="en-US" sz="1400" dirty="0"/>
          </a:p>
        </p:txBody>
      </p:sp>
      <p:sp>
        <p:nvSpPr>
          <p:cNvPr id="20" name="deploy-card-850"/>
          <p:cNvSpPr/>
          <p:nvPr/>
        </p:nvSpPr>
        <p:spPr>
          <a:xfrm>
            <a:off x="4337304" y="1508760"/>
            <a:ext cx="3514344" cy="4754880"/>
          </a:xfrm>
          <a:prstGeom prst="roundRect">
            <a:avLst>
              <a:gd name="adj" fmla="val 2602"/>
            </a:avLst>
          </a:prstGeom>
          <a:solidFill>
            <a:schemeClr val="bg2"/>
          </a:solidFill>
          <a:ln/>
        </p:spPr>
      </p:sp>
      <p:sp>
        <p:nvSpPr>
          <p:cNvPr id="21" name="icon-bg-851"/>
          <p:cNvSpPr/>
          <p:nvPr/>
        </p:nvSpPr>
        <p:spPr>
          <a:xfrm>
            <a:off x="4611624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-852" descr="Fa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784" y="1920240"/>
            <a:ext cx="274320" cy="274320"/>
          </a:xfrm>
          <a:prstGeom prst="rect">
            <a:avLst/>
          </a:prstGeom>
        </p:spPr>
      </p:pic>
      <p:sp>
        <p:nvSpPr>
          <p:cNvPr id="23" name="text-853"/>
          <p:cNvSpPr txBox="1"/>
          <p:nvPr/>
        </p:nvSpPr>
        <p:spPr>
          <a:xfrm>
            <a:off x="5324856" y="1755648"/>
            <a:ext cx="2325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医院私有化</a:t>
            </a:r>
            <a:endParaRPr lang="en-US" sz="1800" dirty="0"/>
          </a:p>
        </p:txBody>
      </p:sp>
      <p:sp>
        <p:nvSpPr>
          <p:cNvPr id="24" name="text-854"/>
          <p:cNvSpPr txBox="1"/>
          <p:nvPr/>
        </p:nvSpPr>
        <p:spPr>
          <a:xfrm>
            <a:off x="5324856" y="2121408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正式上线</a:t>
            </a:r>
            <a:endParaRPr lang="en-US" sz="1200" dirty="0"/>
          </a:p>
        </p:txBody>
      </p:sp>
      <p:sp>
        <p:nvSpPr>
          <p:cNvPr id="25" name="deploy-chip-855"/>
          <p:cNvSpPr/>
          <p:nvPr/>
        </p:nvSpPr>
        <p:spPr>
          <a:xfrm>
            <a:off x="4611624" y="2606040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6" name="text-856"/>
          <p:cNvSpPr txBox="1"/>
          <p:nvPr/>
        </p:nvSpPr>
        <p:spPr>
          <a:xfrm>
            <a:off x="4611624" y="260604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院内应用服务器</a:t>
            </a:r>
            <a:endParaRPr lang="en-US" sz="1200" dirty="0"/>
          </a:p>
        </p:txBody>
      </p:sp>
      <p:sp>
        <p:nvSpPr>
          <p:cNvPr id="27" name="deploy-chip-857"/>
          <p:cNvSpPr/>
          <p:nvPr/>
        </p:nvSpPr>
        <p:spPr>
          <a:xfrm>
            <a:off x="4611624" y="2990088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8" name="text-858"/>
          <p:cNvSpPr txBox="1"/>
          <p:nvPr/>
        </p:nvSpPr>
        <p:spPr>
          <a:xfrm>
            <a:off x="4611624" y="299008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院内数据库与存储</a:t>
            </a:r>
            <a:endParaRPr lang="en-US" sz="1200" dirty="0"/>
          </a:p>
        </p:txBody>
      </p:sp>
      <p:sp>
        <p:nvSpPr>
          <p:cNvPr id="29" name="deploy-chip-859"/>
          <p:cNvSpPr/>
          <p:nvPr/>
        </p:nvSpPr>
        <p:spPr>
          <a:xfrm>
            <a:off x="4611624" y="3374136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30" name="text-860"/>
          <p:cNvSpPr txBox="1"/>
          <p:nvPr/>
        </p:nvSpPr>
        <p:spPr>
          <a:xfrm>
            <a:off x="4611624" y="337413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病区边缘节点</a:t>
            </a:r>
            <a:endParaRPr lang="en-US" sz="1200" dirty="0"/>
          </a:p>
        </p:txBody>
      </p:sp>
      <p:sp>
        <p:nvSpPr>
          <p:cNvPr id="31" name="deploy-chip-861"/>
          <p:cNvSpPr/>
          <p:nvPr/>
        </p:nvSpPr>
        <p:spPr>
          <a:xfrm>
            <a:off x="4611624" y="3758184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32" name="text-862"/>
          <p:cNvSpPr txBox="1"/>
          <p:nvPr/>
        </p:nvSpPr>
        <p:spPr>
          <a:xfrm>
            <a:off x="4611624" y="375818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安全网关（小程序接入）</a:t>
            </a:r>
            <a:endParaRPr lang="en-US" sz="1200" dirty="0"/>
          </a:p>
        </p:txBody>
      </p:sp>
      <p:sp>
        <p:nvSpPr>
          <p:cNvPr id="33" name="deploy-chip-863"/>
          <p:cNvSpPr/>
          <p:nvPr/>
        </p:nvSpPr>
        <p:spPr>
          <a:xfrm>
            <a:off x="4611624" y="4142232"/>
            <a:ext cx="2965704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34" name="text-864"/>
          <p:cNvSpPr txBox="1"/>
          <p:nvPr/>
        </p:nvSpPr>
        <p:spPr>
          <a:xfrm>
            <a:off x="4611624" y="4142232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HIS 对接（预留）</a:t>
            </a:r>
            <a:endParaRPr lang="en-US" sz="1200" dirty="0"/>
          </a:p>
        </p:txBody>
      </p:sp>
      <p:sp>
        <p:nvSpPr>
          <p:cNvPr id="35" name="list-865"/>
          <p:cNvSpPr txBox="1"/>
          <p:nvPr/>
        </p:nvSpPr>
        <p:spPr>
          <a:xfrm>
            <a:off x="4657344" y="466344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数据不出医院内网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满足医院信息安全要求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小程序经安全网关访问</a:t>
            </a:r>
            <a:endParaRPr lang="en-US" sz="1400" dirty="0"/>
          </a:p>
        </p:txBody>
      </p:sp>
      <p:sp>
        <p:nvSpPr>
          <p:cNvPr id="36" name="deploy-card-866"/>
          <p:cNvSpPr/>
          <p:nvPr/>
        </p:nvSpPr>
        <p:spPr>
          <a:xfrm>
            <a:off x="8125968" y="1508760"/>
            <a:ext cx="3514344" cy="4754880"/>
          </a:xfrm>
          <a:prstGeom prst="roundRect">
            <a:avLst>
              <a:gd name="adj" fmla="val 2602"/>
            </a:avLst>
          </a:prstGeom>
          <a:solidFill>
            <a:schemeClr val="bg2"/>
          </a:solidFill>
          <a:ln/>
        </p:spPr>
      </p:sp>
      <p:sp>
        <p:nvSpPr>
          <p:cNvPr id="37" name="icon-bg-867"/>
          <p:cNvSpPr/>
          <p:nvPr/>
        </p:nvSpPr>
        <p:spPr>
          <a:xfrm>
            <a:off x="8400288" y="17830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8" name="icon-868" descr="FaIndust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1920240"/>
            <a:ext cx="274320" cy="274320"/>
          </a:xfrm>
          <a:prstGeom prst="rect">
            <a:avLst/>
          </a:prstGeom>
        </p:spPr>
      </p:pic>
      <p:sp>
        <p:nvSpPr>
          <p:cNvPr id="39" name="text-869"/>
          <p:cNvSpPr txBox="1"/>
          <p:nvPr/>
        </p:nvSpPr>
        <p:spPr>
          <a:xfrm>
            <a:off x="9113520" y="1755648"/>
            <a:ext cx="2325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工业现场</a:t>
            </a:r>
            <a:endParaRPr lang="en-US" sz="1800" dirty="0"/>
          </a:p>
        </p:txBody>
      </p:sp>
      <p:sp>
        <p:nvSpPr>
          <p:cNvPr id="40" name="text-870"/>
          <p:cNvSpPr txBox="1"/>
          <p:nvPr/>
        </p:nvSpPr>
        <p:spPr>
          <a:xfrm>
            <a:off x="9113520" y="2121408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烟草复用</a:t>
            </a:r>
            <a:endParaRPr lang="en-US" sz="1200" dirty="0"/>
          </a:p>
        </p:txBody>
      </p:sp>
      <p:sp>
        <p:nvSpPr>
          <p:cNvPr id="41" name="deploy-chip-871"/>
          <p:cNvSpPr/>
          <p:nvPr/>
        </p:nvSpPr>
        <p:spPr>
          <a:xfrm>
            <a:off x="8400288" y="2606040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42" name="text-872"/>
          <p:cNvSpPr txBox="1"/>
          <p:nvPr/>
        </p:nvSpPr>
        <p:spPr>
          <a:xfrm>
            <a:off x="8400288" y="260604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中心云平台</a:t>
            </a:r>
            <a:endParaRPr lang="en-US" sz="1200" dirty="0"/>
          </a:p>
        </p:txBody>
      </p:sp>
      <p:sp>
        <p:nvSpPr>
          <p:cNvPr id="43" name="deploy-chip-873"/>
          <p:cNvSpPr/>
          <p:nvPr/>
        </p:nvSpPr>
        <p:spPr>
          <a:xfrm>
            <a:off x="8400288" y="2990088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44" name="text-874"/>
          <p:cNvSpPr txBox="1"/>
          <p:nvPr/>
        </p:nvSpPr>
        <p:spPr>
          <a:xfrm>
            <a:off x="8400288" y="299008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MQTT Broker（EMQX）</a:t>
            </a:r>
            <a:endParaRPr lang="en-US" sz="1200" dirty="0"/>
          </a:p>
        </p:txBody>
      </p:sp>
      <p:sp>
        <p:nvSpPr>
          <p:cNvPr id="45" name="deploy-chip-875"/>
          <p:cNvSpPr/>
          <p:nvPr/>
        </p:nvSpPr>
        <p:spPr>
          <a:xfrm>
            <a:off x="8400288" y="3374136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46" name="text-876"/>
          <p:cNvSpPr txBox="1"/>
          <p:nvPr/>
        </p:nvSpPr>
        <p:spPr>
          <a:xfrm>
            <a:off x="8400288" y="3374136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厂区边缘工控机集群</a:t>
            </a:r>
            <a:endParaRPr lang="en-US" sz="1200" dirty="0"/>
          </a:p>
        </p:txBody>
      </p:sp>
      <p:sp>
        <p:nvSpPr>
          <p:cNvPr id="47" name="deploy-chip-877"/>
          <p:cNvSpPr/>
          <p:nvPr/>
        </p:nvSpPr>
        <p:spPr>
          <a:xfrm>
            <a:off x="8400288" y="3758184"/>
            <a:ext cx="2965704" cy="32004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48" name="text-878"/>
          <p:cNvSpPr txBox="1"/>
          <p:nvPr/>
        </p:nvSpPr>
        <p:spPr>
          <a:xfrm>
            <a:off x="8400288" y="3758184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工业相机 / PLC / 传感器</a:t>
            </a:r>
            <a:endParaRPr lang="en-US" sz="1200" dirty="0"/>
          </a:p>
        </p:txBody>
      </p:sp>
      <p:sp>
        <p:nvSpPr>
          <p:cNvPr id="49" name="deploy-chip-879"/>
          <p:cNvSpPr/>
          <p:nvPr/>
        </p:nvSpPr>
        <p:spPr>
          <a:xfrm>
            <a:off x="8400288" y="4142232"/>
            <a:ext cx="2965704" cy="320040"/>
          </a:xfrm>
          <a:prstGeom prst="roundRect">
            <a:avLst>
              <a:gd name="adj" fmla="val 17143"/>
            </a:avLst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50" name="text-880"/>
          <p:cNvSpPr txBox="1"/>
          <p:nvPr/>
        </p:nvSpPr>
        <p:spPr>
          <a:xfrm>
            <a:off x="8400288" y="4142232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MES 对接（预留）</a:t>
            </a:r>
            <a:endParaRPr lang="en-US" sz="1200" dirty="0"/>
          </a:p>
        </p:txBody>
      </p:sp>
      <p:sp>
        <p:nvSpPr>
          <p:cNvPr id="51" name="list-881"/>
          <p:cNvSpPr txBox="1"/>
          <p:nvPr/>
        </p:nvSpPr>
        <p:spPr>
          <a:xfrm>
            <a:off x="8446008" y="466344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边缘断网自治、本地推理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样本与结果汇聚到中心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多厂区多租户统一管理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组织与计划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开发组织架构：小团队，角色清晰</a:t>
            </a:r>
            <a:endParaRPr lang="en-US" sz="3200" dirty="0"/>
          </a:p>
        </p:txBody>
      </p:sp>
      <p:sp>
        <p:nvSpPr>
          <p:cNvPr id="4" name="org-lead-882"/>
          <p:cNvSpPr/>
          <p:nvPr/>
        </p:nvSpPr>
        <p:spPr>
          <a:xfrm>
            <a:off x="4270248" y="1508760"/>
            <a:ext cx="36576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5" name="icon-bg-883"/>
          <p:cNvSpPr/>
          <p:nvPr/>
        </p:nvSpPr>
        <p:spPr>
          <a:xfrm>
            <a:off x="4480560" y="1755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884" descr="FaChalkboardTea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892808"/>
            <a:ext cx="274320" cy="274320"/>
          </a:xfrm>
          <a:prstGeom prst="rect">
            <a:avLst/>
          </a:prstGeom>
        </p:spPr>
      </p:pic>
      <p:sp>
        <p:nvSpPr>
          <p:cNvPr id="7" name="text-885"/>
          <p:cNvSpPr txBox="1"/>
          <p:nvPr/>
        </p:nvSpPr>
        <p:spPr>
          <a:xfrm>
            <a:off x="5212080" y="16276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指导老师</a:t>
            </a:r>
            <a:endParaRPr lang="en-US" sz="1800" dirty="0"/>
          </a:p>
        </p:txBody>
      </p:sp>
      <p:sp>
        <p:nvSpPr>
          <p:cNvPr id="8" name="text-886"/>
          <p:cNvSpPr txBox="1"/>
          <p:nvPr/>
        </p:nvSpPr>
        <p:spPr>
          <a:xfrm>
            <a:off x="5212080" y="1993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项目负责人：方向把控、需求确认、阶段验收</a:t>
            </a:r>
            <a:endParaRPr lang="en-US" sz="1300" dirty="0"/>
          </a:p>
        </p:txBody>
      </p:sp>
      <p:sp>
        <p:nvSpPr>
          <p:cNvPr id="9" name="org-advisor-887"/>
          <p:cNvSpPr/>
          <p:nvPr/>
        </p:nvSpPr>
        <p:spPr>
          <a:xfrm>
            <a:off x="548640" y="1508760"/>
            <a:ext cx="3291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0" name="icon-bg-888"/>
          <p:cNvSpPr/>
          <p:nvPr/>
        </p:nvSpPr>
        <p:spPr>
          <a:xfrm>
            <a:off x="749808" y="175564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con-889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92808"/>
            <a:ext cx="274320" cy="274320"/>
          </a:xfrm>
          <a:prstGeom prst="rect">
            <a:avLst/>
          </a:prstGeom>
        </p:spPr>
      </p:pic>
      <p:sp>
        <p:nvSpPr>
          <p:cNvPr id="12" name="text-890"/>
          <p:cNvSpPr txBox="1"/>
          <p:nvPr/>
        </p:nvSpPr>
        <p:spPr>
          <a:xfrm>
            <a:off x="146304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算法同学（二期）</a:t>
            </a:r>
            <a:endParaRPr lang="en-US" sz="1600" dirty="0"/>
          </a:p>
        </p:txBody>
      </p:sp>
      <p:sp>
        <p:nvSpPr>
          <p:cNvPr id="13" name="text-891"/>
          <p:cNvSpPr txBox="1"/>
          <p:nvPr/>
        </p:nvSpPr>
        <p:spPr>
          <a:xfrm>
            <a:off x="1463040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模型训练、评估与部署</a:t>
            </a:r>
            <a:endParaRPr lang="en-US" sz="1300" dirty="0"/>
          </a:p>
        </p:txBody>
      </p:sp>
      <p:sp>
        <p:nvSpPr>
          <p:cNvPr id="14" name="org-advisor-892"/>
          <p:cNvSpPr/>
          <p:nvPr/>
        </p:nvSpPr>
        <p:spPr>
          <a:xfrm>
            <a:off x="8348472" y="1508760"/>
            <a:ext cx="3291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15" name="icon-bg-893"/>
          <p:cNvSpPr/>
          <p:nvPr/>
        </p:nvSpPr>
        <p:spPr>
          <a:xfrm>
            <a:off x="8549640" y="17556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-894" descr="Fa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92808"/>
            <a:ext cx="274320" cy="274320"/>
          </a:xfrm>
          <a:prstGeom prst="rect">
            <a:avLst/>
          </a:prstGeom>
        </p:spPr>
      </p:pic>
      <p:sp>
        <p:nvSpPr>
          <p:cNvPr id="17" name="text-895"/>
          <p:cNvSpPr txBox="1"/>
          <p:nvPr/>
        </p:nvSpPr>
        <p:spPr>
          <a:xfrm>
            <a:off x="9262872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临床顾问</a:t>
            </a:r>
            <a:endParaRPr lang="en-US" sz="1600" dirty="0"/>
          </a:p>
        </p:txBody>
      </p:sp>
      <p:sp>
        <p:nvSpPr>
          <p:cNvPr id="18" name="text-896"/>
          <p:cNvSpPr txBox="1"/>
          <p:nvPr/>
        </p:nvSpPr>
        <p:spPr>
          <a:xfrm>
            <a:off x="9262872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合作医生 / 护士：需求、拍摄规范、评估标准与标注</a:t>
            </a:r>
            <a:endParaRPr lang="en-US" sz="1300" dirty="0"/>
          </a:p>
        </p:txBody>
      </p:sp>
      <p:sp>
        <p:nvSpPr>
          <p:cNvPr id="19" name="connector-897"/>
          <p:cNvSpPr/>
          <p:nvPr/>
        </p:nvSpPr>
        <p:spPr>
          <a:xfrm>
            <a:off x="3840480" y="2034540"/>
            <a:ext cx="4297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</a:ln>
        </p:spPr>
      </p:sp>
      <p:sp>
        <p:nvSpPr>
          <p:cNvPr id="20" name="connector-898"/>
          <p:cNvSpPr/>
          <p:nvPr/>
        </p:nvSpPr>
        <p:spPr>
          <a:xfrm>
            <a:off x="7927848" y="2034540"/>
            <a:ext cx="42062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21" name="connector-899"/>
          <p:cNvSpPr/>
          <p:nvPr/>
        </p:nvSpPr>
        <p:spPr>
          <a:xfrm>
            <a:off x="6099048" y="256032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connector-900"/>
          <p:cNvSpPr/>
          <p:nvPr/>
        </p:nvSpPr>
        <p:spPr>
          <a:xfrm>
            <a:off x="3252978" y="2834640"/>
            <a:ext cx="56829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3" name="connector-901"/>
          <p:cNvSpPr/>
          <p:nvPr/>
        </p:nvSpPr>
        <p:spPr>
          <a:xfrm>
            <a:off x="3252978" y="2834640"/>
            <a:ext cx="0" cy="25603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onnector-902"/>
          <p:cNvSpPr/>
          <p:nvPr/>
        </p:nvSpPr>
        <p:spPr>
          <a:xfrm>
            <a:off x="8935974" y="2834640"/>
            <a:ext cx="0" cy="25603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org-dev-903"/>
          <p:cNvSpPr/>
          <p:nvPr/>
        </p:nvSpPr>
        <p:spPr>
          <a:xfrm>
            <a:off x="548640" y="3108960"/>
            <a:ext cx="5408676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6" name="icon-bg-904"/>
          <p:cNvSpPr/>
          <p:nvPr/>
        </p:nvSpPr>
        <p:spPr>
          <a:xfrm>
            <a:off x="822960" y="33832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con-905" descr="FaLaptop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531870"/>
            <a:ext cx="297180" cy="297180"/>
          </a:xfrm>
          <a:prstGeom prst="rect">
            <a:avLst/>
          </a:prstGeom>
        </p:spPr>
      </p:pic>
      <p:sp>
        <p:nvSpPr>
          <p:cNvPr id="28" name="text-906"/>
          <p:cNvSpPr txBox="1"/>
          <p:nvPr/>
        </p:nvSpPr>
        <p:spPr>
          <a:xfrm>
            <a:off x="1600200" y="3346704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开发 A｜前端与交互负责人</a:t>
            </a:r>
            <a:endParaRPr lang="en-US" sz="1800" dirty="0"/>
          </a:p>
        </p:txBody>
      </p:sp>
      <p:sp>
        <p:nvSpPr>
          <p:cNvPr id="29" name="text-907"/>
          <p:cNvSpPr txBox="1"/>
          <p:nvPr/>
        </p:nvSpPr>
        <p:spPr>
          <a:xfrm>
            <a:off x="1600200" y="3730752"/>
            <a:ext cx="4128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uni-app · Vue 3 · ECharts</a:t>
            </a:r>
            <a:endParaRPr lang="en-US" sz="1200" dirty="0"/>
          </a:p>
        </p:txBody>
      </p:sp>
      <p:sp>
        <p:nvSpPr>
          <p:cNvPr id="30" name="list-908"/>
          <p:cNvSpPr txBox="1"/>
          <p:nvPr/>
        </p:nvSpPr>
        <p:spPr>
          <a:xfrm>
            <a:off x="868680" y="4206240"/>
            <a:ext cx="4814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微信小程序三端（患者 / 医护 / 管理员）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监控墙、Web 管理后台与大屏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交互原型、UI 规范、拍摄引导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前端联调与体验测试</a:t>
            </a:r>
            <a:endParaRPr lang="en-US" sz="1400" dirty="0"/>
          </a:p>
        </p:txBody>
      </p:sp>
      <p:sp>
        <p:nvSpPr>
          <p:cNvPr id="31" name="org-dev-909"/>
          <p:cNvSpPr/>
          <p:nvPr/>
        </p:nvSpPr>
        <p:spPr>
          <a:xfrm>
            <a:off x="6231636" y="3108960"/>
            <a:ext cx="5408676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32" name="icon-bg-910"/>
          <p:cNvSpPr/>
          <p:nvPr/>
        </p:nvSpPr>
        <p:spPr>
          <a:xfrm>
            <a:off x="6505956" y="33832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911" descr="FaSer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46" y="3531870"/>
            <a:ext cx="297180" cy="297180"/>
          </a:xfrm>
          <a:prstGeom prst="rect">
            <a:avLst/>
          </a:prstGeom>
        </p:spPr>
      </p:pic>
      <p:sp>
        <p:nvSpPr>
          <p:cNvPr id="34" name="text-912"/>
          <p:cNvSpPr txBox="1"/>
          <p:nvPr/>
        </p:nvSpPr>
        <p:spPr>
          <a:xfrm>
            <a:off x="7283196" y="3346704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开发 B｜后端与平台负责人</a:t>
            </a:r>
            <a:endParaRPr lang="en-US" sz="1800" dirty="0"/>
          </a:p>
        </p:txBody>
      </p:sp>
      <p:sp>
        <p:nvSpPr>
          <p:cNvPr id="35" name="text-913"/>
          <p:cNvSpPr txBox="1"/>
          <p:nvPr/>
        </p:nvSpPr>
        <p:spPr>
          <a:xfrm>
            <a:off x="7283196" y="3730752"/>
            <a:ext cx="4128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· NestJS · PostgreSQL</a:t>
            </a:r>
            <a:endParaRPr lang="en-US" sz="1200" dirty="0"/>
          </a:p>
        </p:txBody>
      </p:sp>
      <p:sp>
        <p:nvSpPr>
          <p:cNvPr id="36" name="list-914"/>
          <p:cNvSpPr txBox="1"/>
          <p:nvPr/>
        </p:nvSpPr>
        <p:spPr>
          <a:xfrm>
            <a:off x="6551676" y="4206240"/>
            <a:ext cx="4814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核心服务、数据库与接口契约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采样排程、提醒、权限与审计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数采端（边缘代理）与 AI 接口预留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部署运维、CI 与安全</a:t>
            </a:r>
            <a:endParaRPr lang="en-US" sz="1400" dirty="0"/>
          </a:p>
        </p:txBody>
      </p:sp>
      <p:sp>
        <p:nvSpPr>
          <p:cNvPr id="37" name="shared-duty-915"/>
          <p:cNvSpPr/>
          <p:nvPr/>
        </p:nvSpPr>
        <p:spPr>
          <a:xfrm>
            <a:off x="2898648" y="5943600"/>
            <a:ext cx="640080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8" name="text-916"/>
          <p:cNvSpPr txBox="1"/>
          <p:nvPr/>
        </p:nvSpPr>
        <p:spPr>
          <a:xfrm>
            <a:off x="2898648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双人共同：需求评审 · 代码互审 · 交叉测试 · 文档维护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组织与计划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分工矩阵与协作规范</a:t>
            </a:r>
            <a:endParaRPr lang="en-US" sz="3200" dirty="0"/>
          </a:p>
        </p:txBody>
      </p:sp>
      <p:graphicFrame>
        <p:nvGraphicFramePr>
          <p:cNvPr id="24" name="table-9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工作项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主责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协作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评审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需求梳理与原型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临床顾问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接口契约（OpenAPI）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开发 B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双人互审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小程序三端 · 监控墙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开发 B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临床顾问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后端服务 · 数据库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开发 B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数采端 · AI 接口预留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开发 B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拍摄规范 · 评估标准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临床顾问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开发 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测试 · 部署 · 文档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双人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阶段验收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指导老师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双人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-918"/>
          <p:cNvSpPr txBox="1"/>
          <p:nvPr/>
        </p:nvSpPr>
        <p:spPr>
          <a:xfrm>
            <a:off x="548640" y="57607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主责 = 对结果负责；协作 = 参与实现；评审 = 把关验收</a:t>
            </a:r>
            <a:endParaRPr lang="en-US" sz="1200" dirty="0"/>
          </a:p>
        </p:txBody>
      </p:sp>
      <p:sp>
        <p:nvSpPr>
          <p:cNvPr id="6" name="text-919"/>
          <p:cNvSpPr txBox="1"/>
          <p:nvPr/>
        </p:nvSpPr>
        <p:spPr>
          <a:xfrm>
            <a:off x="7543800" y="150876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协作规范</a:t>
            </a:r>
            <a:endParaRPr lang="en-US" sz="1600" dirty="0"/>
          </a:p>
        </p:txBody>
      </p:sp>
      <p:sp>
        <p:nvSpPr>
          <p:cNvPr id="7" name="icon-bg-920"/>
          <p:cNvSpPr/>
          <p:nvPr/>
        </p:nvSpPr>
        <p:spPr>
          <a:xfrm>
            <a:off x="7543800" y="20116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921" descr="Fa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2121408"/>
            <a:ext cx="219456" cy="219456"/>
          </a:xfrm>
          <a:prstGeom prst="rect">
            <a:avLst/>
          </a:prstGeom>
        </p:spPr>
      </p:pic>
      <p:sp>
        <p:nvSpPr>
          <p:cNvPr id="9" name="text-922"/>
          <p:cNvSpPr txBox="1"/>
          <p:nvPr/>
        </p:nvSpPr>
        <p:spPr>
          <a:xfrm>
            <a:off x="8183880" y="196596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分支流程</a:t>
            </a:r>
            <a:endParaRPr lang="en-US" sz="1500" dirty="0"/>
          </a:p>
        </p:txBody>
      </p:sp>
      <p:sp>
        <p:nvSpPr>
          <p:cNvPr id="10" name="text-923"/>
          <p:cNvSpPr txBox="1"/>
          <p:nvPr/>
        </p:nvSpPr>
        <p:spPr>
          <a:xfrm>
            <a:off x="8183880" y="230428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 分支开发，PR 互审后合并</a:t>
            </a:r>
            <a:endParaRPr lang="en-US" sz="1400" dirty="0"/>
          </a:p>
        </p:txBody>
      </p:sp>
      <p:sp>
        <p:nvSpPr>
          <p:cNvPr id="11" name="icon-bg-924"/>
          <p:cNvSpPr/>
          <p:nvPr/>
        </p:nvSpPr>
        <p:spPr>
          <a:xfrm>
            <a:off x="7543800" y="286207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925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2971800"/>
            <a:ext cx="219456" cy="219456"/>
          </a:xfrm>
          <a:prstGeom prst="rect">
            <a:avLst/>
          </a:prstGeom>
        </p:spPr>
      </p:pic>
      <p:sp>
        <p:nvSpPr>
          <p:cNvPr id="13" name="text-926"/>
          <p:cNvSpPr txBox="1"/>
          <p:nvPr/>
        </p:nvSpPr>
        <p:spPr>
          <a:xfrm>
            <a:off x="8183880" y="281635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两周一个迭代</a:t>
            </a:r>
            <a:endParaRPr lang="en-US" sz="1500" dirty="0"/>
          </a:p>
        </p:txBody>
      </p:sp>
      <p:sp>
        <p:nvSpPr>
          <p:cNvPr id="14" name="text-927"/>
          <p:cNvSpPr txBox="1"/>
          <p:nvPr/>
        </p:nvSpPr>
        <p:spPr>
          <a:xfrm>
            <a:off x="8183880" y="315468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每周例会同步进度、风险与下周计划</a:t>
            </a:r>
            <a:endParaRPr lang="en-US" sz="1400" dirty="0"/>
          </a:p>
        </p:txBody>
      </p:sp>
      <p:sp>
        <p:nvSpPr>
          <p:cNvPr id="15" name="icon-bg-928"/>
          <p:cNvSpPr/>
          <p:nvPr/>
        </p:nvSpPr>
        <p:spPr>
          <a:xfrm>
            <a:off x="7543800" y="37124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929" descr="FaFile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3822192"/>
            <a:ext cx="219456" cy="219456"/>
          </a:xfrm>
          <a:prstGeom prst="rect">
            <a:avLst/>
          </a:prstGeom>
        </p:spPr>
      </p:pic>
      <p:sp>
        <p:nvSpPr>
          <p:cNvPr id="17" name="text-930"/>
          <p:cNvSpPr txBox="1"/>
          <p:nvPr/>
        </p:nvSpPr>
        <p:spPr>
          <a:xfrm>
            <a:off x="8183880" y="3666744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文档先行</a:t>
            </a:r>
            <a:endParaRPr lang="en-US" sz="1500" dirty="0"/>
          </a:p>
        </p:txBody>
      </p:sp>
      <p:sp>
        <p:nvSpPr>
          <p:cNvPr id="18" name="text-931"/>
          <p:cNvSpPr txBox="1"/>
          <p:nvPr/>
        </p:nvSpPr>
        <p:spPr>
          <a:xfrm>
            <a:off x="8183880" y="40050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接口变更先改 docs，再改代码</a:t>
            </a:r>
            <a:endParaRPr lang="en-US" sz="1400" dirty="0"/>
          </a:p>
        </p:txBody>
      </p:sp>
      <p:sp>
        <p:nvSpPr>
          <p:cNvPr id="19" name="icon-bg-932"/>
          <p:cNvSpPr/>
          <p:nvPr/>
        </p:nvSpPr>
        <p:spPr>
          <a:xfrm>
            <a:off x="7543800" y="456285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933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4672584"/>
            <a:ext cx="219456" cy="219456"/>
          </a:xfrm>
          <a:prstGeom prst="rect">
            <a:avLst/>
          </a:prstGeom>
        </p:spPr>
      </p:pic>
      <p:sp>
        <p:nvSpPr>
          <p:cNvPr id="21" name="text-934"/>
          <p:cNvSpPr txBox="1"/>
          <p:nvPr/>
        </p:nvSpPr>
        <p:spPr>
          <a:xfrm>
            <a:off x="8183880" y="451713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质量门禁</a:t>
            </a:r>
            <a:endParaRPr lang="en-US" sz="1500" dirty="0"/>
          </a:p>
        </p:txBody>
      </p:sp>
      <p:sp>
        <p:nvSpPr>
          <p:cNvPr id="22" name="text-935"/>
          <p:cNvSpPr txBox="1"/>
          <p:nvPr/>
        </p:nvSpPr>
        <p:spPr>
          <a:xfrm>
            <a:off x="8183880" y="485546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ESLint + Prettier、核心单测、CI 检查</a:t>
            </a:r>
            <a:endParaRPr lang="en-US" sz="1400" dirty="0"/>
          </a:p>
        </p:txBody>
      </p:sp>
      <p:sp>
        <p:nvSpPr>
          <p:cNvPr id="23" name="icon-bg-936"/>
          <p:cNvSpPr/>
          <p:nvPr/>
        </p:nvSpPr>
        <p:spPr>
          <a:xfrm>
            <a:off x="7543800" y="541324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937" descr="FaTas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5522976"/>
            <a:ext cx="219456" cy="219456"/>
          </a:xfrm>
          <a:prstGeom prst="rect">
            <a:avLst/>
          </a:prstGeom>
        </p:spPr>
      </p:pic>
      <p:sp>
        <p:nvSpPr>
          <p:cNvPr id="25" name="text-938"/>
          <p:cNvSpPr txBox="1"/>
          <p:nvPr/>
        </p:nvSpPr>
        <p:spPr>
          <a:xfrm>
            <a:off x="8183880" y="536752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任务看板</a:t>
            </a:r>
            <a:endParaRPr lang="en-US" sz="1500" dirty="0"/>
          </a:p>
        </p:txBody>
      </p:sp>
      <p:sp>
        <p:nvSpPr>
          <p:cNvPr id="26" name="text-939"/>
          <p:cNvSpPr txBox="1"/>
          <p:nvPr/>
        </p:nvSpPr>
        <p:spPr>
          <a:xfrm>
            <a:off x="8183880" y="57058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Issues / Projects 跟踪任务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组织与计划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路线图：三期演进，一期约 8 周交付 MVP</a:t>
            </a:r>
            <a:endParaRPr lang="en-US" sz="3200" dirty="0"/>
          </a:p>
        </p:txBody>
      </p:sp>
      <p:sp>
        <p:nvSpPr>
          <p:cNvPr id="4" name="week-band-940"/>
          <p:cNvSpPr/>
          <p:nvPr/>
        </p:nvSpPr>
        <p:spPr>
          <a:xfrm>
            <a:off x="3017520" y="1508760"/>
            <a:ext cx="1077849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-941"/>
          <p:cNvSpPr txBox="1"/>
          <p:nvPr/>
        </p:nvSpPr>
        <p:spPr>
          <a:xfrm>
            <a:off x="3017520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W1</a:t>
            </a:r>
            <a:endParaRPr lang="en-US" sz="1200" dirty="0"/>
          </a:p>
        </p:txBody>
      </p:sp>
      <p:sp>
        <p:nvSpPr>
          <p:cNvPr id="6" name="text-942"/>
          <p:cNvSpPr txBox="1"/>
          <p:nvPr/>
        </p:nvSpPr>
        <p:spPr>
          <a:xfrm>
            <a:off x="4095369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W2</a:t>
            </a:r>
            <a:endParaRPr lang="en-US" sz="1200" dirty="0"/>
          </a:p>
        </p:txBody>
      </p:sp>
      <p:sp>
        <p:nvSpPr>
          <p:cNvPr id="7" name="week-band-943"/>
          <p:cNvSpPr/>
          <p:nvPr/>
        </p:nvSpPr>
        <p:spPr>
          <a:xfrm>
            <a:off x="5173218" y="1508760"/>
            <a:ext cx="1077849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-944"/>
          <p:cNvSpPr txBox="1"/>
          <p:nvPr/>
        </p:nvSpPr>
        <p:spPr>
          <a:xfrm>
            <a:off x="5173218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W3</a:t>
            </a:r>
            <a:endParaRPr lang="en-US" sz="1200" dirty="0"/>
          </a:p>
        </p:txBody>
      </p:sp>
      <p:sp>
        <p:nvSpPr>
          <p:cNvPr id="9" name="text-945"/>
          <p:cNvSpPr txBox="1"/>
          <p:nvPr/>
        </p:nvSpPr>
        <p:spPr>
          <a:xfrm>
            <a:off x="6251067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W4</a:t>
            </a:r>
            <a:endParaRPr lang="en-US" sz="1200" dirty="0"/>
          </a:p>
        </p:txBody>
      </p:sp>
      <p:sp>
        <p:nvSpPr>
          <p:cNvPr id="10" name="week-band-946"/>
          <p:cNvSpPr/>
          <p:nvPr/>
        </p:nvSpPr>
        <p:spPr>
          <a:xfrm>
            <a:off x="7328916" y="1508760"/>
            <a:ext cx="1077849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-947"/>
          <p:cNvSpPr txBox="1"/>
          <p:nvPr/>
        </p:nvSpPr>
        <p:spPr>
          <a:xfrm>
            <a:off x="7328916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W5</a:t>
            </a:r>
            <a:endParaRPr lang="en-US" sz="1200" dirty="0"/>
          </a:p>
        </p:txBody>
      </p:sp>
      <p:sp>
        <p:nvSpPr>
          <p:cNvPr id="12" name="text-948"/>
          <p:cNvSpPr txBox="1"/>
          <p:nvPr/>
        </p:nvSpPr>
        <p:spPr>
          <a:xfrm>
            <a:off x="8406765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W6</a:t>
            </a:r>
            <a:endParaRPr lang="en-US" sz="1200" dirty="0"/>
          </a:p>
        </p:txBody>
      </p:sp>
      <p:sp>
        <p:nvSpPr>
          <p:cNvPr id="13" name="week-band-949"/>
          <p:cNvSpPr/>
          <p:nvPr/>
        </p:nvSpPr>
        <p:spPr>
          <a:xfrm>
            <a:off x="9484614" y="1508760"/>
            <a:ext cx="1077849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-950"/>
          <p:cNvSpPr txBox="1"/>
          <p:nvPr/>
        </p:nvSpPr>
        <p:spPr>
          <a:xfrm>
            <a:off x="9484614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W7</a:t>
            </a:r>
            <a:endParaRPr lang="en-US" sz="1200" dirty="0"/>
          </a:p>
        </p:txBody>
      </p:sp>
      <p:sp>
        <p:nvSpPr>
          <p:cNvPr id="15" name="text-951"/>
          <p:cNvSpPr txBox="1"/>
          <p:nvPr/>
        </p:nvSpPr>
        <p:spPr>
          <a:xfrm>
            <a:off x="10562463" y="1536192"/>
            <a:ext cx="1077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W8</a:t>
            </a:r>
            <a:endParaRPr lang="en-US" sz="1200" dirty="0"/>
          </a:p>
        </p:txBody>
      </p:sp>
      <p:sp>
        <p:nvSpPr>
          <p:cNvPr id="16" name="text-952"/>
          <p:cNvSpPr txBox="1"/>
          <p:nvPr/>
        </p:nvSpPr>
        <p:spPr>
          <a:xfrm>
            <a:off x="548640" y="19202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架构评审 · 原型 · 接口契约</a:t>
            </a:r>
            <a:endParaRPr lang="en-US" sz="1400" dirty="0"/>
          </a:p>
        </p:txBody>
      </p:sp>
      <p:sp>
        <p:nvSpPr>
          <p:cNvPr id="17" name="gantt-bar-953"/>
          <p:cNvSpPr/>
          <p:nvPr/>
        </p:nvSpPr>
        <p:spPr>
          <a:xfrm>
            <a:off x="3090672" y="1975104"/>
            <a:ext cx="200939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-954"/>
          <p:cNvSpPr txBox="1"/>
          <p:nvPr/>
        </p:nvSpPr>
        <p:spPr>
          <a:xfrm>
            <a:off x="548640" y="23957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工程脚手架 · 登录与角色</a:t>
            </a:r>
            <a:endParaRPr lang="en-US" sz="1400" dirty="0"/>
          </a:p>
        </p:txBody>
      </p:sp>
      <p:sp>
        <p:nvSpPr>
          <p:cNvPr id="19" name="gantt-bar-955"/>
          <p:cNvSpPr/>
          <p:nvPr/>
        </p:nvSpPr>
        <p:spPr>
          <a:xfrm>
            <a:off x="4168521" y="2450592"/>
            <a:ext cx="200939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-956"/>
          <p:cNvSpPr txBox="1"/>
          <p:nvPr/>
        </p:nvSpPr>
        <p:spPr>
          <a:xfrm>
            <a:off x="548640" y="28712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建档绑定 · 拍照上传</a:t>
            </a:r>
            <a:endParaRPr lang="en-US" sz="1400" dirty="0"/>
          </a:p>
        </p:txBody>
      </p:sp>
      <p:sp>
        <p:nvSpPr>
          <p:cNvPr id="21" name="gantt-bar-957"/>
          <p:cNvSpPr/>
          <p:nvPr/>
        </p:nvSpPr>
        <p:spPr>
          <a:xfrm>
            <a:off x="5246370" y="2926080"/>
            <a:ext cx="308724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ext-958"/>
          <p:cNvSpPr txBox="1"/>
          <p:nvPr/>
        </p:nvSpPr>
        <p:spPr>
          <a:xfrm>
            <a:off x="548640" y="334670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历史查看 · 监控墙</a:t>
            </a:r>
            <a:endParaRPr lang="en-US" sz="1400" dirty="0"/>
          </a:p>
        </p:txBody>
      </p:sp>
      <p:sp>
        <p:nvSpPr>
          <p:cNvPr id="23" name="gantt-bar-959"/>
          <p:cNvSpPr/>
          <p:nvPr/>
        </p:nvSpPr>
        <p:spPr>
          <a:xfrm>
            <a:off x="6324219" y="3401568"/>
            <a:ext cx="308724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-960"/>
          <p:cNvSpPr txBox="1"/>
          <p:nvPr/>
        </p:nvSpPr>
        <p:spPr>
          <a:xfrm>
            <a:off x="548640" y="38221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采样提醒 · 管理后台 · 审计</a:t>
            </a:r>
            <a:endParaRPr lang="en-US" sz="1400" dirty="0"/>
          </a:p>
        </p:txBody>
      </p:sp>
      <p:sp>
        <p:nvSpPr>
          <p:cNvPr id="25" name="gantt-bar-961"/>
          <p:cNvSpPr/>
          <p:nvPr/>
        </p:nvSpPr>
        <p:spPr>
          <a:xfrm>
            <a:off x="7402068" y="3877056"/>
            <a:ext cx="308724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-962"/>
          <p:cNvSpPr txBox="1"/>
          <p:nvPr/>
        </p:nvSpPr>
        <p:spPr>
          <a:xfrm>
            <a:off x="548640" y="42976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部署联调 · 科室试点</a:t>
            </a:r>
            <a:endParaRPr lang="en-US" sz="1400" dirty="0"/>
          </a:p>
        </p:txBody>
      </p:sp>
      <p:sp>
        <p:nvSpPr>
          <p:cNvPr id="27" name="gantt-bar-963"/>
          <p:cNvSpPr/>
          <p:nvPr/>
        </p:nvSpPr>
        <p:spPr>
          <a:xfrm>
            <a:off x="9557766" y="4352544"/>
            <a:ext cx="200939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milestone-964"/>
          <p:cNvSpPr/>
          <p:nvPr/>
        </p:nvSpPr>
        <p:spPr>
          <a:xfrm>
            <a:off x="5063490" y="4736592"/>
            <a:ext cx="219456" cy="219456"/>
          </a:xfrm>
          <a:prstGeom prst="diamond">
            <a:avLst/>
          </a:prstGeom>
          <a:solidFill>
            <a:schemeClr val="accent2"/>
          </a:solidFill>
          <a:ln/>
        </p:spPr>
      </p:sp>
      <p:sp>
        <p:nvSpPr>
          <p:cNvPr id="29" name="text-965"/>
          <p:cNvSpPr txBox="1"/>
          <p:nvPr/>
        </p:nvSpPr>
        <p:spPr>
          <a:xfrm>
            <a:off x="3390138" y="4709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M1 架构冻结</a:t>
            </a:r>
            <a:endParaRPr lang="en-US" sz="1200" dirty="0"/>
          </a:p>
        </p:txBody>
      </p:sp>
      <p:sp>
        <p:nvSpPr>
          <p:cNvPr id="30" name="milestone-966"/>
          <p:cNvSpPr/>
          <p:nvPr/>
        </p:nvSpPr>
        <p:spPr>
          <a:xfrm>
            <a:off x="8297037" y="4736592"/>
            <a:ext cx="219456" cy="219456"/>
          </a:xfrm>
          <a:prstGeom prst="diamond">
            <a:avLst/>
          </a:prstGeom>
          <a:solidFill>
            <a:schemeClr val="accent2"/>
          </a:solidFill>
          <a:ln/>
        </p:spPr>
      </p:sp>
      <p:sp>
        <p:nvSpPr>
          <p:cNvPr id="31" name="text-967"/>
          <p:cNvSpPr txBox="1"/>
          <p:nvPr/>
        </p:nvSpPr>
        <p:spPr>
          <a:xfrm>
            <a:off x="6623685" y="4709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M2 核心流程跑通</a:t>
            </a:r>
            <a:endParaRPr lang="en-US" sz="1200" dirty="0"/>
          </a:p>
        </p:txBody>
      </p:sp>
      <p:sp>
        <p:nvSpPr>
          <p:cNvPr id="32" name="milestone-968"/>
          <p:cNvSpPr/>
          <p:nvPr/>
        </p:nvSpPr>
        <p:spPr>
          <a:xfrm>
            <a:off x="11393424" y="4736592"/>
            <a:ext cx="219456" cy="219456"/>
          </a:xfrm>
          <a:prstGeom prst="diamond">
            <a:avLst/>
          </a:prstGeom>
          <a:solidFill>
            <a:schemeClr val="accent2"/>
          </a:solidFill>
          <a:ln/>
        </p:spPr>
      </p:sp>
      <p:sp>
        <p:nvSpPr>
          <p:cNvPr id="33" name="text-969"/>
          <p:cNvSpPr txBox="1"/>
          <p:nvPr/>
        </p:nvSpPr>
        <p:spPr>
          <a:xfrm>
            <a:off x="9720072" y="4709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M3 科室试点</a:t>
            </a:r>
            <a:endParaRPr lang="en-US" sz="1200" dirty="0"/>
          </a:p>
        </p:txBody>
      </p:sp>
      <p:sp>
        <p:nvSpPr>
          <p:cNvPr id="34" name="phase-970"/>
          <p:cNvSpPr/>
          <p:nvPr/>
        </p:nvSpPr>
        <p:spPr>
          <a:xfrm>
            <a:off x="548640" y="5257800"/>
            <a:ext cx="3514344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35" name="text-971"/>
          <p:cNvSpPr txBox="1"/>
          <p:nvPr/>
        </p:nvSpPr>
        <p:spPr>
          <a:xfrm>
            <a:off x="777240" y="53492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一期 · MVP（约 8 周）</a:t>
            </a:r>
            <a:endParaRPr lang="en-US" sz="1600" dirty="0"/>
          </a:p>
        </p:txBody>
      </p:sp>
      <p:sp>
        <p:nvSpPr>
          <p:cNvPr id="36" name="text-972"/>
          <p:cNvSpPr txBox="1"/>
          <p:nvPr/>
        </p:nvSpPr>
        <p:spPr>
          <a:xfrm>
            <a:off x="777240" y="5733288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三角色小程序 · 监控墙 · 采样提醒</a:t>
            </a:r>
            <a:endParaRPr lang="en-US" sz="1400" dirty="0"/>
          </a:p>
        </p:txBody>
      </p:sp>
      <p:sp>
        <p:nvSpPr>
          <p:cNvPr id="37" name="phase-973"/>
          <p:cNvSpPr/>
          <p:nvPr/>
        </p:nvSpPr>
        <p:spPr>
          <a:xfrm>
            <a:off x="4337304" y="5257800"/>
            <a:ext cx="3514344" cy="1005840"/>
          </a:xfrm>
          <a:prstGeom prst="roundRect">
            <a:avLst>
              <a:gd name="adj" fmla="val 9091"/>
            </a:avLst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38" name="text-974"/>
          <p:cNvSpPr txBox="1"/>
          <p:nvPr/>
        </p:nvSpPr>
        <p:spPr>
          <a:xfrm>
            <a:off x="4565904" y="53492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二期 · 智能化</a:t>
            </a:r>
            <a:endParaRPr lang="en-US" sz="1600" dirty="0"/>
          </a:p>
        </p:txBody>
      </p:sp>
      <p:sp>
        <p:nvSpPr>
          <p:cNvPr id="39" name="text-975"/>
          <p:cNvSpPr txBox="1"/>
          <p:nvPr/>
        </p:nvSpPr>
        <p:spPr>
          <a:xfrm>
            <a:off x="4565904" y="5733288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标注数据集 · AI 模型 · 实时视频</a:t>
            </a:r>
            <a:endParaRPr lang="en-US" sz="1400" dirty="0"/>
          </a:p>
        </p:txBody>
      </p:sp>
      <p:sp>
        <p:nvSpPr>
          <p:cNvPr id="40" name="phase-976"/>
          <p:cNvSpPr/>
          <p:nvPr/>
        </p:nvSpPr>
        <p:spPr>
          <a:xfrm>
            <a:off x="8125968" y="5257800"/>
            <a:ext cx="3514344" cy="1005840"/>
          </a:xfrm>
          <a:prstGeom prst="roundRect">
            <a:avLst>
              <a:gd name="adj" fmla="val 9091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41" name="text-977"/>
          <p:cNvSpPr txBox="1"/>
          <p:nvPr/>
        </p:nvSpPr>
        <p:spPr>
          <a:xfrm>
            <a:off x="8354568" y="53492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三期 · 平台化复用</a:t>
            </a:r>
            <a:endParaRPr lang="en-US" sz="1600" dirty="0"/>
          </a:p>
        </p:txBody>
      </p:sp>
      <p:sp>
        <p:nvSpPr>
          <p:cNvPr id="42" name="text-978"/>
          <p:cNvSpPr txBox="1"/>
          <p:nvPr/>
        </p:nvSpPr>
        <p:spPr>
          <a:xfrm>
            <a:off x="8354568" y="5733288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抽取领域包 · 烟草在线监测试点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组织与计划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主要风险与应对</a:t>
            </a:r>
            <a:endParaRPr lang="en-US" sz="3200" dirty="0"/>
          </a:p>
        </p:txBody>
      </p:sp>
      <p:graphicFrame>
        <p:nvGraphicFramePr>
          <p:cNvPr id="26" name="table-9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2011680"/>
                <a:gridCol w="50566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等级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风险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影响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应对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小程序医疗类目需资质；实时音视频组件仅对部分类目开放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正式版无法上线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课题期先用体验版；由医院主体申请类目；实时视频先放 Web 端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订阅消息需用户逐次授权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提醒漏发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每次上传后引导订阅下次；超时升级至护士站；短信兜底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照片光照、角度、距离不一致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人工判读与 AI 精度下降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引导框 + 标准色卡 + 自动质量检测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敏感数据泄露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合规与伦理风险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权限隔离、加密、审计；伦理审批与知情同意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两人团队人力有限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进度延误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严控 MVP 范围；接口先行并行开发；复用成熟组件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需求变化、跨场景扩展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返工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领域包 + 配置驱动，变化收敛在配置层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-980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说明：小程序类目、订阅消息与音视频组件的开放范围以微信官方最新规则为准，立项时需再次核实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D6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结语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待确认事项与下一步</a:t>
            </a:r>
            <a:endParaRPr lang="en-US" sz="3200" dirty="0"/>
          </a:p>
        </p:txBody>
      </p:sp>
      <p:sp>
        <p:nvSpPr>
          <p:cNvPr id="4" name="confirm-card-981"/>
          <p:cNvSpPr/>
          <p:nvPr/>
        </p:nvSpPr>
        <p:spPr>
          <a:xfrm>
            <a:off x="548640" y="1508760"/>
            <a:ext cx="5989320" cy="4343400"/>
          </a:xfrm>
          <a:prstGeom prst="roundRect">
            <a:avLst>
              <a:gd name="adj" fmla="val 2105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5" name="text-982"/>
          <p:cNvSpPr txBox="1"/>
          <p:nvPr/>
        </p:nvSpPr>
        <p:spPr>
          <a:xfrm>
            <a:off x="82296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需要老师确认的 5 件事</a:t>
            </a:r>
            <a:endParaRPr lang="en-US" sz="1800" dirty="0"/>
          </a:p>
        </p:txBody>
      </p:sp>
      <p:sp>
        <p:nvSpPr>
          <p:cNvPr id="6" name="q-no-983"/>
          <p:cNvSpPr/>
          <p:nvPr/>
        </p:nvSpPr>
        <p:spPr>
          <a:xfrm>
            <a:off x="822960" y="23225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-984"/>
          <p:cNvSpPr txBox="1"/>
          <p:nvPr/>
        </p:nvSpPr>
        <p:spPr>
          <a:xfrm>
            <a:off x="8229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-985"/>
          <p:cNvSpPr txBox="1"/>
          <p:nvPr/>
        </p:nvSpPr>
        <p:spPr>
          <a:xfrm>
            <a:off x="13716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小程序注册主体（个人 / 学校 / 医院）与上线方式</a:t>
            </a:r>
            <a:endParaRPr lang="en-US" sz="1500" dirty="0"/>
          </a:p>
        </p:txBody>
      </p:sp>
      <p:sp>
        <p:nvSpPr>
          <p:cNvPr id="9" name="q-no-986"/>
          <p:cNvSpPr/>
          <p:nvPr/>
        </p:nvSpPr>
        <p:spPr>
          <a:xfrm>
            <a:off x="822960" y="30083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-987"/>
          <p:cNvSpPr txBox="1"/>
          <p:nvPr/>
        </p:nvSpPr>
        <p:spPr>
          <a:xfrm>
            <a:off x="82296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988"/>
          <p:cNvSpPr txBox="1"/>
          <p:nvPr/>
        </p:nvSpPr>
        <p:spPr>
          <a:xfrm>
            <a:off x="137160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试点科室、床位规模与参与医护人数</a:t>
            </a:r>
            <a:endParaRPr lang="en-US" sz="1500" dirty="0"/>
          </a:p>
        </p:txBody>
      </p:sp>
      <p:sp>
        <p:nvSpPr>
          <p:cNvPr id="12" name="q-no-989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-990"/>
          <p:cNvSpPr txBox="1"/>
          <p:nvPr/>
        </p:nvSpPr>
        <p:spPr>
          <a:xfrm>
            <a:off x="8229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-991"/>
          <p:cNvSpPr txBox="1"/>
          <p:nvPr/>
        </p:nvSpPr>
        <p:spPr>
          <a:xfrm>
            <a:off x="137160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一期是否需要床旁摄像头，还是仅患者手机拍照</a:t>
            </a:r>
            <a:endParaRPr lang="en-US" sz="1500" dirty="0"/>
          </a:p>
        </p:txBody>
      </p:sp>
      <p:sp>
        <p:nvSpPr>
          <p:cNvPr id="15" name="q-no-992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-993"/>
          <p:cNvSpPr txBox="1"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994"/>
          <p:cNvSpPr txBox="1"/>
          <p:nvPr/>
        </p:nvSpPr>
        <p:spPr>
          <a:xfrm>
            <a:off x="137160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数据存放：公有云，还是医院内网</a:t>
            </a:r>
            <a:endParaRPr lang="en-US" sz="1500" dirty="0"/>
          </a:p>
        </p:txBody>
      </p:sp>
      <p:sp>
        <p:nvSpPr>
          <p:cNvPr id="18" name="q-no-995"/>
          <p:cNvSpPr/>
          <p:nvPr/>
        </p:nvSpPr>
        <p:spPr>
          <a:xfrm>
            <a:off x="822960" y="50657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-996"/>
          <p:cNvSpPr txBox="1"/>
          <p:nvPr/>
        </p:nvSpPr>
        <p:spPr>
          <a:xfrm>
            <a:off x="8229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-997"/>
          <p:cNvSpPr txBox="1"/>
          <p:nvPr/>
        </p:nvSpPr>
        <p:spPr>
          <a:xfrm>
            <a:off x="137160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伦理审批与患者知情同意由谁牵头</a:t>
            </a:r>
            <a:endParaRPr lang="en-US" sz="1500" dirty="0"/>
          </a:p>
        </p:txBody>
      </p:sp>
      <p:sp>
        <p:nvSpPr>
          <p:cNvPr id="21" name="next-card-998"/>
          <p:cNvSpPr/>
          <p:nvPr/>
        </p:nvSpPr>
        <p:spPr>
          <a:xfrm>
            <a:off x="6812280" y="1508760"/>
            <a:ext cx="4828032" cy="4343400"/>
          </a:xfrm>
          <a:prstGeom prst="roundRect">
            <a:avLst>
              <a:gd name="adj" fmla="val 2105"/>
            </a:avLst>
          </a:prstGeom>
          <a:solidFill>
            <a:schemeClr val="bg1">
              <a:alpha val="8000"/>
            </a:schemeClr>
          </a:solidFill>
          <a:ln/>
        </p:spPr>
      </p:sp>
      <p:sp>
        <p:nvSpPr>
          <p:cNvPr id="22" name="text-999"/>
          <p:cNvSpPr txBox="1"/>
          <p:nvPr/>
        </p:nvSpPr>
        <p:spPr>
          <a:xfrm>
            <a:off x="708660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下一步（评审通过后 2 周内）</a:t>
            </a:r>
            <a:endParaRPr lang="en-US" sz="1800" dirty="0"/>
          </a:p>
        </p:txBody>
      </p:sp>
      <p:sp>
        <p:nvSpPr>
          <p:cNvPr id="23" name="icon-bg-1000"/>
          <p:cNvSpPr/>
          <p:nvPr/>
        </p:nvSpPr>
        <p:spPr>
          <a:xfrm>
            <a:off x="7086600" y="2377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1001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213" y="2483053"/>
            <a:ext cx="172822" cy="172822"/>
          </a:xfrm>
          <a:prstGeom prst="rect">
            <a:avLst/>
          </a:prstGeom>
        </p:spPr>
      </p:pic>
      <p:sp>
        <p:nvSpPr>
          <p:cNvPr id="25" name="text-1002"/>
          <p:cNvSpPr txBox="1"/>
          <p:nvPr/>
        </p:nvSpPr>
        <p:spPr>
          <a:xfrm>
            <a:off x="7635240" y="2286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冻结一期范围与验收标准</a:t>
            </a:r>
            <a:endParaRPr lang="en-US" sz="1500" dirty="0"/>
          </a:p>
        </p:txBody>
      </p:sp>
      <p:sp>
        <p:nvSpPr>
          <p:cNvPr id="26" name="icon-bg-1003"/>
          <p:cNvSpPr/>
          <p:nvPr/>
        </p:nvSpPr>
        <p:spPr>
          <a:xfrm>
            <a:off x="7086600" y="3200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1004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213" y="3306013"/>
            <a:ext cx="172822" cy="172822"/>
          </a:xfrm>
          <a:prstGeom prst="rect">
            <a:avLst/>
          </a:prstGeom>
        </p:spPr>
      </p:pic>
      <p:sp>
        <p:nvSpPr>
          <p:cNvPr id="28" name="text-1005"/>
          <p:cNvSpPr txBox="1"/>
          <p:nvPr/>
        </p:nvSpPr>
        <p:spPr>
          <a:xfrm>
            <a:off x="763524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输出交互原型与 OpenAPI v1 接口文档</a:t>
            </a:r>
            <a:endParaRPr lang="en-US" sz="1500" dirty="0"/>
          </a:p>
        </p:txBody>
      </p:sp>
      <p:sp>
        <p:nvSpPr>
          <p:cNvPr id="29" name="icon-bg-1006"/>
          <p:cNvSpPr/>
          <p:nvPr/>
        </p:nvSpPr>
        <p:spPr>
          <a:xfrm>
            <a:off x="7086600" y="4023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1007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13" y="4128973"/>
            <a:ext cx="172822" cy="172822"/>
          </a:xfrm>
          <a:prstGeom prst="rect">
            <a:avLst/>
          </a:prstGeom>
        </p:spPr>
      </p:pic>
      <p:sp>
        <p:nvSpPr>
          <p:cNvPr id="31" name="text-1008"/>
          <p:cNvSpPr txBox="1"/>
          <p:nvPr/>
        </p:nvSpPr>
        <p:spPr>
          <a:xfrm>
            <a:off x="7635240" y="3931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搭建 Monorepo、开发环境与 CI</a:t>
            </a:r>
            <a:endParaRPr lang="en-US" sz="1500" dirty="0"/>
          </a:p>
        </p:txBody>
      </p:sp>
      <p:sp>
        <p:nvSpPr>
          <p:cNvPr id="32" name="icon-bg-1009"/>
          <p:cNvSpPr/>
          <p:nvPr/>
        </p:nvSpPr>
        <p:spPr>
          <a:xfrm>
            <a:off x="7086600" y="4846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1010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213" y="4951933"/>
            <a:ext cx="172822" cy="172822"/>
          </a:xfrm>
          <a:prstGeom prst="rect">
            <a:avLst/>
          </a:prstGeom>
        </p:spPr>
      </p:pic>
      <p:sp>
        <p:nvSpPr>
          <p:cNvPr id="34" name="text-1011"/>
          <p:cNvSpPr txBox="1"/>
          <p:nvPr/>
        </p:nvSpPr>
        <p:spPr>
          <a:xfrm>
            <a:off x="7635240" y="47548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与临床顾问确定拍摄规范与评估量表</a:t>
            </a:r>
            <a:endParaRPr lang="en-US" sz="1500" dirty="0"/>
          </a:p>
        </p:txBody>
      </p:sp>
      <p:sp>
        <p:nvSpPr>
          <p:cNvPr id="35" name="text-1012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谢谢！欢迎老师批评指正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ngSi Flap Monitor">
  <a:themeElements>
    <a:clrScheme name="QingSi Flap Monitor">
      <a:dk1>
        <a:srgbClr val="1A2530"/>
      </a:dk1>
      <a:lt1>
        <a:srgbClr val="FFFFFF"/>
      </a:lt1>
      <a:dk2>
        <a:srgbClr val="0E3A47"/>
      </a:dk2>
      <a:lt2>
        <a:srgbClr val="EEF3F5"/>
      </a:lt2>
      <a:accent1>
        <a:srgbClr val="0F7C86"/>
      </a:accent1>
      <a:accent2>
        <a:srgbClr val="D9566A"/>
      </a:accent2>
      <a:accent3>
        <a:srgbClr val="E8962E"/>
      </a:accent3>
      <a:accent4>
        <a:srgbClr val="2E9E6B"/>
      </a:accent4>
      <a:accent5>
        <a:srgbClr val="5D6F80"/>
      </a:accent5>
      <a:accent6>
        <a:srgbClr val="6E56B8"/>
      </a:accent6>
      <a:hlink>
        <a:srgbClr val="0F7C86"/>
      </a:hlink>
      <a:folHlink>
        <a:srgbClr val="5D6F80"/>
      </a:folHlink>
    </a:clrScheme>
    <a:fontScheme name="QingSi Flap Monito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QingSi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皮瓣状态智能辅助监测系统 — 系统架构与开发组织架构设计</dc:title>
  <dc:subject>开发前架构评审</dc:subject>
  <dc:creator>QingSi 项目组</dc:creator>
  <cp:lastModifiedBy>QingSi 项目组</cp:lastModifiedBy>
  <cp:revision>1</cp:revision>
  <dcterms:created xsi:type="dcterms:W3CDTF">2026-10-28T02:32:50Z</dcterms:created>
  <dcterms:modified xsi:type="dcterms:W3CDTF">2026-10-28T02:32:50Z</dcterms:modified>
</cp:coreProperties>
</file>